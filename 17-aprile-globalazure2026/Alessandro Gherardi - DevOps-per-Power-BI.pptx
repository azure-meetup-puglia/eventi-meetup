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3" r:id="rId1"/>
    <p:sldMasterId id="2147483678" r:id="rId2"/>
  </p:sldMasterIdLst>
  <p:notesMasterIdLst>
    <p:notesMasterId r:id="rId23"/>
  </p:notesMasterIdLst>
  <p:sldIdLst>
    <p:sldId id="270" r:id="rId3"/>
    <p:sldId id="271" r:id="rId4"/>
    <p:sldId id="256" r:id="rId5"/>
    <p:sldId id="257" r:id="rId6"/>
    <p:sldId id="258" r:id="rId7"/>
    <p:sldId id="259" r:id="rId8"/>
    <p:sldId id="260" r:id="rId9"/>
    <p:sldId id="261" r:id="rId10"/>
    <p:sldId id="262" r:id="rId11"/>
    <p:sldId id="263" r:id="rId12"/>
    <p:sldId id="264" r:id="rId13"/>
    <p:sldId id="265" r:id="rId14"/>
    <p:sldId id="266" r:id="rId15"/>
    <p:sldId id="267" r:id="rId16"/>
    <p:sldId id="272" r:id="rId17"/>
    <p:sldId id="273" r:id="rId18"/>
    <p:sldId id="274" r:id="rId19"/>
    <p:sldId id="276" r:id="rId20"/>
    <p:sldId id="275" r:id="rId21"/>
    <p:sldId id="277" r:id="rId22"/>
  </p:sldIdLst>
  <p:sldSz cx="14630400" cy="8229600"/>
  <p:notesSz cx="8229600" cy="14630400"/>
  <p:embeddedFontLst>
    <p:embeddedFont>
      <p:font typeface="Arial Narrow" panose="020B0606020202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Consolas" panose="020B0609020204030204" pitchFamily="49" charset="0"/>
      <p:regular r:id="rId32"/>
      <p:bold r:id="rId33"/>
      <p:italic r:id="rId34"/>
      <p:boldItalic r:id="rId35"/>
    </p:embeddedFont>
  </p:embeddedFontLst>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1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075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2A9CA1-A023-7B2F-A344-B0535EC66E6E}"/>
              </a:ext>
            </a:extLst>
          </p:cNvPr>
          <p:cNvSpPr txBox="1">
            <a:spLocks/>
          </p:cNvSpPr>
          <p:nvPr/>
        </p:nvSpPr>
        <p:spPr>
          <a:xfrm>
            <a:off x="3952567" y="465664"/>
            <a:ext cx="6721607" cy="2399315"/>
          </a:xfrm>
          <a:prstGeom prst="rect">
            <a:avLst/>
          </a:prstGeom>
          <a:noFill/>
          <a:effectLst>
            <a:outerShdw dist="57150" dir="2700000" algn="tl" rotWithShape="0">
              <a:srgbClr val="235FB6"/>
            </a:outerShdw>
            <a:softEdge rad="0"/>
          </a:effectLst>
        </p:spPr>
        <p:txBody>
          <a:bodyPr vert="horz" lIns="109728" tIns="54864" rIns="109728" bIns="54864"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70000"/>
              </a:lnSpc>
            </a:pPr>
            <a:endParaRPr lang="en-IT" sz="5280" b="1" i="1" dirty="0">
              <a:solidFill>
                <a:schemeClr val="bg1"/>
              </a:solidFill>
              <a:latin typeface="Arial Narrow" pitchFamily="2" charset="77"/>
            </a:endParaRPr>
          </a:p>
        </p:txBody>
      </p:sp>
    </p:spTree>
    <p:extLst>
      <p:ext uri="{BB962C8B-B14F-4D97-AF65-F5344CB8AC3E}">
        <p14:creationId xmlns:p14="http://schemas.microsoft.com/office/powerpoint/2010/main" val="161124159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011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070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249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800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2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40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697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41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3056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4774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23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91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964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6C3F3-AC12-BFB8-819B-715A820AF986}"/>
              </a:ext>
            </a:extLst>
          </p:cNvPr>
          <p:cNvSpPr>
            <a:spLocks noGrp="1"/>
          </p:cNvSpPr>
          <p:nvPr>
            <p:ph type="ctrTitle"/>
          </p:nvPr>
        </p:nvSpPr>
        <p:spPr>
          <a:xfrm>
            <a:off x="1828800" y="1346836"/>
            <a:ext cx="10972800" cy="2865120"/>
          </a:xfrm>
        </p:spPr>
        <p:txBody>
          <a:bodyPr anchor="b"/>
          <a:lstStyle>
            <a:lvl1pPr algn="ctr">
              <a:defRPr sz="7200"/>
            </a:lvl1pPr>
          </a:lstStyle>
          <a:p>
            <a:r>
              <a:rPr lang="en-GB"/>
              <a:t>Click to edit Master title style</a:t>
            </a:r>
            <a:endParaRPr lang="en-IT"/>
          </a:p>
        </p:txBody>
      </p:sp>
      <p:sp>
        <p:nvSpPr>
          <p:cNvPr id="3" name="Subtitle 2">
            <a:extLst>
              <a:ext uri="{FF2B5EF4-FFF2-40B4-BE49-F238E27FC236}">
                <a16:creationId xmlns:a16="http://schemas.microsoft.com/office/drawing/2014/main" id="{CDDC5C65-BAF9-5448-0924-C2BC2788D422}"/>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GB"/>
              <a:t>Click to edit Master subtitle style</a:t>
            </a:r>
            <a:endParaRPr lang="en-IT"/>
          </a:p>
        </p:txBody>
      </p:sp>
      <p:sp>
        <p:nvSpPr>
          <p:cNvPr id="7" name="Title 1">
            <a:extLst>
              <a:ext uri="{FF2B5EF4-FFF2-40B4-BE49-F238E27FC236}">
                <a16:creationId xmlns:a16="http://schemas.microsoft.com/office/drawing/2014/main" id="{552A9CA1-A023-7B2F-A344-B0535EC66E6E}"/>
              </a:ext>
            </a:extLst>
          </p:cNvPr>
          <p:cNvSpPr txBox="1">
            <a:spLocks/>
          </p:cNvSpPr>
          <p:nvPr userDrawn="1"/>
        </p:nvSpPr>
        <p:spPr>
          <a:xfrm>
            <a:off x="3952567" y="465664"/>
            <a:ext cx="6721607" cy="2399315"/>
          </a:xfrm>
          <a:prstGeom prst="rect">
            <a:avLst/>
          </a:prstGeom>
          <a:noFill/>
          <a:effectLst>
            <a:outerShdw dist="57150" dir="2700000" algn="tl" rotWithShape="0">
              <a:srgbClr val="235FB6"/>
            </a:outerShdw>
            <a:softEdge rad="0"/>
          </a:effectLst>
        </p:spPr>
        <p:txBody>
          <a:bodyPr vert="horz" lIns="109728" tIns="54864" rIns="109728" bIns="54864"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70000"/>
              </a:lnSpc>
            </a:pPr>
            <a:endParaRPr lang="en-IT" sz="5280" b="1" i="1" dirty="0">
              <a:solidFill>
                <a:schemeClr val="bg1"/>
              </a:solidFill>
              <a:latin typeface="Arial Narrow" pitchFamily="2" charset="77"/>
            </a:endParaRPr>
          </a:p>
        </p:txBody>
      </p:sp>
    </p:spTree>
    <p:extLst>
      <p:ext uri="{BB962C8B-B14F-4D97-AF65-F5344CB8AC3E}">
        <p14:creationId xmlns:p14="http://schemas.microsoft.com/office/powerpoint/2010/main" val="1158612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0165-86D6-6A0A-25A3-F6FD170B7196}"/>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E0BE5B4D-B909-069A-487C-85636A35996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dirty="0"/>
          </a:p>
        </p:txBody>
      </p:sp>
    </p:spTree>
    <p:extLst>
      <p:ext uri="{BB962C8B-B14F-4D97-AF65-F5344CB8AC3E}">
        <p14:creationId xmlns:p14="http://schemas.microsoft.com/office/powerpoint/2010/main" val="1522759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C9A9-82A3-54D1-03C0-7969027FFBA9}"/>
              </a:ext>
            </a:extLst>
          </p:cNvPr>
          <p:cNvSpPr>
            <a:spLocks noGrp="1"/>
          </p:cNvSpPr>
          <p:nvPr>
            <p:ph type="title"/>
          </p:nvPr>
        </p:nvSpPr>
        <p:spPr>
          <a:xfrm>
            <a:off x="998220" y="2051686"/>
            <a:ext cx="12618720" cy="3423284"/>
          </a:xfrm>
        </p:spPr>
        <p:txBody>
          <a:bodyPr anchor="b"/>
          <a:lstStyle>
            <a:lvl1pPr>
              <a:defRPr sz="72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6B0DA6E1-67B7-BA72-E4B0-FE330ACA75B4}"/>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GB"/>
              <a:t>Click to edit Master text styles</a:t>
            </a:r>
          </a:p>
        </p:txBody>
      </p:sp>
    </p:spTree>
    <p:extLst>
      <p:ext uri="{BB962C8B-B14F-4D97-AF65-F5344CB8AC3E}">
        <p14:creationId xmlns:p14="http://schemas.microsoft.com/office/powerpoint/2010/main" val="19936100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964B-2150-340F-023A-1C03680C8264}"/>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C2B3B734-6715-6EB6-9D95-7F6DC06B0A13}"/>
              </a:ext>
            </a:extLst>
          </p:cNvPr>
          <p:cNvSpPr>
            <a:spLocks noGrp="1"/>
          </p:cNvSpPr>
          <p:nvPr>
            <p:ph sz="half" idx="1"/>
          </p:nvPr>
        </p:nvSpPr>
        <p:spPr>
          <a:xfrm>
            <a:off x="1005840" y="2190750"/>
            <a:ext cx="6217920" cy="52216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578C2CEC-2CE8-4C5E-EAA0-D03E2D715A9B}"/>
              </a:ext>
            </a:extLst>
          </p:cNvPr>
          <p:cNvSpPr>
            <a:spLocks noGrp="1"/>
          </p:cNvSpPr>
          <p:nvPr>
            <p:ph sz="half" idx="2"/>
          </p:nvPr>
        </p:nvSpPr>
        <p:spPr>
          <a:xfrm>
            <a:off x="7406640" y="2190750"/>
            <a:ext cx="6217920" cy="52216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Tree>
    <p:extLst>
      <p:ext uri="{BB962C8B-B14F-4D97-AF65-F5344CB8AC3E}">
        <p14:creationId xmlns:p14="http://schemas.microsoft.com/office/powerpoint/2010/main" val="2504301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DA57-DBE3-D421-5C9D-B016054DEBAF}"/>
              </a:ext>
            </a:extLst>
          </p:cNvPr>
          <p:cNvSpPr>
            <a:spLocks noGrp="1"/>
          </p:cNvSpPr>
          <p:nvPr>
            <p:ph type="title"/>
          </p:nvPr>
        </p:nvSpPr>
        <p:spPr>
          <a:xfrm>
            <a:off x="1007746" y="438150"/>
            <a:ext cx="12618720" cy="1590676"/>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38F1DDDF-AD94-627B-434B-35F313E037FA}"/>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GB"/>
              <a:t>Click to edit Master text styles</a:t>
            </a:r>
          </a:p>
        </p:txBody>
      </p:sp>
      <p:sp>
        <p:nvSpPr>
          <p:cNvPr id="4" name="Content Placeholder 3">
            <a:extLst>
              <a:ext uri="{FF2B5EF4-FFF2-40B4-BE49-F238E27FC236}">
                <a16:creationId xmlns:a16="http://schemas.microsoft.com/office/drawing/2014/main" id="{BC64A703-9988-61DB-BE4C-F9DE815E7F11}"/>
              </a:ext>
            </a:extLst>
          </p:cNvPr>
          <p:cNvSpPr>
            <a:spLocks noGrp="1"/>
          </p:cNvSpPr>
          <p:nvPr>
            <p:ph sz="half" idx="2"/>
          </p:nvPr>
        </p:nvSpPr>
        <p:spPr>
          <a:xfrm>
            <a:off x="1007746" y="3006090"/>
            <a:ext cx="6189344" cy="44215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ECC8A9DD-083E-12FF-4F14-6253A90FCE7E}"/>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GB"/>
              <a:t>Click to edit Master text styles</a:t>
            </a:r>
          </a:p>
        </p:txBody>
      </p:sp>
      <p:sp>
        <p:nvSpPr>
          <p:cNvPr id="6" name="Content Placeholder 5">
            <a:extLst>
              <a:ext uri="{FF2B5EF4-FFF2-40B4-BE49-F238E27FC236}">
                <a16:creationId xmlns:a16="http://schemas.microsoft.com/office/drawing/2014/main" id="{0BB8E24E-679D-37F2-6A09-CAA3825083B4}"/>
              </a:ext>
            </a:extLst>
          </p:cNvPr>
          <p:cNvSpPr>
            <a:spLocks noGrp="1"/>
          </p:cNvSpPr>
          <p:nvPr>
            <p:ph sz="quarter" idx="4"/>
          </p:nvPr>
        </p:nvSpPr>
        <p:spPr>
          <a:xfrm>
            <a:off x="7406640" y="3006090"/>
            <a:ext cx="6219826" cy="442150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Tree>
    <p:extLst>
      <p:ext uri="{BB962C8B-B14F-4D97-AF65-F5344CB8AC3E}">
        <p14:creationId xmlns:p14="http://schemas.microsoft.com/office/powerpoint/2010/main" val="29872863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5CB28-B994-6468-98BE-A5ED27BF9799}"/>
              </a:ext>
            </a:extLst>
          </p:cNvPr>
          <p:cNvSpPr>
            <a:spLocks noGrp="1"/>
          </p:cNvSpPr>
          <p:nvPr>
            <p:ph type="title"/>
          </p:nvPr>
        </p:nvSpPr>
        <p:spPr/>
        <p:txBody>
          <a:bodyPr/>
          <a:lstStyle/>
          <a:p>
            <a:r>
              <a:rPr lang="en-GB"/>
              <a:t>Click to edit Master title style</a:t>
            </a:r>
            <a:endParaRPr lang="en-IT"/>
          </a:p>
        </p:txBody>
      </p:sp>
    </p:spTree>
    <p:extLst>
      <p:ext uri="{BB962C8B-B14F-4D97-AF65-F5344CB8AC3E}">
        <p14:creationId xmlns:p14="http://schemas.microsoft.com/office/powerpoint/2010/main" val="437094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7867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2D70-93DC-D994-F619-AE2FD8C6945B}"/>
              </a:ext>
            </a:extLst>
          </p:cNvPr>
          <p:cNvSpPr>
            <a:spLocks noGrp="1"/>
          </p:cNvSpPr>
          <p:nvPr>
            <p:ph type="title"/>
          </p:nvPr>
        </p:nvSpPr>
        <p:spPr>
          <a:xfrm>
            <a:off x="1007746" y="548640"/>
            <a:ext cx="4718684" cy="1920240"/>
          </a:xfrm>
        </p:spPr>
        <p:txBody>
          <a:bodyPr anchor="b"/>
          <a:lstStyle>
            <a:lvl1pPr>
              <a:defRPr sz="384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ADDA8DC4-8C08-F436-6249-B77248456FDD}"/>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FAEE29E5-5EFD-6491-9289-90A633268E53}"/>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GB"/>
              <a:t>Click to edit Master text styles</a:t>
            </a:r>
          </a:p>
        </p:txBody>
      </p:sp>
    </p:spTree>
    <p:extLst>
      <p:ext uri="{BB962C8B-B14F-4D97-AF65-F5344CB8AC3E}">
        <p14:creationId xmlns:p14="http://schemas.microsoft.com/office/powerpoint/2010/main" val="1980842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AD344-1271-3BFF-6A25-2AA247B8699C}"/>
              </a:ext>
            </a:extLst>
          </p:cNvPr>
          <p:cNvSpPr>
            <a:spLocks noGrp="1"/>
          </p:cNvSpPr>
          <p:nvPr>
            <p:ph type="title"/>
          </p:nvPr>
        </p:nvSpPr>
        <p:spPr>
          <a:xfrm>
            <a:off x="1007746" y="548640"/>
            <a:ext cx="4718684" cy="1920240"/>
          </a:xfrm>
        </p:spPr>
        <p:txBody>
          <a:bodyPr anchor="b"/>
          <a:lstStyle>
            <a:lvl1pPr>
              <a:defRPr sz="384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78820015-C6BA-08E0-8C0D-A4FC7A5B34D8}"/>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GB"/>
              <a:t>Click icon to add picture</a:t>
            </a:r>
            <a:endParaRPr lang="en-IT"/>
          </a:p>
        </p:txBody>
      </p:sp>
      <p:sp>
        <p:nvSpPr>
          <p:cNvPr id="4" name="Text Placeholder 3">
            <a:extLst>
              <a:ext uri="{FF2B5EF4-FFF2-40B4-BE49-F238E27FC236}">
                <a16:creationId xmlns:a16="http://schemas.microsoft.com/office/drawing/2014/main" id="{9A45D2ED-D1C2-4FA1-E0B5-7C69CA2D747E}"/>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GB"/>
              <a:t>Click to edit Master text styles</a:t>
            </a:r>
          </a:p>
        </p:txBody>
      </p:sp>
    </p:spTree>
    <p:extLst>
      <p:ext uri="{BB962C8B-B14F-4D97-AF65-F5344CB8AC3E}">
        <p14:creationId xmlns:p14="http://schemas.microsoft.com/office/powerpoint/2010/main" val="2882443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81379-F8AC-1B23-437B-7B59A3FE2925}"/>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08006F1E-90D1-7D69-9E02-38B3F2227A1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Tree>
    <p:extLst>
      <p:ext uri="{BB962C8B-B14F-4D97-AF65-F5344CB8AC3E}">
        <p14:creationId xmlns:p14="http://schemas.microsoft.com/office/powerpoint/2010/main" val="20016261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3C9915-2581-2FCB-7088-B660F7E5C215}"/>
              </a:ext>
            </a:extLst>
          </p:cNvPr>
          <p:cNvSpPr>
            <a:spLocks noGrp="1"/>
          </p:cNvSpPr>
          <p:nvPr>
            <p:ph type="title" orient="vert"/>
          </p:nvPr>
        </p:nvSpPr>
        <p:spPr>
          <a:xfrm>
            <a:off x="10469880" y="438150"/>
            <a:ext cx="3154680" cy="6974206"/>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A5763317-A728-95C9-8FBF-C226505FD2D3}"/>
              </a:ext>
            </a:extLst>
          </p:cNvPr>
          <p:cNvSpPr>
            <a:spLocks noGrp="1"/>
          </p:cNvSpPr>
          <p:nvPr>
            <p:ph type="body" orient="vert" idx="1"/>
          </p:nvPr>
        </p:nvSpPr>
        <p:spPr>
          <a:xfrm>
            <a:off x="1005840" y="438150"/>
            <a:ext cx="9281160" cy="697420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Tree>
    <p:extLst>
      <p:ext uri="{BB962C8B-B14F-4D97-AF65-F5344CB8AC3E}">
        <p14:creationId xmlns:p14="http://schemas.microsoft.com/office/powerpoint/2010/main" val="41547540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D4936-0884-8719-54B1-63485227F79C}"/>
              </a:ext>
            </a:extLst>
          </p:cNvPr>
          <p:cNvSpPr>
            <a:spLocks noGrp="1"/>
          </p:cNvSpPr>
          <p:nvPr>
            <p:ph type="title"/>
          </p:nvPr>
        </p:nvSpPr>
        <p:spPr/>
        <p:txBody>
          <a:bodyPr/>
          <a:lstStyle/>
          <a:p>
            <a:r>
              <a:rPr lang="en-GB"/>
              <a:t>Click to edit Master title style</a:t>
            </a:r>
            <a:endParaRPr lang="en-IT"/>
          </a:p>
        </p:txBody>
      </p:sp>
    </p:spTree>
    <p:extLst>
      <p:ext uri="{BB962C8B-B14F-4D97-AF65-F5344CB8AC3E}">
        <p14:creationId xmlns:p14="http://schemas.microsoft.com/office/powerpoint/2010/main" val="19340488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42735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3646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529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696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4488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64564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8216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82601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5836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63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6116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042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2A9CA1-A023-7B2F-A344-B0535EC66E6E}"/>
              </a:ext>
            </a:extLst>
          </p:cNvPr>
          <p:cNvSpPr txBox="1">
            <a:spLocks/>
          </p:cNvSpPr>
          <p:nvPr userDrawn="1"/>
        </p:nvSpPr>
        <p:spPr>
          <a:xfrm>
            <a:off x="3952567" y="465664"/>
            <a:ext cx="6721607" cy="2399315"/>
          </a:xfrm>
          <a:prstGeom prst="rect">
            <a:avLst/>
          </a:prstGeom>
          <a:noFill/>
          <a:effectLst>
            <a:outerShdw dist="57150" dir="2700000" algn="tl" rotWithShape="0">
              <a:srgbClr val="235FB6"/>
            </a:outerShdw>
            <a:softEdge rad="0"/>
          </a:effectLst>
        </p:spPr>
        <p:txBody>
          <a:bodyPr vert="horz" lIns="109728" tIns="54864" rIns="109728" bIns="54864"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70000"/>
              </a:lnSpc>
            </a:pPr>
            <a:endParaRPr lang="en-IT" sz="5280" b="1" i="1" dirty="0">
              <a:solidFill>
                <a:schemeClr val="bg1"/>
              </a:solidFill>
              <a:latin typeface="Arial Narrow" pitchFamily="2" charset="77"/>
            </a:endParaRPr>
          </a:p>
        </p:txBody>
      </p:sp>
    </p:spTree>
    <p:extLst>
      <p:ext uri="{BB962C8B-B14F-4D97-AF65-F5344CB8AC3E}">
        <p14:creationId xmlns:p14="http://schemas.microsoft.com/office/powerpoint/2010/main" val="1298227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heme" Target="../theme/theme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image" Target="../media/image2.png"/><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image" Target="../media/image1.png"/><Relationship Id="rId30"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E7B48F-FD12-256A-137B-9FFC569A420E}"/>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A333131E-826E-8A33-AFF0-3679E1BAAA03}"/>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dirty="0"/>
          </a:p>
        </p:txBody>
      </p:sp>
      <p:sp>
        <p:nvSpPr>
          <p:cNvPr id="9" name="TextBox 8">
            <a:extLst>
              <a:ext uri="{FF2B5EF4-FFF2-40B4-BE49-F238E27FC236}">
                <a16:creationId xmlns:a16="http://schemas.microsoft.com/office/drawing/2014/main" id="{7B65D0EB-37B8-B046-C329-D85356AE01B1}"/>
              </a:ext>
            </a:extLst>
          </p:cNvPr>
          <p:cNvSpPr txBox="1"/>
          <p:nvPr/>
        </p:nvSpPr>
        <p:spPr>
          <a:xfrm>
            <a:off x="16278472" y="3304750"/>
            <a:ext cx="184731" cy="424732"/>
          </a:xfrm>
          <a:prstGeom prst="rect">
            <a:avLst/>
          </a:prstGeom>
          <a:noFill/>
        </p:spPr>
        <p:txBody>
          <a:bodyPr wrap="none" rtlCol="0">
            <a:spAutoFit/>
          </a:bodyPr>
          <a:lstStyle/>
          <a:p>
            <a:endParaRPr lang="en-IT" sz="2160" dirty="0"/>
          </a:p>
        </p:txBody>
      </p:sp>
    </p:spTree>
    <p:extLst>
      <p:ext uri="{BB962C8B-B14F-4D97-AF65-F5344CB8AC3E}">
        <p14:creationId xmlns:p14="http://schemas.microsoft.com/office/powerpoint/2010/main" val="337369003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IT"/>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E7B48F-FD12-256A-137B-9FFC569A420E}"/>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A333131E-826E-8A33-AFF0-3679E1BAAA03}"/>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dirty="0"/>
          </a:p>
        </p:txBody>
      </p:sp>
      <p:sp>
        <p:nvSpPr>
          <p:cNvPr id="9" name="TextBox 8">
            <a:extLst>
              <a:ext uri="{FF2B5EF4-FFF2-40B4-BE49-F238E27FC236}">
                <a16:creationId xmlns:a16="http://schemas.microsoft.com/office/drawing/2014/main" id="{7B65D0EB-37B8-B046-C329-D85356AE01B1}"/>
              </a:ext>
            </a:extLst>
          </p:cNvPr>
          <p:cNvSpPr txBox="1"/>
          <p:nvPr/>
        </p:nvSpPr>
        <p:spPr>
          <a:xfrm>
            <a:off x="16278472" y="3304750"/>
            <a:ext cx="184731" cy="424732"/>
          </a:xfrm>
          <a:prstGeom prst="rect">
            <a:avLst/>
          </a:prstGeom>
          <a:noFill/>
        </p:spPr>
        <p:txBody>
          <a:bodyPr wrap="none" rtlCol="0">
            <a:spAutoFit/>
          </a:bodyPr>
          <a:lstStyle/>
          <a:p>
            <a:endParaRPr lang="en-IT" sz="2160" dirty="0"/>
          </a:p>
        </p:txBody>
      </p:sp>
      <p:pic>
        <p:nvPicPr>
          <p:cNvPr id="12" name="Picture 11">
            <a:extLst>
              <a:ext uri="{FF2B5EF4-FFF2-40B4-BE49-F238E27FC236}">
                <a16:creationId xmlns:a16="http://schemas.microsoft.com/office/drawing/2014/main" id="{CD60230D-30F5-B729-1879-04F8D2316470}"/>
              </a:ext>
            </a:extLst>
          </p:cNvPr>
          <p:cNvPicPr>
            <a:picLocks noChangeAspect="1"/>
          </p:cNvPicPr>
          <p:nvPr/>
        </p:nvPicPr>
        <p:blipFill>
          <a:blip r:embed="rId27">
            <a:extLst>
              <a:ext uri="{28A0092B-C50C-407E-A947-70E740481C1C}">
                <a14:useLocalDpi xmlns:a14="http://schemas.microsoft.com/office/drawing/2010/main"/>
              </a:ext>
            </a:extLst>
          </a:blip>
          <a:srcRect/>
          <a:stretch>
            <a:fillRect/>
          </a:stretch>
        </p:blipFill>
        <p:spPr>
          <a:xfrm>
            <a:off x="13741404" y="6970648"/>
            <a:ext cx="888997" cy="1338036"/>
          </a:xfrm>
          <a:prstGeom prst="rect">
            <a:avLst/>
          </a:prstGeom>
        </p:spPr>
      </p:pic>
      <p:pic>
        <p:nvPicPr>
          <p:cNvPr id="1028" name="Picture 4" descr="Global AI Community | Connect, Learn &amp; Build with AI Developers Worldwide - Global  AI Community">
            <a:extLst>
              <a:ext uri="{FF2B5EF4-FFF2-40B4-BE49-F238E27FC236}">
                <a16:creationId xmlns:a16="http://schemas.microsoft.com/office/drawing/2014/main" id="{B7620998-577F-E57C-A922-A14CA4EB3C21}"/>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940460" y="7639794"/>
            <a:ext cx="1504801" cy="432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EEE1B0B8-E352-E157-D336-85FC96812032}"/>
              </a:ext>
            </a:extLst>
          </p:cNvPr>
          <p:cNvPicPr>
            <a:picLocks noChangeAspect="1"/>
          </p:cNvPicPr>
          <p:nvPr/>
        </p:nvPicPr>
        <p:blipFill>
          <a:blip r:embed="rId29"/>
          <a:stretch>
            <a:fillRect/>
          </a:stretch>
        </p:blipFill>
        <p:spPr>
          <a:xfrm>
            <a:off x="12551080" y="377140"/>
            <a:ext cx="1663684" cy="1663684"/>
          </a:xfrm>
          <a:prstGeom prst="rect">
            <a:avLst/>
          </a:prstGeom>
        </p:spPr>
      </p:pic>
      <p:pic>
        <p:nvPicPr>
          <p:cNvPr id="4" name="Picture 4">
            <a:extLst>
              <a:ext uri="{FF2B5EF4-FFF2-40B4-BE49-F238E27FC236}">
                <a16:creationId xmlns:a16="http://schemas.microsoft.com/office/drawing/2014/main" id="{25074BFF-F66A-3B21-1CFC-E97D447DFBDD}"/>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7091" y="6870939"/>
            <a:ext cx="1557499" cy="12008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2AAD710-DC01-9B6F-52A6-8494073899B3}"/>
              </a:ext>
            </a:extLst>
          </p:cNvPr>
          <p:cNvSpPr txBox="1"/>
          <p:nvPr/>
        </p:nvSpPr>
        <p:spPr>
          <a:xfrm>
            <a:off x="5091130" y="7695231"/>
            <a:ext cx="4411785" cy="424732"/>
          </a:xfrm>
          <a:prstGeom prst="rect">
            <a:avLst/>
          </a:prstGeom>
          <a:noFill/>
        </p:spPr>
        <p:txBody>
          <a:bodyPr wrap="none" rtlCol="0">
            <a:spAutoFit/>
          </a:bodyPr>
          <a:lstStyle/>
          <a:p>
            <a:r>
              <a:rPr lang="en-IT" sz="2160" dirty="0"/>
              <a:t>Global Azure Puglia 2026 – 17 aprile</a:t>
            </a:r>
          </a:p>
        </p:txBody>
      </p:sp>
    </p:spTree>
    <p:extLst>
      <p:ext uri="{BB962C8B-B14F-4D97-AF65-F5344CB8AC3E}">
        <p14:creationId xmlns:p14="http://schemas.microsoft.com/office/powerpoint/2010/main" val="34499388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4" r:id="rId25"/>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IT"/>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38.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9.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7.xml"/><Relationship Id="rId1" Type="http://schemas.openxmlformats.org/officeDocument/2006/relationships/slideLayout" Target="../slideLayouts/slideLayout31.xml"/><Relationship Id="rId5" Type="http://schemas.openxmlformats.org/officeDocument/2006/relationships/image" Target="../media/image28.svg"/><Relationship Id="rId4" Type="http://schemas.openxmlformats.org/officeDocument/2006/relationships/image" Target="../media/image27.svg"/></Relationships>
</file>

<file path=ppt/slides/_rels/slide20.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beach with buildings and a body of water  AI-generated content may be incorrect.">
            <a:extLst>
              <a:ext uri="{FF2B5EF4-FFF2-40B4-BE49-F238E27FC236}">
                <a16:creationId xmlns:a16="http://schemas.microsoft.com/office/drawing/2014/main" id="{88EB7DF6-F42C-9CA7-D3B4-92B0EEC79EB1}"/>
              </a:ext>
            </a:extLst>
          </p:cNvPr>
          <p:cNvPicPr>
            <a:picLocks noChangeAspect="1" noChangeArrowheads="1"/>
          </p:cNvPicPr>
          <p:nvPr/>
        </p:nvPicPr>
        <p:blipFill rotWithShape="1">
          <a:blip r:embed="rId2">
            <a:alphaModFix amt="86000"/>
            <a:extLst>
              <a:ext uri="{28A0092B-C50C-407E-A947-70E740481C1C}">
                <a14:useLocalDpi xmlns:a14="http://schemas.microsoft.com/office/drawing/2010/main"/>
              </a:ext>
            </a:extLst>
          </a:blip>
          <a:srcRect/>
          <a:stretch/>
        </p:blipFill>
        <p:spPr bwMode="auto">
          <a:xfrm>
            <a:off x="-158462" y="-90187"/>
            <a:ext cx="14947326" cy="840997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D41FAF2-1070-D6E4-0AE5-38B3E7D8BD02}"/>
              </a:ext>
            </a:extLst>
          </p:cNvPr>
          <p:cNvSpPr>
            <a:spLocks noGrp="1"/>
          </p:cNvSpPr>
          <p:nvPr>
            <p:ph type="ctrTitle" idx="4294967295"/>
          </p:nvPr>
        </p:nvSpPr>
        <p:spPr>
          <a:xfrm>
            <a:off x="1465019" y="594686"/>
            <a:ext cx="11696700" cy="3126106"/>
          </a:xfrm>
          <a:noFill/>
          <a:effectLst>
            <a:outerShdw dist="55880" dir="2700000" algn="tl" rotWithShape="0">
              <a:srgbClr val="235FB6"/>
            </a:outerShdw>
            <a:softEdge rad="0"/>
          </a:effectLst>
        </p:spPr>
        <p:txBody>
          <a:bodyPr anchor="ctr">
            <a:noAutofit/>
          </a:bodyPr>
          <a:lstStyle/>
          <a:p>
            <a:pPr algn="ctr">
              <a:lnSpc>
                <a:spcPct val="70000"/>
              </a:lnSpc>
            </a:pPr>
            <a:r>
              <a:rPr lang="en-IT" sz="11520" b="1" i="1" dirty="0">
                <a:solidFill>
                  <a:schemeClr val="bg1"/>
                </a:solidFill>
                <a:latin typeface="Arial Narrow" pitchFamily="2" charset="77"/>
              </a:rPr>
              <a:t>AZURE MEETUP</a:t>
            </a:r>
            <a:br>
              <a:rPr lang="en-IT" sz="11520" b="1" i="1" dirty="0">
                <a:solidFill>
                  <a:schemeClr val="bg1"/>
                </a:solidFill>
                <a:latin typeface="Arial Narrow" pitchFamily="2" charset="77"/>
              </a:rPr>
            </a:br>
            <a:r>
              <a:rPr lang="en-IT" sz="11520" b="1" i="1" dirty="0">
                <a:solidFill>
                  <a:schemeClr val="bg1"/>
                </a:solidFill>
                <a:latin typeface="Arial Narrow" pitchFamily="2" charset="77"/>
              </a:rPr>
              <a:t>PUGLIA</a:t>
            </a:r>
            <a:endParaRPr lang="en-US" sz="11520" b="1" i="1" dirty="0">
              <a:solidFill>
                <a:schemeClr val="bg1"/>
              </a:solidFill>
              <a:latin typeface="Arial Narrow" pitchFamily="2" charset="77"/>
            </a:endParaRPr>
          </a:p>
        </p:txBody>
      </p:sp>
      <p:sp>
        <p:nvSpPr>
          <p:cNvPr id="4" name="Title 1">
            <a:extLst>
              <a:ext uri="{FF2B5EF4-FFF2-40B4-BE49-F238E27FC236}">
                <a16:creationId xmlns:a16="http://schemas.microsoft.com/office/drawing/2014/main" id="{6B38EA45-36C9-6CC6-D3B1-A79DE65018AF}"/>
              </a:ext>
            </a:extLst>
          </p:cNvPr>
          <p:cNvSpPr txBox="1">
            <a:spLocks/>
          </p:cNvSpPr>
          <p:nvPr/>
        </p:nvSpPr>
        <p:spPr>
          <a:xfrm>
            <a:off x="3477142" y="6305263"/>
            <a:ext cx="7672454" cy="1924338"/>
          </a:xfrm>
          <a:prstGeom prst="rect">
            <a:avLst/>
          </a:prstGeom>
          <a:noFill/>
          <a:effectLst>
            <a:outerShdw dist="57150" dir="2700000" algn="tl" rotWithShape="0">
              <a:srgbClr val="235FB6"/>
            </a:outerShdw>
            <a:softEdge rad="0"/>
          </a:effectLst>
        </p:spPr>
        <p:txBody>
          <a:bodyPr vert="horz" lIns="109728" tIns="54864" rIns="109728" bIns="54864" rtlCol="0" anchor="t">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T" sz="9600" dirty="0">
                <a:solidFill>
                  <a:schemeClr val="bg1"/>
                </a:solidFill>
                <a:latin typeface="Arial Narrow" pitchFamily="2" charset="77"/>
              </a:rPr>
              <a:t>BENVENUTI</a:t>
            </a:r>
          </a:p>
        </p:txBody>
      </p:sp>
      <p:pic>
        <p:nvPicPr>
          <p:cNvPr id="1028" name="Picture 4">
            <a:extLst>
              <a:ext uri="{FF2B5EF4-FFF2-40B4-BE49-F238E27FC236}">
                <a16:creationId xmlns:a16="http://schemas.microsoft.com/office/drawing/2014/main" id="{71327F31-51DF-636F-84D2-63CD4A80C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2872" y="3455120"/>
            <a:ext cx="3884656" cy="2995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9564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59953C-288A-ED82-0DDB-76DC2248807E}"/>
              </a:ext>
            </a:extLst>
          </p:cNvPr>
          <p:cNvSpPr>
            <a:spLocks noGrp="1"/>
          </p:cNvSpPr>
          <p:nvPr>
            <p:ph type="title"/>
          </p:nvPr>
        </p:nvSpPr>
        <p:spPr/>
        <p:txBody>
          <a:bodyPr/>
          <a:lstStyle/>
          <a:p>
            <a:r>
              <a:rPr lang="en-IT" dirty="0"/>
              <a:t>Grazie Agli Sponsor</a:t>
            </a:r>
          </a:p>
        </p:txBody>
      </p:sp>
      <p:pic>
        <p:nvPicPr>
          <p:cNvPr id="2" name="Picture 1">
            <a:extLst>
              <a:ext uri="{FF2B5EF4-FFF2-40B4-BE49-F238E27FC236}">
                <a16:creationId xmlns:a16="http://schemas.microsoft.com/office/drawing/2014/main" id="{0CDDC0BE-31F5-C13D-75F4-3EA3DEE244B7}"/>
              </a:ext>
            </a:extLst>
          </p:cNvPr>
          <p:cNvPicPr>
            <a:picLocks noChangeAspect="1"/>
          </p:cNvPicPr>
          <p:nvPr/>
        </p:nvPicPr>
        <p:blipFill>
          <a:blip r:embed="rId2"/>
          <a:stretch>
            <a:fillRect/>
          </a:stretch>
        </p:blipFill>
        <p:spPr>
          <a:xfrm>
            <a:off x="1980724" y="2759120"/>
            <a:ext cx="10668952" cy="373624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09718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838682"/>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443728"/>
                </a:solidFill>
                <a:latin typeface="Cambria" pitchFamily="34" charset="0"/>
                <a:ea typeface="Cambria" pitchFamily="34" charset="-122"/>
                <a:cs typeface="Cambria" pitchFamily="34" charset="-120"/>
              </a:rPr>
              <a:t>DevOps per Power BI: usare gli strumenti di Fabric e Azure DevOps per lo sviluppo Power BI</a:t>
            </a:r>
            <a:endParaRPr lang="en-US" sz="4450" dirty="0"/>
          </a:p>
        </p:txBody>
      </p:sp>
      <p:sp>
        <p:nvSpPr>
          <p:cNvPr id="3" name="Text 1"/>
          <p:cNvSpPr/>
          <p:nvPr/>
        </p:nvSpPr>
        <p:spPr>
          <a:xfrm>
            <a:off x="793790" y="370986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Sfide e gotchas nell'utilizzo degli strumenti nativi di Fabric e ADO per uno sviluppo strutturato di Semantic Models e Report</a:t>
            </a:r>
            <a:endParaRPr lang="en-US" sz="1750" dirty="0"/>
          </a:p>
        </p:txBody>
      </p:sp>
      <p:sp>
        <p:nvSpPr>
          <p:cNvPr id="4" name="Text 2"/>
          <p:cNvSpPr/>
          <p:nvPr/>
        </p:nvSpPr>
        <p:spPr>
          <a:xfrm>
            <a:off x="793790" y="4327922"/>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Shape 3"/>
          <p:cNvSpPr/>
          <p:nvPr/>
        </p:nvSpPr>
        <p:spPr>
          <a:xfrm>
            <a:off x="793790" y="4953595"/>
            <a:ext cx="1936313" cy="426244"/>
          </a:xfrm>
          <a:prstGeom prst="roundRect">
            <a:avLst>
              <a:gd name="adj" fmla="val 17880"/>
            </a:avLst>
          </a:prstGeom>
          <a:solidFill>
            <a:srgbClr val="EBE2E0"/>
          </a:solidFill>
          <a:ln/>
        </p:spPr>
        <p:txBody>
          <a:bodyPr/>
          <a:lstStyle/>
          <a:p>
            <a:endParaRPr lang="en-GB"/>
          </a:p>
        </p:txBody>
      </p:sp>
      <p:sp>
        <p:nvSpPr>
          <p:cNvPr id="6" name="Text 4"/>
          <p:cNvSpPr/>
          <p:nvPr/>
        </p:nvSpPr>
        <p:spPr>
          <a:xfrm>
            <a:off x="929878" y="5021580"/>
            <a:ext cx="1664137" cy="290274"/>
          </a:xfrm>
          <a:prstGeom prst="rect">
            <a:avLst/>
          </a:prstGeom>
          <a:noFill/>
          <a:ln/>
        </p:spPr>
        <p:txBody>
          <a:bodyPr wrap="none" lIns="0" tIns="0" rIns="0" bIns="0" rtlCol="0" anchor="t"/>
          <a:lstStyle/>
          <a:p>
            <a:pPr marL="0" indent="0" algn="l">
              <a:lnSpc>
                <a:spcPts val="2250"/>
              </a:lnSpc>
              <a:buNone/>
            </a:pPr>
            <a:r>
              <a:rPr lang="en-US" sz="1400" dirty="0">
                <a:solidFill>
                  <a:srgbClr val="443728"/>
                </a:solidFill>
                <a:latin typeface="Calibri" pitchFamily="34" charset="0"/>
                <a:ea typeface="Calibri" pitchFamily="34" charset="-122"/>
                <a:cs typeface="Calibri" pitchFamily="34" charset="-120"/>
              </a:rPr>
              <a:t>MICROSOFT FABRIC</a:t>
            </a:r>
            <a:endParaRPr lang="en-US" sz="1400" dirty="0"/>
          </a:p>
        </p:txBody>
      </p:sp>
      <p:sp>
        <p:nvSpPr>
          <p:cNvPr id="7" name="Shape 5"/>
          <p:cNvSpPr/>
          <p:nvPr/>
        </p:nvSpPr>
        <p:spPr>
          <a:xfrm>
            <a:off x="2843451" y="4945975"/>
            <a:ext cx="1132642" cy="441484"/>
          </a:xfrm>
          <a:prstGeom prst="roundRect">
            <a:avLst>
              <a:gd name="adj" fmla="val 17263"/>
            </a:avLst>
          </a:prstGeom>
          <a:noFill/>
          <a:ln w="7620">
            <a:solidFill>
              <a:srgbClr val="835E54"/>
            </a:solidFill>
            <a:prstDash val="solid"/>
          </a:ln>
        </p:spPr>
        <p:txBody>
          <a:bodyPr/>
          <a:lstStyle/>
          <a:p>
            <a:endParaRPr lang="en-GB"/>
          </a:p>
        </p:txBody>
      </p:sp>
      <p:sp>
        <p:nvSpPr>
          <p:cNvPr id="8" name="Text 6"/>
          <p:cNvSpPr/>
          <p:nvPr/>
        </p:nvSpPr>
        <p:spPr>
          <a:xfrm>
            <a:off x="2987159" y="5021580"/>
            <a:ext cx="845225" cy="290274"/>
          </a:xfrm>
          <a:prstGeom prst="rect">
            <a:avLst/>
          </a:prstGeom>
          <a:noFill/>
          <a:ln/>
        </p:spPr>
        <p:txBody>
          <a:bodyPr wrap="none" lIns="0" tIns="0" rIns="0" bIns="0" rtlCol="0" anchor="t"/>
          <a:lstStyle/>
          <a:p>
            <a:pPr marL="0" indent="0" algn="l">
              <a:lnSpc>
                <a:spcPts val="2250"/>
              </a:lnSpc>
              <a:buNone/>
            </a:pPr>
            <a:r>
              <a:rPr lang="en-US" sz="1400" dirty="0">
                <a:solidFill>
                  <a:srgbClr val="835E54"/>
                </a:solidFill>
                <a:latin typeface="Calibri" pitchFamily="34" charset="0"/>
                <a:ea typeface="Calibri" pitchFamily="34" charset="-122"/>
                <a:cs typeface="Calibri" pitchFamily="34" charset="-120"/>
              </a:rPr>
              <a:t>POWER BI</a:t>
            </a:r>
            <a:endParaRPr lang="en-US" sz="1400" dirty="0"/>
          </a:p>
        </p:txBody>
      </p:sp>
      <p:sp>
        <p:nvSpPr>
          <p:cNvPr id="9" name="Shape 7"/>
          <p:cNvSpPr/>
          <p:nvPr/>
        </p:nvSpPr>
        <p:spPr>
          <a:xfrm>
            <a:off x="4089440" y="4945975"/>
            <a:ext cx="977503" cy="441484"/>
          </a:xfrm>
          <a:prstGeom prst="roundRect">
            <a:avLst>
              <a:gd name="adj" fmla="val 17263"/>
            </a:avLst>
          </a:prstGeom>
          <a:noFill/>
          <a:ln w="7620">
            <a:solidFill>
              <a:srgbClr val="835E54"/>
            </a:solidFill>
            <a:prstDash val="solid"/>
          </a:ln>
        </p:spPr>
        <p:txBody>
          <a:bodyPr/>
          <a:lstStyle/>
          <a:p>
            <a:endParaRPr lang="en-GB"/>
          </a:p>
        </p:txBody>
      </p:sp>
      <p:sp>
        <p:nvSpPr>
          <p:cNvPr id="10" name="Text 8"/>
          <p:cNvSpPr/>
          <p:nvPr/>
        </p:nvSpPr>
        <p:spPr>
          <a:xfrm>
            <a:off x="4233148" y="5021580"/>
            <a:ext cx="690086" cy="290274"/>
          </a:xfrm>
          <a:prstGeom prst="rect">
            <a:avLst/>
          </a:prstGeom>
          <a:noFill/>
          <a:ln/>
        </p:spPr>
        <p:txBody>
          <a:bodyPr wrap="none" lIns="0" tIns="0" rIns="0" bIns="0" rtlCol="0" anchor="t"/>
          <a:lstStyle/>
          <a:p>
            <a:pPr marL="0" indent="0" algn="l">
              <a:lnSpc>
                <a:spcPts val="2250"/>
              </a:lnSpc>
              <a:buNone/>
            </a:pPr>
            <a:r>
              <a:rPr lang="en-US" sz="1400" dirty="0">
                <a:solidFill>
                  <a:srgbClr val="835E54"/>
                </a:solidFill>
                <a:latin typeface="Calibri" pitchFamily="34" charset="0"/>
                <a:ea typeface="Calibri" pitchFamily="34" charset="-122"/>
                <a:cs typeface="Calibri" pitchFamily="34" charset="-120"/>
              </a:rPr>
              <a:t>DEVOPS</a:t>
            </a:r>
            <a:endParaRPr lang="en-US" sz="1400" dirty="0"/>
          </a:p>
        </p:txBody>
      </p:sp>
      <p:sp>
        <p:nvSpPr>
          <p:cNvPr id="11" name="Shape 9"/>
          <p:cNvSpPr/>
          <p:nvPr/>
        </p:nvSpPr>
        <p:spPr>
          <a:xfrm>
            <a:off x="793790" y="5699284"/>
            <a:ext cx="13042821" cy="16907"/>
          </a:xfrm>
          <a:prstGeom prst="rect">
            <a:avLst/>
          </a:prstGeom>
          <a:solidFill>
            <a:srgbClr val="443728">
              <a:alpha val="50000"/>
            </a:srgbClr>
          </a:solidFill>
          <a:ln/>
        </p:spPr>
        <p:txBody>
          <a:bodyPr/>
          <a:lstStyle/>
          <a:p>
            <a:endParaRPr lang="en-GB"/>
          </a:p>
        </p:txBody>
      </p:sp>
      <p:sp>
        <p:nvSpPr>
          <p:cNvPr id="12" name="Text 10"/>
          <p:cNvSpPr/>
          <p:nvPr/>
        </p:nvSpPr>
        <p:spPr>
          <a:xfrm>
            <a:off x="793790" y="6028015"/>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443728"/>
                </a:solidFill>
                <a:latin typeface="Calibri" pitchFamily="34" charset="0"/>
                <a:ea typeface="Calibri" pitchFamily="34" charset="-122"/>
                <a:cs typeface="Calibri" pitchFamily="34" charset="-120"/>
              </a:rPr>
              <a:t>Presentatore:</a:t>
            </a:r>
            <a:r>
              <a:rPr lang="en-US" sz="1750" dirty="0">
                <a:solidFill>
                  <a:srgbClr val="443728"/>
                </a:solidFill>
                <a:latin typeface="Calibri" pitchFamily="34" charset="0"/>
                <a:ea typeface="Calibri" pitchFamily="34" charset="-122"/>
                <a:cs typeface="Calibri" pitchFamily="34" charset="-120"/>
              </a:rPr>
              <a:t> Alessandro Gherardi</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9025" y="689967"/>
            <a:ext cx="5493425" cy="686633"/>
          </a:xfrm>
          <a:prstGeom prst="rect">
            <a:avLst/>
          </a:prstGeom>
          <a:noFill/>
          <a:ln/>
        </p:spPr>
        <p:txBody>
          <a:bodyPr wrap="none" lIns="0" tIns="0" rIns="0" bIns="0" rtlCol="0" anchor="t"/>
          <a:lstStyle/>
          <a:p>
            <a:pPr marL="0" indent="0" algn="l">
              <a:lnSpc>
                <a:spcPts val="5400"/>
              </a:lnSpc>
              <a:buNone/>
            </a:pPr>
            <a:r>
              <a:rPr lang="en-US" sz="4300" b="1" dirty="0">
                <a:solidFill>
                  <a:srgbClr val="443728"/>
                </a:solidFill>
                <a:latin typeface="Cambria" pitchFamily="34" charset="0"/>
                <a:ea typeface="Cambria" pitchFamily="34" charset="-122"/>
                <a:cs typeface="Cambria" pitchFamily="34" charset="-120"/>
              </a:rPr>
              <a:t>Chi sono</a:t>
            </a:r>
            <a:endParaRPr lang="en-US" sz="4300" dirty="0"/>
          </a:p>
        </p:txBody>
      </p:sp>
      <p:sp>
        <p:nvSpPr>
          <p:cNvPr id="3" name="Shape 1"/>
          <p:cNvSpPr/>
          <p:nvPr/>
        </p:nvSpPr>
        <p:spPr>
          <a:xfrm>
            <a:off x="610791" y="1695807"/>
            <a:ext cx="4396107" cy="4872261"/>
          </a:xfrm>
          <a:prstGeom prst="roundRect">
            <a:avLst>
              <a:gd name="adj" fmla="val 3024"/>
            </a:avLst>
          </a:prstGeom>
          <a:solidFill>
            <a:srgbClr val="835E54"/>
          </a:solidFill>
          <a:ln/>
        </p:spPr>
        <p:txBody>
          <a:bodyPr/>
          <a:lstStyle/>
          <a:p>
            <a:endParaRPr lang="en-GB"/>
          </a:p>
        </p:txBody>
      </p:sp>
      <p:sp>
        <p:nvSpPr>
          <p:cNvPr id="4" name="Text 2"/>
          <p:cNvSpPr/>
          <p:nvPr/>
        </p:nvSpPr>
        <p:spPr>
          <a:xfrm>
            <a:off x="830461" y="1908572"/>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FFFFFF"/>
                </a:solidFill>
                <a:latin typeface="Cambria" pitchFamily="34" charset="0"/>
                <a:ea typeface="Cambria" pitchFamily="34" charset="-122"/>
                <a:cs typeface="Cambria" pitchFamily="34" charset="-120"/>
              </a:rPr>
              <a:t>Alessandro Gherardi</a:t>
            </a:r>
            <a:endParaRPr lang="en-US" sz="2150" dirty="0"/>
          </a:p>
        </p:txBody>
      </p:sp>
      <p:sp>
        <p:nvSpPr>
          <p:cNvPr id="5" name="Text 3"/>
          <p:cNvSpPr/>
          <p:nvPr/>
        </p:nvSpPr>
        <p:spPr>
          <a:xfrm>
            <a:off x="830461" y="2464594"/>
            <a:ext cx="4792385" cy="346115"/>
          </a:xfrm>
          <a:prstGeom prst="rect">
            <a:avLst/>
          </a:prstGeom>
          <a:noFill/>
          <a:ln/>
        </p:spPr>
        <p:txBody>
          <a:bodyPr wrap="none" lIns="0" tIns="0" rIns="0" bIns="0" rtlCol="0" anchor="t"/>
          <a:lstStyle/>
          <a:p>
            <a:pPr marL="0" indent="0" algn="l">
              <a:lnSpc>
                <a:spcPts val="2700"/>
              </a:lnSpc>
              <a:buNone/>
            </a:pPr>
            <a:r>
              <a:rPr lang="en-US" sz="1700" b="1" dirty="0">
                <a:solidFill>
                  <a:srgbClr val="FFFFFF"/>
                </a:solidFill>
                <a:latin typeface="Calibri" pitchFamily="34" charset="0"/>
                <a:ea typeface="Calibri" pitchFamily="34" charset="-122"/>
                <a:cs typeface="Calibri" pitchFamily="34" charset="-120"/>
              </a:rPr>
              <a:t>BI Freelancer</a:t>
            </a:r>
            <a:endParaRPr lang="en-US" sz="1700" dirty="0"/>
          </a:p>
        </p:txBody>
      </p:sp>
      <p:sp>
        <p:nvSpPr>
          <p:cNvPr id="6" name="Text 4"/>
          <p:cNvSpPr/>
          <p:nvPr/>
        </p:nvSpPr>
        <p:spPr>
          <a:xfrm>
            <a:off x="830461" y="3002280"/>
            <a:ext cx="4792385" cy="346115"/>
          </a:xfrm>
          <a:prstGeom prst="rect">
            <a:avLst/>
          </a:prstGeom>
          <a:noFill/>
          <a:ln/>
        </p:spPr>
        <p:txBody>
          <a:bodyPr wrap="none" lIns="0" tIns="0" rIns="0" bIns="0" rtlCol="0" anchor="t"/>
          <a:lstStyle/>
          <a:p>
            <a:pPr marL="0" indent="0" algn="l">
              <a:lnSpc>
                <a:spcPts val="2700"/>
              </a:lnSpc>
              <a:buNone/>
            </a:pPr>
            <a:r>
              <a:rPr lang="en-US" sz="1700" dirty="0">
                <a:solidFill>
                  <a:srgbClr val="FFFFFF"/>
                </a:solidFill>
                <a:latin typeface="Calibri" pitchFamily="34" charset="0"/>
                <a:ea typeface="Calibri" pitchFamily="34" charset="-122"/>
                <a:cs typeface="Calibri" pitchFamily="34" charset="-120"/>
              </a:rPr>
              <a:t>agherardi@agbi.it</a:t>
            </a:r>
            <a:endParaRPr lang="en-US" sz="1700" dirty="0"/>
          </a:p>
        </p:txBody>
      </p:sp>
      <p:sp>
        <p:nvSpPr>
          <p:cNvPr id="8" name="Text 6"/>
          <p:cNvSpPr/>
          <p:nvPr/>
        </p:nvSpPr>
        <p:spPr>
          <a:xfrm>
            <a:off x="6227921" y="1908572"/>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443728"/>
                </a:solidFill>
                <a:latin typeface="Cambria" pitchFamily="34" charset="0"/>
                <a:ea typeface="Cambria" pitchFamily="34" charset="-122"/>
                <a:cs typeface="Cambria" pitchFamily="34" charset="-120"/>
              </a:rPr>
              <a:t>Esperienza &amp; Ruoli</a:t>
            </a:r>
            <a:endParaRPr lang="en-US" sz="2150" dirty="0"/>
          </a:p>
        </p:txBody>
      </p:sp>
      <p:sp>
        <p:nvSpPr>
          <p:cNvPr id="9" name="Text 7"/>
          <p:cNvSpPr/>
          <p:nvPr/>
        </p:nvSpPr>
        <p:spPr>
          <a:xfrm>
            <a:off x="6227921" y="2464594"/>
            <a:ext cx="7640955" cy="1038344"/>
          </a:xfrm>
          <a:prstGeom prst="rect">
            <a:avLst/>
          </a:prstGeom>
          <a:noFill/>
          <a:ln/>
        </p:spPr>
        <p:txBody>
          <a:bodyPr wrap="square" lIns="0" tIns="0" rIns="0" bIns="0" rtlCol="0" anchor="t"/>
          <a:lstStyle/>
          <a:p>
            <a:pPr marL="0" indent="0" algn="l">
              <a:lnSpc>
                <a:spcPts val="2700"/>
              </a:lnSpc>
              <a:buNone/>
            </a:pPr>
            <a:r>
              <a:rPr lang="en-US" sz="1700" dirty="0">
                <a:solidFill>
                  <a:srgbClr val="443728"/>
                </a:solidFill>
                <a:latin typeface="Calibri" pitchFamily="34" charset="0"/>
                <a:ea typeface="Calibri" pitchFamily="34" charset="-122"/>
                <a:cs typeface="Calibri" pitchFamily="34" charset="-120"/>
              </a:rPr>
              <a:t>Diversi anni di esperienza in BI e Data, principalmente su Power BI, SQL, Data Modeling ed ETL. Attualmente freelance, co-leader dell'Italian Power BI User Group e speaker dove mi accettano.</a:t>
            </a:r>
            <a:endParaRPr lang="en-US" sz="17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27921" y="3742373"/>
            <a:ext cx="549235" cy="549235"/>
          </a:xfrm>
          <a:prstGeom prst="rect">
            <a:avLst/>
          </a:prstGeom>
        </p:spPr>
      </p:pic>
      <p:sp>
        <p:nvSpPr>
          <p:cNvPr id="11" name="Text 8"/>
          <p:cNvSpPr/>
          <p:nvPr/>
        </p:nvSpPr>
        <p:spPr>
          <a:xfrm>
            <a:off x="7043142" y="3742373"/>
            <a:ext cx="3482459" cy="343257"/>
          </a:xfrm>
          <a:prstGeom prst="rect">
            <a:avLst/>
          </a:prstGeom>
          <a:noFill/>
          <a:ln/>
        </p:spPr>
        <p:txBody>
          <a:bodyPr wrap="none" lIns="0" tIns="0" rIns="0" bIns="0" rtlCol="0" anchor="t"/>
          <a:lstStyle/>
          <a:p>
            <a:pPr marL="0" indent="0" algn="l">
              <a:lnSpc>
                <a:spcPts val="2700"/>
              </a:lnSpc>
              <a:buNone/>
            </a:pPr>
            <a:r>
              <a:rPr lang="en-US" sz="2150" b="1" dirty="0">
                <a:solidFill>
                  <a:srgbClr val="443728"/>
                </a:solidFill>
                <a:latin typeface="Cambria" pitchFamily="34" charset="0"/>
                <a:ea typeface="Cambria" pitchFamily="34" charset="-122"/>
                <a:cs typeface="Cambria" pitchFamily="34" charset="-120"/>
              </a:rPr>
              <a:t>Power BI, SQL, Fabric, etc.etc.</a:t>
            </a:r>
            <a:endParaRPr lang="en-US" sz="2150" dirty="0"/>
          </a:p>
        </p:txBody>
      </p:sp>
      <p:sp>
        <p:nvSpPr>
          <p:cNvPr id="12" name="Text 9"/>
          <p:cNvSpPr/>
          <p:nvPr/>
        </p:nvSpPr>
        <p:spPr>
          <a:xfrm>
            <a:off x="7043142" y="4298394"/>
            <a:ext cx="6825734" cy="346115"/>
          </a:xfrm>
          <a:prstGeom prst="rect">
            <a:avLst/>
          </a:prstGeom>
          <a:noFill/>
          <a:ln/>
        </p:spPr>
        <p:txBody>
          <a:bodyPr wrap="none" lIns="0" tIns="0" rIns="0" bIns="0" rtlCol="0" anchor="t"/>
          <a:lstStyle/>
          <a:p>
            <a:pPr marL="0" indent="0" algn="l">
              <a:lnSpc>
                <a:spcPts val="2700"/>
              </a:lnSpc>
              <a:buNone/>
            </a:pPr>
            <a:r>
              <a:rPr lang="en-US" sz="1700" dirty="0">
                <a:solidFill>
                  <a:srgbClr val="443728"/>
                </a:solidFill>
                <a:latin typeface="Calibri" pitchFamily="34" charset="0"/>
                <a:ea typeface="Calibri" pitchFamily="34" charset="-122"/>
                <a:cs typeface="Calibri" pitchFamily="34" charset="-120"/>
              </a:rPr>
              <a:t>Specializzazione in Data Modeling, DAX ed ETL</a:t>
            </a:r>
            <a:endParaRPr lang="en-US" sz="1700"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27921" y="5070158"/>
            <a:ext cx="549235" cy="549235"/>
          </a:xfrm>
          <a:prstGeom prst="rect">
            <a:avLst/>
          </a:prstGeom>
        </p:spPr>
      </p:pic>
      <p:sp>
        <p:nvSpPr>
          <p:cNvPr id="14" name="Text 10"/>
          <p:cNvSpPr/>
          <p:nvPr/>
        </p:nvSpPr>
        <p:spPr>
          <a:xfrm>
            <a:off x="7043142" y="5070158"/>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443728"/>
                </a:solidFill>
                <a:latin typeface="Cambria" pitchFamily="34" charset="0"/>
                <a:ea typeface="Cambria" pitchFamily="34" charset="-122"/>
                <a:cs typeface="Cambria" pitchFamily="34" charset="-120"/>
              </a:rPr>
              <a:t>Community</a:t>
            </a:r>
            <a:endParaRPr lang="en-US" sz="2150" dirty="0"/>
          </a:p>
        </p:txBody>
      </p:sp>
      <p:sp>
        <p:nvSpPr>
          <p:cNvPr id="15" name="Text 11"/>
          <p:cNvSpPr/>
          <p:nvPr/>
        </p:nvSpPr>
        <p:spPr>
          <a:xfrm>
            <a:off x="7043142" y="5626179"/>
            <a:ext cx="6825734" cy="346115"/>
          </a:xfrm>
          <a:prstGeom prst="rect">
            <a:avLst/>
          </a:prstGeom>
          <a:noFill/>
          <a:ln/>
        </p:spPr>
        <p:txBody>
          <a:bodyPr wrap="none" lIns="0" tIns="0" rIns="0" bIns="0" rtlCol="0" anchor="t"/>
          <a:lstStyle/>
          <a:p>
            <a:pPr marL="0" indent="0" algn="l">
              <a:lnSpc>
                <a:spcPts val="2700"/>
              </a:lnSpc>
              <a:buNone/>
            </a:pPr>
            <a:r>
              <a:rPr lang="en-US" sz="1700" dirty="0">
                <a:solidFill>
                  <a:srgbClr val="443728"/>
                </a:solidFill>
                <a:latin typeface="Calibri" pitchFamily="34" charset="0"/>
                <a:ea typeface="Calibri" pitchFamily="34" charset="-122"/>
                <a:cs typeface="Calibri" pitchFamily="34" charset="-120"/>
              </a:rPr>
              <a:t>Co-leader Italian Power BI User Group</a:t>
            </a:r>
            <a:endParaRPr lang="en-US" sz="170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7921" y="6397943"/>
            <a:ext cx="549235" cy="549235"/>
          </a:xfrm>
          <a:prstGeom prst="rect">
            <a:avLst/>
          </a:prstGeom>
        </p:spPr>
      </p:pic>
      <p:sp>
        <p:nvSpPr>
          <p:cNvPr id="17" name="Text 12"/>
          <p:cNvSpPr/>
          <p:nvPr/>
        </p:nvSpPr>
        <p:spPr>
          <a:xfrm>
            <a:off x="7043142" y="6397943"/>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443728"/>
                </a:solidFill>
                <a:latin typeface="Cambria" pitchFamily="34" charset="0"/>
                <a:ea typeface="Cambria" pitchFamily="34" charset="-122"/>
                <a:cs typeface="Cambria" pitchFamily="34" charset="-120"/>
              </a:rPr>
              <a:t>Speaker</a:t>
            </a:r>
            <a:endParaRPr lang="en-US" sz="2150" dirty="0"/>
          </a:p>
        </p:txBody>
      </p:sp>
      <p:sp>
        <p:nvSpPr>
          <p:cNvPr id="18" name="Text 13"/>
          <p:cNvSpPr/>
          <p:nvPr/>
        </p:nvSpPr>
        <p:spPr>
          <a:xfrm>
            <a:off x="7043142" y="6953964"/>
            <a:ext cx="6825734" cy="346115"/>
          </a:xfrm>
          <a:prstGeom prst="rect">
            <a:avLst/>
          </a:prstGeom>
          <a:noFill/>
          <a:ln/>
        </p:spPr>
        <p:txBody>
          <a:bodyPr wrap="none" lIns="0" tIns="0" rIns="0" bIns="0" rtlCol="0" anchor="t"/>
          <a:lstStyle/>
          <a:p>
            <a:pPr marL="0" indent="0" algn="l">
              <a:lnSpc>
                <a:spcPts val="2700"/>
              </a:lnSpc>
              <a:buNone/>
            </a:pPr>
            <a:r>
              <a:rPr lang="en-US" sz="1700" dirty="0">
                <a:solidFill>
                  <a:srgbClr val="443728"/>
                </a:solidFill>
                <a:latin typeface="Calibri" pitchFamily="34" charset="0"/>
                <a:ea typeface="Calibri" pitchFamily="34" charset="-122"/>
                <a:cs typeface="Calibri" pitchFamily="34" charset="-120"/>
              </a:rPr>
              <a:t>Dove mi </a:t>
            </a:r>
            <a:r>
              <a:rPr lang="en-US" sz="1700" dirty="0" err="1">
                <a:solidFill>
                  <a:srgbClr val="443728"/>
                </a:solidFill>
                <a:latin typeface="Calibri" pitchFamily="34" charset="0"/>
                <a:ea typeface="Calibri" pitchFamily="34" charset="-122"/>
                <a:cs typeface="Calibri" pitchFamily="34" charset="-120"/>
              </a:rPr>
              <a:t>prendono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292423"/>
            <a:ext cx="1090970" cy="426244"/>
          </a:xfrm>
          <a:prstGeom prst="roundRect">
            <a:avLst>
              <a:gd name="adj" fmla="val 17880"/>
            </a:avLst>
          </a:prstGeom>
          <a:solidFill>
            <a:srgbClr val="EBE2E0"/>
          </a:solidFill>
          <a:ln/>
        </p:spPr>
        <p:txBody>
          <a:bodyPr/>
          <a:lstStyle/>
          <a:p>
            <a:endParaRPr lang="en-GB"/>
          </a:p>
        </p:txBody>
      </p:sp>
      <p:sp>
        <p:nvSpPr>
          <p:cNvPr id="3" name="Text 1"/>
          <p:cNvSpPr/>
          <p:nvPr/>
        </p:nvSpPr>
        <p:spPr>
          <a:xfrm>
            <a:off x="929878" y="1360408"/>
            <a:ext cx="818793" cy="290274"/>
          </a:xfrm>
          <a:prstGeom prst="rect">
            <a:avLst/>
          </a:prstGeom>
          <a:noFill/>
          <a:ln/>
        </p:spPr>
        <p:txBody>
          <a:bodyPr wrap="none" lIns="0" tIns="0" rIns="0" bIns="0" rtlCol="0" anchor="t"/>
          <a:lstStyle/>
          <a:p>
            <a:pPr marL="0" indent="0" algn="l">
              <a:lnSpc>
                <a:spcPts val="2250"/>
              </a:lnSpc>
              <a:buNone/>
            </a:pPr>
            <a:r>
              <a:rPr lang="en-US" sz="1400" dirty="0">
                <a:solidFill>
                  <a:srgbClr val="443728"/>
                </a:solidFill>
                <a:latin typeface="Calibri" pitchFamily="34" charset="0"/>
                <a:ea typeface="Calibri" pitchFamily="34" charset="-122"/>
                <a:cs typeface="Calibri" pitchFamily="34" charset="-120"/>
              </a:rPr>
              <a:t>OBIETTIVI</a:t>
            </a:r>
            <a:endParaRPr lang="en-US" sz="1400" dirty="0"/>
          </a:p>
        </p:txBody>
      </p:sp>
      <p:sp>
        <p:nvSpPr>
          <p:cNvPr id="4" name="Text 2"/>
          <p:cNvSpPr/>
          <p:nvPr/>
        </p:nvSpPr>
        <p:spPr>
          <a:xfrm>
            <a:off x="793790" y="1809393"/>
            <a:ext cx="6920032"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Cambria" pitchFamily="34" charset="0"/>
                <a:ea typeface="Cambria" pitchFamily="34" charset="-122"/>
                <a:cs typeface="Cambria" pitchFamily="34" charset="-120"/>
              </a:rPr>
              <a:t>Cosa ci portiamo a casa oggi?</a:t>
            </a:r>
            <a:endParaRPr lang="en-US" sz="4450" dirty="0"/>
          </a:p>
        </p:txBody>
      </p:sp>
      <p:sp>
        <p:nvSpPr>
          <p:cNvPr id="5" name="Text 3"/>
          <p:cNvSpPr/>
          <p:nvPr/>
        </p:nvSpPr>
        <p:spPr>
          <a:xfrm>
            <a:off x="793790" y="285833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Tre obiettivi fondamentali da questa sessione per trasformare il tuo approccio allo sviluppo Power BI.</a:t>
            </a:r>
            <a:endParaRPr lang="en-US" sz="1750" dirty="0"/>
          </a:p>
        </p:txBody>
      </p:sp>
      <p:sp>
        <p:nvSpPr>
          <p:cNvPr id="6" name="Shape 4"/>
          <p:cNvSpPr/>
          <p:nvPr/>
        </p:nvSpPr>
        <p:spPr>
          <a:xfrm>
            <a:off x="793790" y="3816548"/>
            <a:ext cx="4196358" cy="3120628"/>
          </a:xfrm>
          <a:prstGeom prst="roundRect">
            <a:avLst>
              <a:gd name="adj" fmla="val 4688"/>
            </a:avLst>
          </a:prstGeom>
          <a:solidFill>
            <a:srgbClr val="FFFCFA"/>
          </a:solidFill>
          <a:ln/>
        </p:spPr>
        <p:txBody>
          <a:bodyPr/>
          <a:lstStyle/>
          <a:p>
            <a:endParaRPr lang="en-GB"/>
          </a:p>
        </p:txBody>
      </p:sp>
      <p:sp>
        <p:nvSpPr>
          <p:cNvPr id="7" name="Shape 5"/>
          <p:cNvSpPr/>
          <p:nvPr/>
        </p:nvSpPr>
        <p:spPr>
          <a:xfrm>
            <a:off x="793790" y="3786068"/>
            <a:ext cx="4196358" cy="121920"/>
          </a:xfrm>
          <a:prstGeom prst="roundRect">
            <a:avLst>
              <a:gd name="adj" fmla="val 78139"/>
            </a:avLst>
          </a:prstGeom>
          <a:solidFill>
            <a:srgbClr val="835E54"/>
          </a:solidFill>
          <a:ln/>
        </p:spPr>
        <p:txBody>
          <a:bodyPr/>
          <a:lstStyle/>
          <a:p>
            <a:endParaRPr lang="en-GB"/>
          </a:p>
        </p:txBody>
      </p:sp>
      <p:sp>
        <p:nvSpPr>
          <p:cNvPr id="8" name="Shape 6"/>
          <p:cNvSpPr/>
          <p:nvPr/>
        </p:nvSpPr>
        <p:spPr>
          <a:xfrm>
            <a:off x="2551688" y="3476387"/>
            <a:ext cx="680442" cy="680442"/>
          </a:xfrm>
          <a:prstGeom prst="roundRect">
            <a:avLst>
              <a:gd name="adj" fmla="val 134383"/>
            </a:avLst>
          </a:prstGeom>
          <a:solidFill>
            <a:srgbClr val="835E54"/>
          </a:solidFill>
          <a:ln/>
        </p:spPr>
        <p:txBody>
          <a:bodyPr/>
          <a:lstStyle/>
          <a:p>
            <a:endParaRPr lang="en-GB"/>
          </a:p>
        </p:txBody>
      </p:sp>
      <p:sp>
        <p:nvSpPr>
          <p:cNvPr id="9" name="Text 7"/>
          <p:cNvSpPr/>
          <p:nvPr/>
        </p:nvSpPr>
        <p:spPr>
          <a:xfrm>
            <a:off x="2755761" y="3646527"/>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Cambria" pitchFamily="34" charset="0"/>
                <a:ea typeface="Cambria" pitchFamily="34" charset="-122"/>
                <a:cs typeface="Cambria" pitchFamily="34" charset="-120"/>
              </a:rPr>
              <a:t>1</a:t>
            </a:r>
            <a:endParaRPr lang="en-US" sz="2100" dirty="0"/>
          </a:p>
        </p:txBody>
      </p:sp>
      <p:sp>
        <p:nvSpPr>
          <p:cNvPr id="10" name="Text 8"/>
          <p:cNvSpPr/>
          <p:nvPr/>
        </p:nvSpPr>
        <p:spPr>
          <a:xfrm>
            <a:off x="1051084" y="4383524"/>
            <a:ext cx="3681770" cy="708660"/>
          </a:xfrm>
          <a:prstGeom prst="rect">
            <a:avLst/>
          </a:prstGeom>
          <a:noFill/>
          <a:ln/>
        </p:spPr>
        <p:txBody>
          <a:bodyPr wrap="square" lIns="0" tIns="0" rIns="0" bIns="0" rtlCol="0" anchor="t"/>
          <a:lstStyle/>
          <a:p>
            <a:pPr marL="0" indent="0" algn="l">
              <a:lnSpc>
                <a:spcPts val="2750"/>
              </a:lnSpc>
              <a:buNone/>
            </a:pPr>
            <a:r>
              <a:rPr lang="en-US" sz="2200" b="1" dirty="0">
                <a:solidFill>
                  <a:srgbClr val="443728"/>
                </a:solidFill>
                <a:latin typeface="Cambria" pitchFamily="34" charset="0"/>
                <a:ea typeface="Cambria" pitchFamily="34" charset="-122"/>
                <a:cs typeface="Cambria" pitchFamily="34" charset="-120"/>
              </a:rPr>
              <a:t>L'importanza di sviluppare in maniera strutturata </a:t>
            </a:r>
            <a:endParaRPr lang="en-US" sz="2200" dirty="0"/>
          </a:p>
        </p:txBody>
      </p:sp>
      <p:sp>
        <p:nvSpPr>
          <p:cNvPr id="11" name="Text 9"/>
          <p:cNvSpPr/>
          <p:nvPr/>
        </p:nvSpPr>
        <p:spPr>
          <a:xfrm>
            <a:off x="1051084" y="5228273"/>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I pain points dello sviluppo tradizionale e cosa cambia oggi per Power BI.</a:t>
            </a:r>
            <a:endParaRPr lang="en-US" sz="1750" dirty="0"/>
          </a:p>
        </p:txBody>
      </p:sp>
      <p:sp>
        <p:nvSpPr>
          <p:cNvPr id="12" name="Shape 10"/>
          <p:cNvSpPr/>
          <p:nvPr/>
        </p:nvSpPr>
        <p:spPr>
          <a:xfrm>
            <a:off x="5216962" y="3816548"/>
            <a:ext cx="4196358" cy="3120628"/>
          </a:xfrm>
          <a:prstGeom prst="roundRect">
            <a:avLst>
              <a:gd name="adj" fmla="val 4688"/>
            </a:avLst>
          </a:prstGeom>
          <a:solidFill>
            <a:srgbClr val="FFFCFA"/>
          </a:solidFill>
          <a:ln/>
        </p:spPr>
        <p:txBody>
          <a:bodyPr/>
          <a:lstStyle/>
          <a:p>
            <a:endParaRPr lang="en-GB"/>
          </a:p>
        </p:txBody>
      </p:sp>
      <p:sp>
        <p:nvSpPr>
          <p:cNvPr id="13" name="Shape 11"/>
          <p:cNvSpPr/>
          <p:nvPr/>
        </p:nvSpPr>
        <p:spPr>
          <a:xfrm>
            <a:off x="5216962" y="3786068"/>
            <a:ext cx="4196358" cy="121920"/>
          </a:xfrm>
          <a:prstGeom prst="roundRect">
            <a:avLst>
              <a:gd name="adj" fmla="val 78139"/>
            </a:avLst>
          </a:prstGeom>
          <a:solidFill>
            <a:srgbClr val="835E54"/>
          </a:solidFill>
          <a:ln/>
        </p:spPr>
        <p:txBody>
          <a:bodyPr/>
          <a:lstStyle/>
          <a:p>
            <a:endParaRPr lang="en-GB"/>
          </a:p>
        </p:txBody>
      </p:sp>
      <p:sp>
        <p:nvSpPr>
          <p:cNvPr id="14" name="Shape 12"/>
          <p:cNvSpPr/>
          <p:nvPr/>
        </p:nvSpPr>
        <p:spPr>
          <a:xfrm>
            <a:off x="6974860" y="3476387"/>
            <a:ext cx="680442" cy="680442"/>
          </a:xfrm>
          <a:prstGeom prst="roundRect">
            <a:avLst>
              <a:gd name="adj" fmla="val 134383"/>
            </a:avLst>
          </a:prstGeom>
          <a:solidFill>
            <a:srgbClr val="835E54"/>
          </a:solidFill>
          <a:ln/>
        </p:spPr>
        <p:txBody>
          <a:bodyPr/>
          <a:lstStyle/>
          <a:p>
            <a:endParaRPr lang="en-GB"/>
          </a:p>
        </p:txBody>
      </p:sp>
      <p:sp>
        <p:nvSpPr>
          <p:cNvPr id="15" name="Text 13"/>
          <p:cNvSpPr/>
          <p:nvPr/>
        </p:nvSpPr>
        <p:spPr>
          <a:xfrm>
            <a:off x="7178933" y="3646527"/>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6" name="Text 14"/>
          <p:cNvSpPr/>
          <p:nvPr/>
        </p:nvSpPr>
        <p:spPr>
          <a:xfrm>
            <a:off x="5474256" y="4383524"/>
            <a:ext cx="3681770" cy="708660"/>
          </a:xfrm>
          <a:prstGeom prst="rect">
            <a:avLst/>
          </a:prstGeom>
          <a:noFill/>
          <a:ln/>
        </p:spPr>
        <p:txBody>
          <a:bodyPr wrap="square" lIns="0" tIns="0" rIns="0" bIns="0" rtlCol="0" anchor="t"/>
          <a:lstStyle/>
          <a:p>
            <a:pPr>
              <a:lnSpc>
                <a:spcPts val="2750"/>
              </a:lnSpc>
            </a:pPr>
            <a:r>
              <a:rPr lang="en-US" sz="2200" b="1" dirty="0">
                <a:solidFill>
                  <a:srgbClr val="443728"/>
                </a:solidFill>
                <a:latin typeface="Cambria" pitchFamily="34" charset="0"/>
                <a:ea typeface="Cambria" pitchFamily="34" charset="-122"/>
                <a:cs typeface="Cambria" pitchFamily="34" charset="-120"/>
              </a:rPr>
              <a:t>Che </a:t>
            </a:r>
            <a:r>
              <a:rPr lang="en-US" sz="2200" b="1" dirty="0" err="1">
                <a:solidFill>
                  <a:srgbClr val="443728"/>
                </a:solidFill>
                <a:latin typeface="Cambria" pitchFamily="34" charset="0"/>
                <a:ea typeface="Cambria" pitchFamily="34" charset="-122"/>
                <a:cs typeface="Cambria" pitchFamily="34" charset="-120"/>
              </a:rPr>
              <a:t>strumenti</a:t>
            </a:r>
            <a:r>
              <a:rPr lang="en-US" sz="2200" b="1" dirty="0">
                <a:solidFill>
                  <a:srgbClr val="443728"/>
                </a:solidFill>
                <a:latin typeface="Cambria" pitchFamily="34" charset="0"/>
                <a:ea typeface="Cambria" pitchFamily="34" charset="-122"/>
                <a:cs typeface="Cambria" pitchFamily="34" charset="-120"/>
              </a:rPr>
              <a:t> </a:t>
            </a:r>
            <a:r>
              <a:rPr lang="en-US" sz="2200" b="1" dirty="0" err="1">
                <a:solidFill>
                  <a:srgbClr val="443728"/>
                </a:solidFill>
                <a:latin typeface="Cambria" pitchFamily="34" charset="0"/>
                <a:ea typeface="Cambria" pitchFamily="34" charset="-122"/>
                <a:cs typeface="Cambria" pitchFamily="34" charset="-120"/>
              </a:rPr>
              <a:t>abbiamo</a:t>
            </a:r>
            <a:r>
              <a:rPr lang="en-US" sz="2200" b="1" dirty="0">
                <a:solidFill>
                  <a:srgbClr val="443728"/>
                </a:solidFill>
                <a:latin typeface="Cambria" pitchFamily="34" charset="0"/>
                <a:ea typeface="Cambria" pitchFamily="34" charset="-122"/>
                <a:cs typeface="Cambria" pitchFamily="34" charset="-120"/>
              </a:rPr>
              <a:t> in Fabric e ADO</a:t>
            </a:r>
            <a:endParaRPr lang="en-US" sz="2200" dirty="0"/>
          </a:p>
        </p:txBody>
      </p:sp>
      <p:sp>
        <p:nvSpPr>
          <p:cNvPr id="17" name="Text 15"/>
          <p:cNvSpPr/>
          <p:nvPr/>
        </p:nvSpPr>
        <p:spPr>
          <a:xfrm>
            <a:off x="5474256" y="5228273"/>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Come la </a:t>
            </a:r>
            <a:r>
              <a:rPr lang="en-US" sz="1750" dirty="0" err="1">
                <a:solidFill>
                  <a:srgbClr val="443728"/>
                </a:solidFill>
                <a:latin typeface="Calibri" pitchFamily="34" charset="0"/>
                <a:ea typeface="Calibri" pitchFamily="34" charset="-122"/>
                <a:cs typeface="Calibri" pitchFamily="34" charset="-120"/>
              </a:rPr>
              <a:t>collaborazione</a:t>
            </a:r>
            <a:r>
              <a:rPr lang="en-US" sz="1750" dirty="0">
                <a:solidFill>
                  <a:srgbClr val="443728"/>
                </a:solidFill>
                <a:latin typeface="Calibri" pitchFamily="34" charset="0"/>
                <a:ea typeface="Calibri" pitchFamily="34" charset="-122"/>
                <a:cs typeface="Calibri" pitchFamily="34" charset="-120"/>
              </a:rPr>
              <a:t> </a:t>
            </a:r>
            <a:r>
              <a:rPr lang="en-US" sz="1750" dirty="0" err="1">
                <a:solidFill>
                  <a:srgbClr val="443728"/>
                </a:solidFill>
                <a:latin typeface="Calibri" pitchFamily="34" charset="0"/>
                <a:ea typeface="Calibri" pitchFamily="34" charset="-122"/>
                <a:cs typeface="Calibri" pitchFamily="34" charset="-120"/>
              </a:rPr>
              <a:t>tra</a:t>
            </a:r>
            <a:r>
              <a:rPr lang="en-US" sz="1750" dirty="0">
                <a:solidFill>
                  <a:srgbClr val="443728"/>
                </a:solidFill>
                <a:latin typeface="Calibri" pitchFamily="34" charset="0"/>
                <a:ea typeface="Calibri" pitchFamily="34" charset="-122"/>
                <a:cs typeface="Calibri" pitchFamily="34" charset="-120"/>
              </a:rPr>
              <a:t> Fabric e ADO </a:t>
            </a:r>
            <a:r>
              <a:rPr lang="en-US" sz="1750" dirty="0" err="1">
                <a:solidFill>
                  <a:srgbClr val="443728"/>
                </a:solidFill>
                <a:latin typeface="Calibri" pitchFamily="34" charset="0"/>
                <a:ea typeface="Calibri" pitchFamily="34" charset="-122"/>
                <a:cs typeface="Calibri" pitchFamily="34" charset="-120"/>
              </a:rPr>
              <a:t>permette</a:t>
            </a:r>
            <a:r>
              <a:rPr lang="en-US" sz="1750" dirty="0">
                <a:solidFill>
                  <a:srgbClr val="443728"/>
                </a:solidFill>
                <a:latin typeface="Calibri" pitchFamily="34" charset="0"/>
                <a:ea typeface="Calibri" pitchFamily="34" charset="-122"/>
                <a:cs typeface="Calibri" pitchFamily="34" charset="-120"/>
              </a:rPr>
              <a:t> di </a:t>
            </a:r>
            <a:r>
              <a:rPr lang="en-US" sz="1750" dirty="0" err="1">
                <a:solidFill>
                  <a:srgbClr val="443728"/>
                </a:solidFill>
                <a:latin typeface="Calibri" pitchFamily="34" charset="0"/>
                <a:ea typeface="Calibri" pitchFamily="34" charset="-122"/>
                <a:cs typeface="Calibri" pitchFamily="34" charset="-120"/>
              </a:rPr>
              <a:t>lavorare</a:t>
            </a:r>
            <a:r>
              <a:rPr lang="en-US" sz="1750" dirty="0">
                <a:solidFill>
                  <a:srgbClr val="443728"/>
                </a:solidFill>
                <a:latin typeface="Calibri" pitchFamily="34" charset="0"/>
                <a:ea typeface="Calibri" pitchFamily="34" charset="-122"/>
                <a:cs typeface="Calibri" pitchFamily="34" charset="-120"/>
              </a:rPr>
              <a:t> in maniera </a:t>
            </a:r>
            <a:r>
              <a:rPr lang="en-US" sz="1750" dirty="0" err="1">
                <a:solidFill>
                  <a:srgbClr val="443728"/>
                </a:solidFill>
                <a:latin typeface="Calibri" pitchFamily="34" charset="0"/>
                <a:ea typeface="Calibri" pitchFamily="34" charset="-122"/>
                <a:cs typeface="Calibri" pitchFamily="34" charset="-120"/>
              </a:rPr>
              <a:t>strutturata</a:t>
            </a:r>
            <a:endParaRPr lang="en-US" sz="1750" dirty="0"/>
          </a:p>
        </p:txBody>
      </p:sp>
      <p:sp>
        <p:nvSpPr>
          <p:cNvPr id="18" name="Shape 16"/>
          <p:cNvSpPr/>
          <p:nvPr/>
        </p:nvSpPr>
        <p:spPr>
          <a:xfrm>
            <a:off x="9640133" y="3816548"/>
            <a:ext cx="4196358" cy="3120628"/>
          </a:xfrm>
          <a:prstGeom prst="roundRect">
            <a:avLst>
              <a:gd name="adj" fmla="val 4688"/>
            </a:avLst>
          </a:prstGeom>
          <a:solidFill>
            <a:srgbClr val="FFFCFA"/>
          </a:solidFill>
          <a:ln/>
        </p:spPr>
        <p:txBody>
          <a:bodyPr/>
          <a:lstStyle/>
          <a:p>
            <a:endParaRPr lang="en-GB"/>
          </a:p>
        </p:txBody>
      </p:sp>
      <p:sp>
        <p:nvSpPr>
          <p:cNvPr id="19" name="Shape 17"/>
          <p:cNvSpPr/>
          <p:nvPr/>
        </p:nvSpPr>
        <p:spPr>
          <a:xfrm>
            <a:off x="9640133" y="3786068"/>
            <a:ext cx="4196358" cy="121920"/>
          </a:xfrm>
          <a:prstGeom prst="roundRect">
            <a:avLst>
              <a:gd name="adj" fmla="val 78139"/>
            </a:avLst>
          </a:prstGeom>
          <a:solidFill>
            <a:srgbClr val="835E54"/>
          </a:solidFill>
          <a:ln/>
        </p:spPr>
        <p:txBody>
          <a:bodyPr/>
          <a:lstStyle/>
          <a:p>
            <a:endParaRPr lang="en-GB"/>
          </a:p>
        </p:txBody>
      </p:sp>
      <p:sp>
        <p:nvSpPr>
          <p:cNvPr id="20" name="Shape 18"/>
          <p:cNvSpPr/>
          <p:nvPr/>
        </p:nvSpPr>
        <p:spPr>
          <a:xfrm>
            <a:off x="11398032" y="3476387"/>
            <a:ext cx="680442" cy="680442"/>
          </a:xfrm>
          <a:prstGeom prst="roundRect">
            <a:avLst>
              <a:gd name="adj" fmla="val 134383"/>
            </a:avLst>
          </a:prstGeom>
          <a:solidFill>
            <a:srgbClr val="835E54"/>
          </a:solidFill>
          <a:ln/>
        </p:spPr>
        <p:txBody>
          <a:bodyPr/>
          <a:lstStyle/>
          <a:p>
            <a:endParaRPr lang="en-GB"/>
          </a:p>
        </p:txBody>
      </p:sp>
      <p:sp>
        <p:nvSpPr>
          <p:cNvPr id="21" name="Text 19"/>
          <p:cNvSpPr/>
          <p:nvPr/>
        </p:nvSpPr>
        <p:spPr>
          <a:xfrm>
            <a:off x="11602105" y="3646527"/>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Cambria" pitchFamily="34" charset="0"/>
                <a:ea typeface="Cambria" pitchFamily="34" charset="-122"/>
                <a:cs typeface="Cambria" pitchFamily="34" charset="-120"/>
              </a:rPr>
              <a:t>3</a:t>
            </a:r>
            <a:endParaRPr lang="en-US" sz="2100" dirty="0"/>
          </a:p>
        </p:txBody>
      </p:sp>
      <p:sp>
        <p:nvSpPr>
          <p:cNvPr id="22" name="Text 20"/>
          <p:cNvSpPr/>
          <p:nvPr/>
        </p:nvSpPr>
        <p:spPr>
          <a:xfrm>
            <a:off x="9897427" y="4383524"/>
            <a:ext cx="3681770" cy="708660"/>
          </a:xfrm>
          <a:prstGeom prst="rect">
            <a:avLst/>
          </a:prstGeom>
          <a:noFill/>
          <a:ln/>
        </p:spPr>
        <p:txBody>
          <a:bodyPr wrap="square" lIns="0" tIns="0" rIns="0" bIns="0" rtlCol="0" anchor="t"/>
          <a:lstStyle/>
          <a:p>
            <a:pPr marL="0" indent="0" algn="l">
              <a:lnSpc>
                <a:spcPts val="2750"/>
              </a:lnSpc>
              <a:buNone/>
            </a:pPr>
            <a:r>
              <a:rPr lang="en-US" sz="2200" b="1" dirty="0">
                <a:solidFill>
                  <a:srgbClr val="443728"/>
                </a:solidFill>
                <a:latin typeface="Cambria" pitchFamily="34" charset="0"/>
                <a:ea typeface="Cambria" pitchFamily="34" charset="-122"/>
                <a:cs typeface="Cambria" pitchFamily="34" charset="-120"/>
              </a:rPr>
              <a:t>Next steps: API e code-based scenarios</a:t>
            </a:r>
            <a:endParaRPr lang="en-US" sz="2200" dirty="0"/>
          </a:p>
        </p:txBody>
      </p:sp>
      <p:sp>
        <p:nvSpPr>
          <p:cNvPr id="23" name="Text 21"/>
          <p:cNvSpPr/>
          <p:nvPr/>
        </p:nvSpPr>
        <p:spPr>
          <a:xfrm>
            <a:off x="9897427" y="5228273"/>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Come </a:t>
            </a:r>
            <a:r>
              <a:rPr lang="en-US" sz="1750" dirty="0" err="1">
                <a:solidFill>
                  <a:srgbClr val="443728"/>
                </a:solidFill>
                <a:latin typeface="Calibri" pitchFamily="34" charset="0"/>
                <a:ea typeface="Calibri" pitchFamily="34" charset="-122"/>
                <a:cs typeface="Calibri" pitchFamily="34" charset="-120"/>
              </a:rPr>
              <a:t>andare</a:t>
            </a:r>
            <a:r>
              <a:rPr lang="en-US" sz="1750" dirty="0">
                <a:solidFill>
                  <a:srgbClr val="443728"/>
                </a:solidFill>
                <a:latin typeface="Calibri" pitchFamily="34" charset="0"/>
                <a:ea typeface="Calibri" pitchFamily="34" charset="-122"/>
                <a:cs typeface="Calibri" pitchFamily="34" charset="-120"/>
              </a:rPr>
              <a:t> </a:t>
            </a:r>
            <a:r>
              <a:rPr lang="en-US" sz="1750" dirty="0" err="1">
                <a:solidFill>
                  <a:srgbClr val="443728"/>
                </a:solidFill>
                <a:latin typeface="Calibri" pitchFamily="34" charset="0"/>
                <a:ea typeface="Calibri" pitchFamily="34" charset="-122"/>
                <a:cs typeface="Calibri" pitchFamily="34" charset="-120"/>
              </a:rPr>
              <a:t>oltre</a:t>
            </a:r>
            <a:r>
              <a:rPr lang="en-US" sz="1750" dirty="0">
                <a:solidFill>
                  <a:srgbClr val="443728"/>
                </a:solidFill>
                <a:latin typeface="Calibri" pitchFamily="34" charset="0"/>
                <a:ea typeface="Calibri" pitchFamily="34" charset="-122"/>
                <a:cs typeface="Calibri" pitchFamily="34" charset="-120"/>
              </a:rPr>
              <a:t> la UI e </a:t>
            </a:r>
            <a:r>
              <a:rPr lang="en-US" sz="1750" dirty="0" err="1">
                <a:solidFill>
                  <a:srgbClr val="443728"/>
                </a:solidFill>
                <a:latin typeface="Calibri" pitchFamily="34" charset="0"/>
                <a:ea typeface="Calibri" pitchFamily="34" charset="-122"/>
                <a:cs typeface="Calibri" pitchFamily="34" charset="-120"/>
              </a:rPr>
              <a:t>automatizzare</a:t>
            </a:r>
            <a:r>
              <a:rPr lang="en-US" sz="1750" dirty="0">
                <a:solidFill>
                  <a:srgbClr val="443728"/>
                </a:solidFill>
                <a:latin typeface="Calibri" pitchFamily="34" charset="0"/>
                <a:ea typeface="Calibri" pitchFamily="34" charset="-122"/>
                <a:cs typeface="Calibri" pitchFamily="34" charset="-120"/>
              </a:rPr>
              <a:t> </a:t>
            </a:r>
            <a:r>
              <a:rPr lang="en-US" sz="1750" dirty="0" err="1">
                <a:solidFill>
                  <a:srgbClr val="443728"/>
                </a:solidFill>
                <a:latin typeface="Calibri" pitchFamily="34" charset="0"/>
                <a:ea typeface="Calibri" pitchFamily="34" charset="-122"/>
                <a:cs typeface="Calibri" pitchFamily="34" charset="-120"/>
              </a:rPr>
              <a:t>l’automatizzabile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1407" y="783908"/>
            <a:ext cx="6873002" cy="697706"/>
          </a:xfrm>
          <a:prstGeom prst="rect">
            <a:avLst/>
          </a:prstGeom>
          <a:noFill/>
          <a:ln/>
        </p:spPr>
        <p:txBody>
          <a:bodyPr wrap="none" lIns="0" tIns="0" rIns="0" bIns="0" rtlCol="0" anchor="t"/>
          <a:lstStyle/>
          <a:p>
            <a:pPr marL="0" indent="0" algn="l">
              <a:lnSpc>
                <a:spcPts val="5450"/>
              </a:lnSpc>
              <a:buNone/>
            </a:pPr>
            <a:r>
              <a:rPr lang="en-US" sz="4350" b="1" dirty="0">
                <a:solidFill>
                  <a:srgbClr val="443728"/>
                </a:solidFill>
                <a:latin typeface="Cambria" pitchFamily="34" charset="0"/>
                <a:ea typeface="Cambria" pitchFamily="34" charset="-122"/>
                <a:cs typeface="Cambria" pitchFamily="34" charset="-120"/>
              </a:rPr>
              <a:t>Perché DevOps per Power BI?</a:t>
            </a:r>
            <a:endParaRPr lang="en-US" sz="4350" dirty="0"/>
          </a:p>
        </p:txBody>
      </p:sp>
      <p:sp>
        <p:nvSpPr>
          <p:cNvPr id="3" name="Text 1"/>
          <p:cNvSpPr/>
          <p:nvPr/>
        </p:nvSpPr>
        <p:spPr>
          <a:xfrm>
            <a:off x="781407" y="1768078"/>
            <a:ext cx="13067586" cy="354330"/>
          </a:xfrm>
          <a:prstGeom prst="rect">
            <a:avLst/>
          </a:prstGeom>
          <a:noFill/>
          <a:ln/>
        </p:spPr>
        <p:txBody>
          <a:bodyPr wrap="non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Il modo tradizionale di lavorare con Power BI crea problemi ricorrenti, comunemente accettati ma del tutto evitabili.</a:t>
            </a:r>
            <a:endParaRPr lang="en-US" sz="1750" dirty="0"/>
          </a:p>
        </p:txBody>
      </p:sp>
      <p:sp>
        <p:nvSpPr>
          <p:cNvPr id="4" name="Shape 2"/>
          <p:cNvSpPr/>
          <p:nvPr/>
        </p:nvSpPr>
        <p:spPr>
          <a:xfrm>
            <a:off x="781407" y="2522696"/>
            <a:ext cx="13067586" cy="4775954"/>
          </a:xfrm>
          <a:prstGeom prst="roundRect">
            <a:avLst>
              <a:gd name="adj" fmla="val 1905"/>
            </a:avLst>
          </a:prstGeom>
          <a:noFill/>
          <a:ln w="7620">
            <a:solidFill>
              <a:srgbClr val="000000">
                <a:alpha val="8000"/>
              </a:srgbClr>
            </a:solidFill>
            <a:prstDash val="solid"/>
          </a:ln>
        </p:spPr>
        <p:txBody>
          <a:bodyPr/>
          <a:lstStyle/>
          <a:p>
            <a:endParaRPr lang="en-GB"/>
          </a:p>
        </p:txBody>
      </p:sp>
      <p:sp>
        <p:nvSpPr>
          <p:cNvPr id="5" name="Text 3"/>
          <p:cNvSpPr/>
          <p:nvPr/>
        </p:nvSpPr>
        <p:spPr>
          <a:xfrm>
            <a:off x="1012269" y="2669738"/>
            <a:ext cx="6075878" cy="361950"/>
          </a:xfrm>
          <a:prstGeom prst="rect">
            <a:avLst/>
          </a:prstGeom>
          <a:noFill/>
          <a:ln/>
        </p:spPr>
        <p:txBody>
          <a:bodyPr wrap="none" lIns="0" tIns="0" rIns="0" bIns="0" rtlCol="0" anchor="t"/>
          <a:lstStyle/>
          <a:p>
            <a:pPr marL="0" indent="0" algn="l">
              <a:lnSpc>
                <a:spcPts val="2750"/>
              </a:lnSpc>
              <a:buNone/>
            </a:pPr>
            <a:r>
              <a:rPr lang="en-US" sz="1750" dirty="0">
                <a:solidFill>
                  <a:srgbClr val="000000"/>
                </a:solidFill>
                <a:latin typeface="Calibri" pitchFamily="34" charset="0"/>
                <a:ea typeface="Calibri" pitchFamily="34" charset="-122"/>
                <a:cs typeface="Calibri" pitchFamily="34" charset="-120"/>
              </a:rPr>
              <a:t>❌</a:t>
            </a:r>
            <a:r>
              <a:rPr lang="en-US" sz="1750" b="1" dirty="0">
                <a:solidFill>
                  <a:srgbClr val="443728"/>
                </a:solidFill>
                <a:latin typeface="Calibri" pitchFamily="34" charset="0"/>
                <a:ea typeface="Calibri" pitchFamily="34" charset="-122"/>
                <a:cs typeface="Calibri" pitchFamily="34" charset="-120"/>
              </a:rPr>
              <a:t> Senza DevOps</a:t>
            </a:r>
            <a:endParaRPr lang="en-US" sz="1750" dirty="0"/>
          </a:p>
        </p:txBody>
      </p:sp>
      <p:sp>
        <p:nvSpPr>
          <p:cNvPr id="6" name="Text 4"/>
          <p:cNvSpPr/>
          <p:nvPr/>
        </p:nvSpPr>
        <p:spPr>
          <a:xfrm>
            <a:off x="7542252" y="2669738"/>
            <a:ext cx="6075878" cy="361950"/>
          </a:xfrm>
          <a:prstGeom prst="rect">
            <a:avLst/>
          </a:prstGeom>
          <a:noFill/>
          <a:ln/>
        </p:spPr>
        <p:txBody>
          <a:bodyPr wrap="none" lIns="0" tIns="0" rIns="0" bIns="0" rtlCol="0" anchor="t"/>
          <a:lstStyle/>
          <a:p>
            <a:pPr marL="0" indent="0" algn="l">
              <a:lnSpc>
                <a:spcPts val="2750"/>
              </a:lnSpc>
              <a:buNone/>
            </a:pPr>
            <a:r>
              <a:rPr lang="en-US" sz="1750" dirty="0">
                <a:solidFill>
                  <a:srgbClr val="000000"/>
                </a:solidFill>
                <a:latin typeface="Calibri" pitchFamily="34" charset="0"/>
                <a:ea typeface="Calibri" pitchFamily="34" charset="-122"/>
                <a:cs typeface="Calibri" pitchFamily="34" charset="-120"/>
              </a:rPr>
              <a:t>✅</a:t>
            </a:r>
            <a:r>
              <a:rPr lang="en-US" sz="1750" b="1" dirty="0">
                <a:solidFill>
                  <a:srgbClr val="443728"/>
                </a:solidFill>
                <a:latin typeface="Calibri" pitchFamily="34" charset="0"/>
                <a:ea typeface="Calibri" pitchFamily="34" charset="-122"/>
                <a:cs typeface="Calibri" pitchFamily="34" charset="-120"/>
              </a:rPr>
              <a:t> Con DevOps</a:t>
            </a:r>
            <a:endParaRPr lang="en-US" sz="1750" dirty="0"/>
          </a:p>
        </p:txBody>
      </p:sp>
      <p:sp>
        <p:nvSpPr>
          <p:cNvPr id="7" name="Text 5"/>
          <p:cNvSpPr/>
          <p:nvPr/>
        </p:nvSpPr>
        <p:spPr>
          <a:xfrm>
            <a:off x="1012269" y="3318153"/>
            <a:ext cx="6075878" cy="708660"/>
          </a:xfrm>
          <a:prstGeom prst="rect">
            <a:avLst/>
          </a:prstGeom>
          <a:noFill/>
          <a:ln/>
        </p:spPr>
        <p:txBody>
          <a:bodyPr wrap="squar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Scarichi il .pbix dal workspace sperando sia l'ultima versione</a:t>
            </a:r>
            <a:endParaRPr lang="en-US" sz="1750" dirty="0"/>
          </a:p>
        </p:txBody>
      </p:sp>
      <p:sp>
        <p:nvSpPr>
          <p:cNvPr id="8" name="Text 6"/>
          <p:cNvSpPr/>
          <p:nvPr/>
        </p:nvSpPr>
        <p:spPr>
          <a:xfrm>
            <a:off x="7542252" y="3318153"/>
            <a:ext cx="6075878" cy="708660"/>
          </a:xfrm>
          <a:prstGeom prst="rect">
            <a:avLst/>
          </a:prstGeom>
          <a:noFill/>
          <a:ln/>
        </p:spPr>
        <p:txBody>
          <a:bodyPr wrap="squar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Il repository è la source of truth e il workspace è sincronizzato con il repo ADO</a:t>
            </a:r>
            <a:endParaRPr lang="en-US" sz="1750" dirty="0"/>
          </a:p>
        </p:txBody>
      </p:sp>
      <p:sp>
        <p:nvSpPr>
          <p:cNvPr id="9" name="Text 7"/>
          <p:cNvSpPr/>
          <p:nvPr/>
        </p:nvSpPr>
        <p:spPr>
          <a:xfrm>
            <a:off x="1012269" y="4313277"/>
            <a:ext cx="6075878" cy="354330"/>
          </a:xfrm>
          <a:prstGeom prst="rect">
            <a:avLst/>
          </a:prstGeom>
          <a:noFill/>
          <a:ln/>
        </p:spPr>
        <p:txBody>
          <a:bodyPr wrap="non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Chiedi al collega su Teams se sta lavorando a una modifica</a:t>
            </a:r>
            <a:endParaRPr lang="en-US" sz="1750" dirty="0"/>
          </a:p>
        </p:txBody>
      </p:sp>
      <p:sp>
        <p:nvSpPr>
          <p:cNvPr id="10" name="Text 8"/>
          <p:cNvSpPr/>
          <p:nvPr/>
        </p:nvSpPr>
        <p:spPr>
          <a:xfrm>
            <a:off x="7542252" y="4313277"/>
            <a:ext cx="6075878" cy="354330"/>
          </a:xfrm>
          <a:prstGeom prst="rect">
            <a:avLst/>
          </a:prstGeom>
          <a:noFill/>
          <a:ln/>
        </p:spPr>
        <p:txBody>
          <a:bodyPr wrap="non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Branch attivi visibili a tutti</a:t>
            </a:r>
            <a:endParaRPr lang="en-US" sz="1750" dirty="0"/>
          </a:p>
        </p:txBody>
      </p:sp>
      <p:sp>
        <p:nvSpPr>
          <p:cNvPr id="11" name="Text 9"/>
          <p:cNvSpPr/>
          <p:nvPr/>
        </p:nvSpPr>
        <p:spPr>
          <a:xfrm>
            <a:off x="1012269" y="4954072"/>
            <a:ext cx="6075878" cy="354330"/>
          </a:xfrm>
          <a:prstGeom prst="rect">
            <a:avLst/>
          </a:prstGeom>
          <a:noFill/>
          <a:ln/>
        </p:spPr>
        <p:txBody>
          <a:bodyPr wrap="non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Versionamento manuale su OneDrive o SharePoint</a:t>
            </a:r>
            <a:endParaRPr lang="en-US" sz="1750" dirty="0"/>
          </a:p>
        </p:txBody>
      </p:sp>
      <p:sp>
        <p:nvSpPr>
          <p:cNvPr id="12" name="Text 10"/>
          <p:cNvSpPr/>
          <p:nvPr/>
        </p:nvSpPr>
        <p:spPr>
          <a:xfrm>
            <a:off x="7542252" y="4954072"/>
            <a:ext cx="6075878" cy="708660"/>
          </a:xfrm>
          <a:prstGeom prst="rect">
            <a:avLst/>
          </a:prstGeom>
          <a:noFill/>
          <a:ln/>
        </p:spPr>
        <p:txBody>
          <a:bodyPr wrap="squar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Storia completa dei commit con tracciamento delle modifiche in ADO</a:t>
            </a:r>
            <a:endParaRPr lang="en-US" sz="1750" dirty="0"/>
          </a:p>
        </p:txBody>
      </p:sp>
      <p:sp>
        <p:nvSpPr>
          <p:cNvPr id="13" name="Text 11"/>
          <p:cNvSpPr/>
          <p:nvPr/>
        </p:nvSpPr>
        <p:spPr>
          <a:xfrm>
            <a:off x="1012269" y="5949196"/>
            <a:ext cx="6075878" cy="708660"/>
          </a:xfrm>
          <a:prstGeom prst="rect">
            <a:avLst/>
          </a:prstGeom>
          <a:noFill/>
          <a:ln/>
        </p:spPr>
        <p:txBody>
          <a:bodyPr wrap="squar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Pubblichi in produzione manualmente sperando di non </a:t>
            </a:r>
            <a:r>
              <a:rPr lang="en-US" sz="1750" dirty="0" err="1">
                <a:solidFill>
                  <a:srgbClr val="443728"/>
                </a:solidFill>
                <a:latin typeface="Calibri" pitchFamily="34" charset="0"/>
                <a:ea typeface="Calibri" pitchFamily="34" charset="-122"/>
                <a:cs typeface="Calibri" pitchFamily="34" charset="-120"/>
              </a:rPr>
              <a:t>rompere</a:t>
            </a:r>
            <a:r>
              <a:rPr lang="en-US" sz="1750" dirty="0">
                <a:solidFill>
                  <a:srgbClr val="443728"/>
                </a:solidFill>
                <a:latin typeface="Calibri" pitchFamily="34" charset="0"/>
                <a:ea typeface="Calibri" pitchFamily="34" charset="-122"/>
                <a:cs typeface="Calibri" pitchFamily="34" charset="-120"/>
              </a:rPr>
              <a:t> </a:t>
            </a:r>
            <a:r>
              <a:rPr lang="en-US" sz="1750" dirty="0" err="1">
                <a:solidFill>
                  <a:srgbClr val="443728"/>
                </a:solidFill>
                <a:latin typeface="Calibri" pitchFamily="34" charset="0"/>
                <a:ea typeface="Calibri" pitchFamily="34" charset="-122"/>
                <a:cs typeface="Calibri" pitchFamily="34" charset="-120"/>
              </a:rPr>
              <a:t>nulla</a:t>
            </a:r>
            <a:r>
              <a:rPr lang="en-US" sz="1750" dirty="0">
                <a:solidFill>
                  <a:srgbClr val="443728"/>
                </a:solidFill>
                <a:latin typeface="Calibri" pitchFamily="34" charset="0"/>
                <a:ea typeface="Calibri" pitchFamily="34" charset="-122"/>
                <a:cs typeface="Calibri" pitchFamily="34" charset="-120"/>
              </a:rPr>
              <a:t>, senza test</a:t>
            </a:r>
            <a:endParaRPr lang="en-US" sz="1750" dirty="0"/>
          </a:p>
        </p:txBody>
      </p:sp>
      <p:sp>
        <p:nvSpPr>
          <p:cNvPr id="14" name="Text 12"/>
          <p:cNvSpPr/>
          <p:nvPr/>
        </p:nvSpPr>
        <p:spPr>
          <a:xfrm>
            <a:off x="7542252" y="5949196"/>
            <a:ext cx="6075878" cy="708660"/>
          </a:xfrm>
          <a:prstGeom prst="rect">
            <a:avLst/>
          </a:prstGeom>
          <a:noFill/>
          <a:ln/>
        </p:spPr>
        <p:txBody>
          <a:bodyPr wrap="square" lIns="0" tIns="0" rIns="0" bIns="0" rtlCol="0" anchor="t"/>
          <a:lstStyle/>
          <a:p>
            <a:pPr marL="0" indent="0" algn="l">
              <a:lnSpc>
                <a:spcPts val="2750"/>
              </a:lnSpc>
              <a:buNone/>
            </a:pPr>
            <a:r>
              <a:rPr lang="en-US" sz="1750" dirty="0">
                <a:solidFill>
                  <a:srgbClr val="443728"/>
                </a:solidFill>
                <a:latin typeface="Calibri" pitchFamily="34" charset="0"/>
                <a:ea typeface="Calibri" pitchFamily="34" charset="-122"/>
                <a:cs typeface="Calibri" pitchFamily="34" charset="-120"/>
              </a:rPr>
              <a:t>Promozione controllata attraverso ambienti separati (Dev → Test → Prod), con </a:t>
            </a:r>
            <a:r>
              <a:rPr lang="en-US" sz="1750" dirty="0" err="1">
                <a:solidFill>
                  <a:srgbClr val="443728"/>
                </a:solidFill>
                <a:latin typeface="Calibri" pitchFamily="34" charset="0"/>
                <a:ea typeface="Calibri" pitchFamily="34" charset="-122"/>
                <a:cs typeface="Calibri" pitchFamily="34" charset="-120"/>
              </a:rPr>
              <a:t>i</a:t>
            </a:r>
            <a:r>
              <a:rPr lang="en-US" sz="1750" dirty="0">
                <a:solidFill>
                  <a:srgbClr val="443728"/>
                </a:solidFill>
                <a:latin typeface="Calibri" pitchFamily="34" charset="0"/>
                <a:ea typeface="Calibri" pitchFamily="34" charset="-122"/>
                <a:cs typeface="Calibri" pitchFamily="34" charset="-120"/>
              </a:rPr>
              <a:t> test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59619"/>
            <a:ext cx="7341989"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Cambria" pitchFamily="34" charset="0"/>
                <a:ea typeface="Cambria" pitchFamily="34" charset="-122"/>
                <a:cs typeface="Cambria" pitchFamily="34" charset="-120"/>
              </a:rPr>
              <a:t>Il Formato .pbip: TMDL e PBIR</a:t>
            </a:r>
            <a:endParaRPr lang="en-US" sz="4450" dirty="0"/>
          </a:p>
        </p:txBody>
      </p:sp>
      <p:sp>
        <p:nvSpPr>
          <p:cNvPr id="3" name="Text 1"/>
          <p:cNvSpPr/>
          <p:nvPr/>
        </p:nvSpPr>
        <p:spPr>
          <a:xfrm>
            <a:off x="793790" y="192202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Il formato .pbip è il prerequisito che rende possibile tutto il resto.</a:t>
            </a:r>
            <a:endParaRPr lang="en-US" sz="1750" dirty="0"/>
          </a:p>
        </p:txBody>
      </p:sp>
      <p:sp>
        <p:nvSpPr>
          <p:cNvPr id="4" name="Shape 2"/>
          <p:cNvSpPr/>
          <p:nvPr/>
        </p:nvSpPr>
        <p:spPr>
          <a:xfrm>
            <a:off x="630436" y="2540079"/>
            <a:ext cx="5891570" cy="3348038"/>
          </a:xfrm>
          <a:prstGeom prst="roundRect">
            <a:avLst>
              <a:gd name="adj" fmla="val 4878"/>
            </a:avLst>
          </a:prstGeom>
          <a:solidFill>
            <a:srgbClr val="835E54"/>
          </a:solidFill>
          <a:ln/>
        </p:spPr>
        <p:txBody>
          <a:bodyPr/>
          <a:lstStyle/>
          <a:p>
            <a:endParaRPr lang="en-GB"/>
          </a:p>
        </p:txBody>
      </p:sp>
      <p:sp>
        <p:nvSpPr>
          <p:cNvPr id="5" name="Text 3"/>
          <p:cNvSpPr/>
          <p:nvPr/>
        </p:nvSpPr>
        <p:spPr>
          <a:xfrm>
            <a:off x="857250" y="276689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Cambria" pitchFamily="34" charset="0"/>
                <a:ea typeface="Cambria" pitchFamily="34" charset="-122"/>
                <a:cs typeface="Cambria" pitchFamily="34" charset="-120"/>
              </a:rPr>
              <a:t>Il problema con il .pbix</a:t>
            </a:r>
            <a:endParaRPr lang="en-US" sz="2200" dirty="0"/>
          </a:p>
        </p:txBody>
      </p:sp>
      <p:sp>
        <p:nvSpPr>
          <p:cNvPr id="6" name="Text 4"/>
          <p:cNvSpPr/>
          <p:nvPr/>
        </p:nvSpPr>
        <p:spPr>
          <a:xfrm>
            <a:off x="857250" y="3348038"/>
            <a:ext cx="5437942"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Calibri" pitchFamily="34" charset="0"/>
                <a:ea typeface="Calibri" pitchFamily="34" charset="-122"/>
                <a:cs typeface="Calibri" pitchFamily="34" charset="-120"/>
              </a:rPr>
              <a:t>Il formato .pbix è un file binario opaco: impossibile tracciare le modifiche, confrontare versioni o collaborare in modo strutturato.</a:t>
            </a:r>
            <a:endParaRPr lang="en-US" sz="1750" dirty="0"/>
          </a:p>
        </p:txBody>
      </p:sp>
      <p:sp>
        <p:nvSpPr>
          <p:cNvPr id="7" name="Text 5"/>
          <p:cNvSpPr/>
          <p:nvPr/>
        </p:nvSpPr>
        <p:spPr>
          <a:xfrm>
            <a:off x="6919674" y="2766893"/>
            <a:ext cx="2992874"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ambria" pitchFamily="34" charset="0"/>
                <a:ea typeface="Cambria" pitchFamily="34" charset="-122"/>
                <a:cs typeface="Cambria" pitchFamily="34" charset="-120"/>
              </a:rPr>
              <a:t>Power BI Projects (.pbip)</a:t>
            </a:r>
            <a:endParaRPr lang="en-US" sz="2200" dirty="0"/>
          </a:p>
        </p:txBody>
      </p:sp>
      <p:sp>
        <p:nvSpPr>
          <p:cNvPr id="8" name="Text 6"/>
          <p:cNvSpPr/>
          <p:nvPr/>
        </p:nvSpPr>
        <p:spPr>
          <a:xfrm>
            <a:off x="6919674" y="3348038"/>
            <a:ext cx="6924437"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Il formato .pbip decompone il file in una struttura di cartelle leggibile e versionabile:</a:t>
            </a:r>
            <a:endParaRPr lang="en-US" sz="1750" dirty="0"/>
          </a:p>
        </p:txBody>
      </p:sp>
      <p:sp>
        <p:nvSpPr>
          <p:cNvPr id="9" name="Text 7"/>
          <p:cNvSpPr/>
          <p:nvPr/>
        </p:nvSpPr>
        <p:spPr>
          <a:xfrm>
            <a:off x="6919674" y="4277916"/>
            <a:ext cx="6924437" cy="1530906"/>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43728"/>
                </a:solidFill>
                <a:latin typeface="Calibri" pitchFamily="34" charset="0"/>
                <a:ea typeface="Calibri" pitchFamily="34" charset="-122"/>
                <a:cs typeface="Calibri" pitchFamily="34" charset="-120"/>
              </a:rPr>
              <a:t>TMDL</a:t>
            </a:r>
            <a:r>
              <a:rPr lang="en-US" sz="1750" dirty="0">
                <a:solidFill>
                  <a:srgbClr val="443728"/>
                </a:solidFill>
                <a:latin typeface="Calibri" pitchFamily="34" charset="0"/>
                <a:ea typeface="Calibri" pitchFamily="34" charset="-122"/>
                <a:cs typeface="Calibri" pitchFamily="34" charset="-120"/>
              </a:rPr>
              <a:t> (Tabular Model Definition Language): il semantic model come file di testo: tabelle, misure, relazioni, partizioni</a:t>
            </a:r>
            <a:endParaRPr lang="en-US" sz="1750" dirty="0"/>
          </a:p>
          <a:p>
            <a:pPr marL="342900" indent="-342900" algn="l">
              <a:lnSpc>
                <a:spcPts val="2850"/>
              </a:lnSpc>
              <a:buSzPct val="100000"/>
              <a:buChar char="•"/>
            </a:pPr>
            <a:r>
              <a:rPr lang="en-US" sz="1750" b="1" dirty="0">
                <a:solidFill>
                  <a:srgbClr val="443728"/>
                </a:solidFill>
                <a:latin typeface="Calibri" pitchFamily="34" charset="0"/>
                <a:ea typeface="Calibri" pitchFamily="34" charset="-122"/>
                <a:cs typeface="Calibri" pitchFamily="34" charset="-120"/>
              </a:rPr>
              <a:t>PBIR</a:t>
            </a:r>
            <a:r>
              <a:rPr lang="en-US" sz="1750" dirty="0">
                <a:solidFill>
                  <a:srgbClr val="443728"/>
                </a:solidFill>
                <a:latin typeface="Calibri" pitchFamily="34" charset="0"/>
                <a:ea typeface="Calibri" pitchFamily="34" charset="-122"/>
                <a:cs typeface="Calibri" pitchFamily="34" charset="-120"/>
              </a:rPr>
              <a:t> (Power BI Report): il layer visivo come struttura di file JSON: pagine, visual, filtri</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2228" y="561618"/>
            <a:ext cx="7385209" cy="609124"/>
          </a:xfrm>
          <a:prstGeom prst="rect">
            <a:avLst/>
          </a:prstGeom>
          <a:noFill/>
          <a:ln/>
        </p:spPr>
        <p:txBody>
          <a:bodyPr wrap="none" lIns="0" tIns="0" rIns="0" bIns="0" rtlCol="0" anchor="t"/>
          <a:lstStyle/>
          <a:p>
            <a:pPr marL="0" indent="0" algn="l">
              <a:lnSpc>
                <a:spcPts val="4750"/>
              </a:lnSpc>
              <a:buNone/>
            </a:pPr>
            <a:r>
              <a:rPr lang="en-US" sz="3800" b="1" dirty="0">
                <a:solidFill>
                  <a:srgbClr val="443728"/>
                </a:solidFill>
                <a:latin typeface="Cambria" pitchFamily="34" charset="0"/>
                <a:ea typeface="Cambria" pitchFamily="34" charset="-122"/>
                <a:cs typeface="Cambria" pitchFamily="34" charset="-120"/>
              </a:rPr>
              <a:t>Panoramica: cosa ci fornisce Fabric?</a:t>
            </a:r>
            <a:endParaRPr lang="en-US" sz="3800" dirty="0"/>
          </a:p>
        </p:txBody>
      </p:sp>
      <p:sp>
        <p:nvSpPr>
          <p:cNvPr id="3" name="Text 1"/>
          <p:cNvSpPr/>
          <p:nvPr/>
        </p:nvSpPr>
        <p:spPr>
          <a:xfrm>
            <a:off x="682228" y="1505664"/>
            <a:ext cx="13265944" cy="289917"/>
          </a:xfrm>
          <a:prstGeom prst="rect">
            <a:avLst/>
          </a:prstGeom>
          <a:noFill/>
          <a:ln/>
        </p:spPr>
        <p:txBody>
          <a:bodyPr wrap="none" lIns="0" tIns="0" rIns="0" bIns="0" rtlCol="0" anchor="t"/>
          <a:lstStyle/>
          <a:p>
            <a:pPr marL="0" indent="0" algn="l">
              <a:lnSpc>
                <a:spcPts val="2250"/>
              </a:lnSpc>
              <a:buNone/>
            </a:pPr>
            <a:r>
              <a:rPr lang="en-US" sz="1500" dirty="0">
                <a:solidFill>
                  <a:srgbClr val="443728"/>
                </a:solidFill>
                <a:latin typeface="Calibri" pitchFamily="34" charset="0"/>
                <a:ea typeface="Calibri" pitchFamily="34" charset="-122"/>
                <a:cs typeface="Calibri" pitchFamily="34" charset="-120"/>
              </a:rPr>
              <a:t>Gli strumenti nativi di Microsoft Fabric per uno sviluppo Power BI strutturato.</a:t>
            </a:r>
            <a:endParaRPr lang="en-US" sz="1500" dirty="0"/>
          </a:p>
        </p:txBody>
      </p:sp>
      <p:sp>
        <p:nvSpPr>
          <p:cNvPr id="4" name="Shape 2"/>
          <p:cNvSpPr/>
          <p:nvPr/>
        </p:nvSpPr>
        <p:spPr>
          <a:xfrm>
            <a:off x="682228" y="1983938"/>
            <a:ext cx="6549271" cy="2142053"/>
          </a:xfrm>
          <a:prstGeom prst="roundRect">
            <a:avLst>
              <a:gd name="adj" fmla="val 3822"/>
            </a:avLst>
          </a:prstGeom>
          <a:solidFill>
            <a:srgbClr val="EBE2E0"/>
          </a:solidFill>
          <a:ln w="7620">
            <a:solidFill>
              <a:srgbClr val="D1C8C6"/>
            </a:solidFill>
            <a:prstDash val="solid"/>
          </a:ln>
        </p:spPr>
        <p:txBody>
          <a:bodyPr/>
          <a:lstStyle/>
          <a:p>
            <a:endParaRPr lang="en-GB"/>
          </a:p>
        </p:txBody>
      </p:sp>
      <p:sp>
        <p:nvSpPr>
          <p:cNvPr id="5" name="Shape 3"/>
          <p:cNvSpPr/>
          <p:nvPr/>
        </p:nvSpPr>
        <p:spPr>
          <a:xfrm>
            <a:off x="884753" y="2186464"/>
            <a:ext cx="584716" cy="584716"/>
          </a:xfrm>
          <a:prstGeom prst="roundRect">
            <a:avLst>
              <a:gd name="adj" fmla="val 15636797"/>
            </a:avLst>
          </a:prstGeom>
          <a:solidFill>
            <a:srgbClr val="835E54"/>
          </a:solidFill>
          <a:ln/>
        </p:spPr>
        <p:txBody>
          <a:bodyPr/>
          <a:lstStyle/>
          <a:p>
            <a:endParaRPr lang="en-GB"/>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5488" y="2347198"/>
            <a:ext cx="263128" cy="263128"/>
          </a:xfrm>
          <a:prstGeom prst="rect">
            <a:avLst/>
          </a:prstGeom>
        </p:spPr>
      </p:pic>
      <p:sp>
        <p:nvSpPr>
          <p:cNvPr id="7" name="Text 4"/>
          <p:cNvSpPr/>
          <p:nvPr/>
        </p:nvSpPr>
        <p:spPr>
          <a:xfrm>
            <a:off x="884753" y="2938582"/>
            <a:ext cx="2436614" cy="304562"/>
          </a:xfrm>
          <a:prstGeom prst="rect">
            <a:avLst/>
          </a:prstGeom>
          <a:noFill/>
          <a:ln/>
        </p:spPr>
        <p:txBody>
          <a:bodyPr wrap="none" lIns="0" tIns="0" rIns="0" bIns="0" rtlCol="0" anchor="t"/>
          <a:lstStyle/>
          <a:p>
            <a:pPr marL="0" indent="0" algn="l">
              <a:lnSpc>
                <a:spcPts val="2350"/>
              </a:lnSpc>
              <a:buNone/>
            </a:pPr>
            <a:r>
              <a:rPr lang="en-US" sz="1900" b="1" dirty="0">
                <a:solidFill>
                  <a:srgbClr val="443728"/>
                </a:solidFill>
                <a:latin typeface="Cambria" pitchFamily="34" charset="0"/>
                <a:ea typeface="Cambria" pitchFamily="34" charset="-122"/>
                <a:cs typeface="Cambria" pitchFamily="34" charset="-120"/>
              </a:rPr>
              <a:t>Git Integration</a:t>
            </a:r>
            <a:endParaRPr lang="en-US" sz="1900" dirty="0"/>
          </a:p>
        </p:txBody>
      </p:sp>
      <p:sp>
        <p:nvSpPr>
          <p:cNvPr id="8" name="Text 5"/>
          <p:cNvSpPr/>
          <p:nvPr/>
        </p:nvSpPr>
        <p:spPr>
          <a:xfrm>
            <a:off x="884753" y="3343632"/>
            <a:ext cx="6144220" cy="579834"/>
          </a:xfrm>
          <a:prstGeom prst="rect">
            <a:avLst/>
          </a:prstGeom>
          <a:noFill/>
          <a:ln/>
        </p:spPr>
        <p:txBody>
          <a:bodyPr wrap="square" lIns="0" tIns="0" rIns="0" bIns="0" rtlCol="0" anchor="t"/>
          <a:lstStyle/>
          <a:p>
            <a:pPr marL="0" indent="0" algn="l">
              <a:lnSpc>
                <a:spcPts val="2250"/>
              </a:lnSpc>
              <a:buNone/>
            </a:pPr>
            <a:r>
              <a:rPr lang="en-US" sz="1500" dirty="0">
                <a:solidFill>
                  <a:srgbClr val="443728"/>
                </a:solidFill>
                <a:latin typeface="Calibri" pitchFamily="34" charset="0"/>
                <a:ea typeface="Calibri" pitchFamily="34" charset="-122"/>
                <a:cs typeface="Calibri" pitchFamily="34" charset="-120"/>
              </a:rPr>
              <a:t>Connette un workspace Fabric a un branch Azure DevOps, sincronizzando gli item.</a:t>
            </a:r>
            <a:endParaRPr lang="en-US" sz="1500" dirty="0"/>
          </a:p>
        </p:txBody>
      </p:sp>
      <p:sp>
        <p:nvSpPr>
          <p:cNvPr id="9" name="Shape 6"/>
          <p:cNvSpPr/>
          <p:nvPr/>
        </p:nvSpPr>
        <p:spPr>
          <a:xfrm>
            <a:off x="7398901" y="1983938"/>
            <a:ext cx="6549271" cy="2142053"/>
          </a:xfrm>
          <a:prstGeom prst="roundRect">
            <a:avLst>
              <a:gd name="adj" fmla="val 3822"/>
            </a:avLst>
          </a:prstGeom>
          <a:solidFill>
            <a:srgbClr val="EBE2E0"/>
          </a:solidFill>
          <a:ln w="7620">
            <a:solidFill>
              <a:srgbClr val="D1C8C6"/>
            </a:solidFill>
            <a:prstDash val="solid"/>
          </a:ln>
        </p:spPr>
        <p:txBody>
          <a:bodyPr/>
          <a:lstStyle/>
          <a:p>
            <a:endParaRPr lang="en-GB"/>
          </a:p>
        </p:txBody>
      </p:sp>
      <p:sp>
        <p:nvSpPr>
          <p:cNvPr id="10" name="Shape 7"/>
          <p:cNvSpPr/>
          <p:nvPr/>
        </p:nvSpPr>
        <p:spPr>
          <a:xfrm>
            <a:off x="7601426" y="2186464"/>
            <a:ext cx="584716" cy="584716"/>
          </a:xfrm>
          <a:prstGeom prst="roundRect">
            <a:avLst>
              <a:gd name="adj" fmla="val 15636797"/>
            </a:avLst>
          </a:prstGeom>
          <a:solidFill>
            <a:srgbClr val="835E54"/>
          </a:solidFill>
          <a:ln/>
        </p:spPr>
        <p:txBody>
          <a:bodyPr/>
          <a:lstStyle/>
          <a:p>
            <a:endParaRPr lang="en-GB"/>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62161" y="2347198"/>
            <a:ext cx="263128" cy="263128"/>
          </a:xfrm>
          <a:prstGeom prst="rect">
            <a:avLst/>
          </a:prstGeom>
        </p:spPr>
      </p:pic>
      <p:sp>
        <p:nvSpPr>
          <p:cNvPr id="12" name="Text 8"/>
          <p:cNvSpPr/>
          <p:nvPr/>
        </p:nvSpPr>
        <p:spPr>
          <a:xfrm>
            <a:off x="7601426" y="2938582"/>
            <a:ext cx="2436614" cy="304562"/>
          </a:xfrm>
          <a:prstGeom prst="rect">
            <a:avLst/>
          </a:prstGeom>
          <a:noFill/>
          <a:ln/>
        </p:spPr>
        <p:txBody>
          <a:bodyPr wrap="none" lIns="0" tIns="0" rIns="0" bIns="0" rtlCol="0" anchor="t"/>
          <a:lstStyle/>
          <a:p>
            <a:pPr marL="0" indent="0" algn="l">
              <a:lnSpc>
                <a:spcPts val="2350"/>
              </a:lnSpc>
              <a:buNone/>
            </a:pPr>
            <a:r>
              <a:rPr lang="en-US" sz="1900" b="1" dirty="0">
                <a:solidFill>
                  <a:srgbClr val="443728"/>
                </a:solidFill>
                <a:latin typeface="Cambria" pitchFamily="34" charset="0"/>
                <a:ea typeface="Cambria" pitchFamily="34" charset="-122"/>
                <a:cs typeface="Cambria" pitchFamily="34" charset="-120"/>
              </a:rPr>
              <a:t>Workspace Branchout</a:t>
            </a:r>
            <a:endParaRPr lang="en-US" sz="1900" dirty="0"/>
          </a:p>
        </p:txBody>
      </p:sp>
      <p:sp>
        <p:nvSpPr>
          <p:cNvPr id="13" name="Text 9"/>
          <p:cNvSpPr/>
          <p:nvPr/>
        </p:nvSpPr>
        <p:spPr>
          <a:xfrm>
            <a:off x="7601426" y="3343632"/>
            <a:ext cx="6144220" cy="579834"/>
          </a:xfrm>
          <a:prstGeom prst="rect">
            <a:avLst/>
          </a:prstGeom>
          <a:noFill/>
          <a:ln/>
        </p:spPr>
        <p:txBody>
          <a:bodyPr wrap="square" lIns="0" tIns="0" rIns="0" bIns="0" rtlCol="0" anchor="t"/>
          <a:lstStyle/>
          <a:p>
            <a:pPr marL="0" indent="0" algn="l">
              <a:lnSpc>
                <a:spcPts val="2250"/>
              </a:lnSpc>
              <a:buNone/>
            </a:pPr>
            <a:r>
              <a:rPr lang="en-US" sz="1500" dirty="0">
                <a:solidFill>
                  <a:srgbClr val="443728"/>
                </a:solidFill>
                <a:latin typeface="Calibri" pitchFamily="34" charset="0"/>
                <a:ea typeface="Calibri" pitchFamily="34" charset="-122"/>
                <a:cs typeface="Calibri" pitchFamily="34" charset="-120"/>
              </a:rPr>
              <a:t>Crea un workspace collegato a un feature branch per sviluppare in isolamento completo.</a:t>
            </a:r>
            <a:endParaRPr lang="en-US" sz="1500" dirty="0"/>
          </a:p>
        </p:txBody>
      </p:sp>
      <p:sp>
        <p:nvSpPr>
          <p:cNvPr id="14" name="Shape 10"/>
          <p:cNvSpPr/>
          <p:nvPr/>
        </p:nvSpPr>
        <p:spPr>
          <a:xfrm>
            <a:off x="682228" y="4293394"/>
            <a:ext cx="6549271" cy="2142053"/>
          </a:xfrm>
          <a:prstGeom prst="roundRect">
            <a:avLst>
              <a:gd name="adj" fmla="val 3822"/>
            </a:avLst>
          </a:prstGeom>
          <a:solidFill>
            <a:srgbClr val="EBE2E0"/>
          </a:solidFill>
          <a:ln w="7620">
            <a:solidFill>
              <a:srgbClr val="D1C8C6"/>
            </a:solidFill>
            <a:prstDash val="solid"/>
          </a:ln>
        </p:spPr>
        <p:txBody>
          <a:bodyPr/>
          <a:lstStyle/>
          <a:p>
            <a:endParaRPr lang="en-GB"/>
          </a:p>
        </p:txBody>
      </p:sp>
      <p:sp>
        <p:nvSpPr>
          <p:cNvPr id="15" name="Shape 11"/>
          <p:cNvSpPr/>
          <p:nvPr/>
        </p:nvSpPr>
        <p:spPr>
          <a:xfrm>
            <a:off x="884753" y="4495919"/>
            <a:ext cx="584716" cy="584716"/>
          </a:xfrm>
          <a:prstGeom prst="roundRect">
            <a:avLst>
              <a:gd name="adj" fmla="val 15636797"/>
            </a:avLst>
          </a:prstGeom>
          <a:solidFill>
            <a:srgbClr val="835E54"/>
          </a:solidFill>
          <a:ln/>
        </p:spPr>
        <p:txBody>
          <a:bodyPr/>
          <a:lstStyle/>
          <a:p>
            <a:endParaRPr lang="en-GB"/>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5488" y="4656653"/>
            <a:ext cx="263128" cy="263128"/>
          </a:xfrm>
          <a:prstGeom prst="rect">
            <a:avLst/>
          </a:prstGeom>
        </p:spPr>
      </p:pic>
      <p:sp>
        <p:nvSpPr>
          <p:cNvPr id="17" name="Text 12"/>
          <p:cNvSpPr/>
          <p:nvPr/>
        </p:nvSpPr>
        <p:spPr>
          <a:xfrm>
            <a:off x="884753" y="5248037"/>
            <a:ext cx="2436614" cy="304562"/>
          </a:xfrm>
          <a:prstGeom prst="rect">
            <a:avLst/>
          </a:prstGeom>
          <a:noFill/>
          <a:ln/>
        </p:spPr>
        <p:txBody>
          <a:bodyPr wrap="none" lIns="0" tIns="0" rIns="0" bIns="0" rtlCol="0" anchor="t"/>
          <a:lstStyle/>
          <a:p>
            <a:pPr marL="0" indent="0" algn="l">
              <a:lnSpc>
                <a:spcPts val="2350"/>
              </a:lnSpc>
              <a:buNone/>
            </a:pPr>
            <a:r>
              <a:rPr lang="en-US" sz="1900" b="1" dirty="0">
                <a:solidFill>
                  <a:srgbClr val="443728"/>
                </a:solidFill>
                <a:latin typeface="Cambria" pitchFamily="34" charset="0"/>
                <a:ea typeface="Cambria" pitchFamily="34" charset="-122"/>
                <a:cs typeface="Cambria" pitchFamily="34" charset="-120"/>
              </a:rPr>
              <a:t>Deployment Pipelines</a:t>
            </a:r>
            <a:endParaRPr lang="en-US" sz="1900" dirty="0"/>
          </a:p>
        </p:txBody>
      </p:sp>
      <p:sp>
        <p:nvSpPr>
          <p:cNvPr id="18" name="Text 13"/>
          <p:cNvSpPr/>
          <p:nvPr/>
        </p:nvSpPr>
        <p:spPr>
          <a:xfrm>
            <a:off x="884753" y="5653088"/>
            <a:ext cx="6144220" cy="579834"/>
          </a:xfrm>
          <a:prstGeom prst="rect">
            <a:avLst/>
          </a:prstGeom>
          <a:noFill/>
          <a:ln/>
        </p:spPr>
        <p:txBody>
          <a:bodyPr wrap="square" lIns="0" tIns="0" rIns="0" bIns="0" rtlCol="0" anchor="t"/>
          <a:lstStyle/>
          <a:p>
            <a:pPr marL="0" indent="0" algn="l">
              <a:lnSpc>
                <a:spcPts val="2250"/>
              </a:lnSpc>
              <a:buNone/>
            </a:pPr>
            <a:r>
              <a:rPr lang="en-US" sz="1500" dirty="0">
                <a:solidFill>
                  <a:srgbClr val="443728"/>
                </a:solidFill>
                <a:latin typeface="Calibri" pitchFamily="34" charset="0"/>
                <a:ea typeface="Calibri" pitchFamily="34" charset="-122"/>
                <a:cs typeface="Calibri" pitchFamily="34" charset="-120"/>
              </a:rPr>
              <a:t>Promuove gli item da Dev a Test a Prod in modo controllato e tracciabile.</a:t>
            </a:r>
            <a:endParaRPr lang="en-US" sz="1500" dirty="0"/>
          </a:p>
        </p:txBody>
      </p:sp>
      <p:sp>
        <p:nvSpPr>
          <p:cNvPr id="19" name="Shape 14"/>
          <p:cNvSpPr/>
          <p:nvPr/>
        </p:nvSpPr>
        <p:spPr>
          <a:xfrm>
            <a:off x="7398901" y="4293394"/>
            <a:ext cx="6549271" cy="2142053"/>
          </a:xfrm>
          <a:prstGeom prst="roundRect">
            <a:avLst>
              <a:gd name="adj" fmla="val 3822"/>
            </a:avLst>
          </a:prstGeom>
          <a:solidFill>
            <a:srgbClr val="EBE2E0"/>
          </a:solidFill>
          <a:ln w="7620">
            <a:solidFill>
              <a:srgbClr val="D1C8C6"/>
            </a:solidFill>
            <a:prstDash val="solid"/>
          </a:ln>
        </p:spPr>
        <p:txBody>
          <a:bodyPr/>
          <a:lstStyle/>
          <a:p>
            <a:endParaRPr lang="en-GB"/>
          </a:p>
        </p:txBody>
      </p:sp>
      <p:sp>
        <p:nvSpPr>
          <p:cNvPr id="20" name="Shape 15"/>
          <p:cNvSpPr/>
          <p:nvPr/>
        </p:nvSpPr>
        <p:spPr>
          <a:xfrm>
            <a:off x="7601426" y="4495919"/>
            <a:ext cx="584716" cy="584716"/>
          </a:xfrm>
          <a:prstGeom prst="roundRect">
            <a:avLst>
              <a:gd name="adj" fmla="val 15636797"/>
            </a:avLst>
          </a:prstGeom>
          <a:solidFill>
            <a:srgbClr val="835E54"/>
          </a:solidFill>
          <a:ln/>
        </p:spPr>
        <p:txBody>
          <a:bodyPr/>
          <a:lstStyle/>
          <a:p>
            <a:endParaRPr lang="en-GB"/>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62161" y="4656653"/>
            <a:ext cx="263128" cy="263128"/>
          </a:xfrm>
          <a:prstGeom prst="rect">
            <a:avLst/>
          </a:prstGeom>
        </p:spPr>
      </p:pic>
      <p:sp>
        <p:nvSpPr>
          <p:cNvPr id="22" name="Text 16"/>
          <p:cNvSpPr/>
          <p:nvPr/>
        </p:nvSpPr>
        <p:spPr>
          <a:xfrm>
            <a:off x="7601426" y="5248037"/>
            <a:ext cx="2436614" cy="304562"/>
          </a:xfrm>
          <a:prstGeom prst="rect">
            <a:avLst/>
          </a:prstGeom>
          <a:noFill/>
          <a:ln/>
        </p:spPr>
        <p:txBody>
          <a:bodyPr wrap="none" lIns="0" tIns="0" rIns="0" bIns="0" rtlCol="0" anchor="t"/>
          <a:lstStyle/>
          <a:p>
            <a:pPr marL="0" indent="0" algn="l">
              <a:lnSpc>
                <a:spcPts val="2350"/>
              </a:lnSpc>
              <a:buNone/>
            </a:pPr>
            <a:r>
              <a:rPr lang="en-US" sz="1900" b="1" dirty="0">
                <a:solidFill>
                  <a:srgbClr val="443728"/>
                </a:solidFill>
                <a:latin typeface="Cambria" pitchFamily="34" charset="0"/>
                <a:ea typeface="Cambria" pitchFamily="34" charset="-122"/>
                <a:cs typeface="Cambria" pitchFamily="34" charset="-120"/>
              </a:rPr>
              <a:t>Environment Variables</a:t>
            </a:r>
            <a:endParaRPr lang="en-US" sz="1900" dirty="0"/>
          </a:p>
        </p:txBody>
      </p:sp>
      <p:sp>
        <p:nvSpPr>
          <p:cNvPr id="23" name="Text 17"/>
          <p:cNvSpPr/>
          <p:nvPr/>
        </p:nvSpPr>
        <p:spPr>
          <a:xfrm>
            <a:off x="7601426" y="5653088"/>
            <a:ext cx="6144220" cy="579834"/>
          </a:xfrm>
          <a:prstGeom prst="rect">
            <a:avLst/>
          </a:prstGeom>
          <a:noFill/>
          <a:ln/>
        </p:spPr>
        <p:txBody>
          <a:bodyPr wrap="square" lIns="0" tIns="0" rIns="0" bIns="0" rtlCol="0" anchor="t"/>
          <a:lstStyle/>
          <a:p>
            <a:pPr marL="0" indent="0" algn="l">
              <a:lnSpc>
                <a:spcPts val="2250"/>
              </a:lnSpc>
              <a:buNone/>
            </a:pPr>
            <a:r>
              <a:rPr lang="en-US" sz="1500" dirty="0">
                <a:solidFill>
                  <a:srgbClr val="443728"/>
                </a:solidFill>
                <a:latin typeface="Calibri" pitchFamily="34" charset="0"/>
                <a:ea typeface="Calibri" pitchFamily="34" charset="-122"/>
                <a:cs typeface="Calibri" pitchFamily="34" charset="-120"/>
              </a:rPr>
              <a:t>Gestisce connessioni e parametri dinamici per ogni ambiente di destinazione.</a:t>
            </a:r>
            <a:endParaRPr lang="en-US" sz="1500" dirty="0"/>
          </a:p>
        </p:txBody>
      </p:sp>
      <p:pic>
        <p:nvPicPr>
          <p:cNvPr id="25" name="Image 4" descr="preencoded.png"/>
          <p:cNvPicPr>
            <a:picLocks noChangeAspect="1"/>
          </p:cNvPicPr>
          <p:nvPr/>
        </p:nvPicPr>
        <p:blipFill>
          <a:blip r:embed="rId7"/>
          <a:stretch>
            <a:fillRect/>
          </a:stretch>
        </p:blipFill>
        <p:spPr>
          <a:xfrm>
            <a:off x="877133" y="6917769"/>
            <a:ext cx="243602" cy="1949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3084" y="591206"/>
            <a:ext cx="8975884"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Cambria" pitchFamily="34" charset="0"/>
                <a:ea typeface="Cambria" pitchFamily="34" charset="-122"/>
                <a:cs typeface="Cambria" pitchFamily="34" charset="-120"/>
              </a:rPr>
              <a:t>Fabric Workspace → Connessione Git</a:t>
            </a:r>
            <a:endParaRPr lang="en-US" sz="4450" dirty="0"/>
          </a:p>
        </p:txBody>
      </p:sp>
      <p:sp>
        <p:nvSpPr>
          <p:cNvPr id="3" name="Text 1"/>
          <p:cNvSpPr/>
          <p:nvPr/>
        </p:nvSpPr>
        <p:spPr>
          <a:xfrm>
            <a:off x="793790" y="242268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Cambria" pitchFamily="34" charset="0"/>
                <a:ea typeface="Cambria" pitchFamily="34" charset="-122"/>
                <a:cs typeface="Cambria" pitchFamily="34" charset="-120"/>
              </a:rPr>
              <a:t>Setup e </a:t>
            </a:r>
            <a:r>
              <a:rPr lang="en-US" sz="2200" b="1" dirty="0" err="1">
                <a:solidFill>
                  <a:srgbClr val="443728"/>
                </a:solidFill>
                <a:latin typeface="Cambria" pitchFamily="34" charset="0"/>
                <a:ea typeface="Cambria" pitchFamily="34" charset="-122"/>
                <a:cs typeface="Cambria" pitchFamily="34" charset="-120"/>
              </a:rPr>
              <a:t>Flusso</a:t>
            </a:r>
            <a:r>
              <a:rPr lang="en-US" sz="2200" b="1" dirty="0">
                <a:solidFill>
                  <a:srgbClr val="443728"/>
                </a:solidFill>
                <a:latin typeface="Cambria" pitchFamily="34" charset="0"/>
                <a:ea typeface="Cambria" pitchFamily="34" charset="-122"/>
                <a:cs typeface="Cambria" pitchFamily="34" charset="-120"/>
              </a:rPr>
              <a:t> da UI</a:t>
            </a:r>
            <a:endParaRPr lang="en-US" sz="2200" dirty="0"/>
          </a:p>
        </p:txBody>
      </p:sp>
      <p:sp>
        <p:nvSpPr>
          <p:cNvPr id="4" name="Text 2"/>
          <p:cNvSpPr/>
          <p:nvPr/>
        </p:nvSpPr>
        <p:spPr>
          <a:xfrm>
            <a:off x="793790" y="3003828"/>
            <a:ext cx="6924437"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Il workspace Fabric viene connesso al branch </a:t>
            </a:r>
            <a:r>
              <a:rPr lang="en-US" sz="1750" b="1" dirty="0">
                <a:solidFill>
                  <a:srgbClr val="443728"/>
                </a:solidFill>
                <a:latin typeface="Calibri" pitchFamily="34" charset="0"/>
                <a:ea typeface="Calibri" pitchFamily="34" charset="-122"/>
                <a:cs typeface="Calibri" pitchFamily="34" charset="-120"/>
              </a:rPr>
              <a:t>main</a:t>
            </a:r>
            <a:r>
              <a:rPr lang="en-US" sz="1750" dirty="0">
                <a:solidFill>
                  <a:srgbClr val="443728"/>
                </a:solidFill>
                <a:latin typeface="Calibri" pitchFamily="34" charset="0"/>
                <a:ea typeface="Calibri" pitchFamily="34" charset="-122"/>
                <a:cs typeface="Calibri" pitchFamily="34" charset="-120"/>
              </a:rPr>
              <a:t> del repository Azure DevOps. Main rappresenta lo stato corrente di produzione ed è la source of truth.</a:t>
            </a:r>
            <a:endParaRPr lang="en-US" sz="1750" dirty="0"/>
          </a:p>
        </p:txBody>
      </p:sp>
      <p:sp>
        <p:nvSpPr>
          <p:cNvPr id="5" name="Text 3"/>
          <p:cNvSpPr/>
          <p:nvPr/>
        </p:nvSpPr>
        <p:spPr>
          <a:xfrm>
            <a:off x="793790" y="4296608"/>
            <a:ext cx="6924437" cy="362903"/>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Dalla UI di Fabric è possibile:</a:t>
            </a:r>
            <a:endParaRPr lang="en-US" sz="1750" dirty="0"/>
          </a:p>
        </p:txBody>
      </p:sp>
      <p:sp>
        <p:nvSpPr>
          <p:cNvPr id="6" name="Text 4"/>
          <p:cNvSpPr/>
          <p:nvPr/>
        </p:nvSpPr>
        <p:spPr>
          <a:xfrm>
            <a:off x="793790" y="4863584"/>
            <a:ext cx="6924437"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43728"/>
                </a:solidFill>
                <a:latin typeface="Calibri" pitchFamily="34" charset="0"/>
                <a:ea typeface="Calibri" pitchFamily="34" charset="-122"/>
                <a:cs typeface="Calibri" pitchFamily="34" charset="-120"/>
              </a:rPr>
              <a:t>Vedere le differenze tra workspace e repository (modifiche non committate)</a:t>
            </a:r>
            <a:endParaRPr lang="en-US" sz="1750" dirty="0"/>
          </a:p>
          <a:p>
            <a:pPr marL="342900" indent="-342900" algn="l">
              <a:lnSpc>
                <a:spcPts val="2850"/>
              </a:lnSpc>
              <a:buSzPct val="100000"/>
              <a:buChar char="•"/>
            </a:pPr>
            <a:r>
              <a:rPr lang="en-US" sz="1750" dirty="0">
                <a:solidFill>
                  <a:srgbClr val="443728"/>
                </a:solidFill>
                <a:latin typeface="Calibri" pitchFamily="34" charset="0"/>
                <a:ea typeface="Calibri" pitchFamily="34" charset="-122"/>
                <a:cs typeface="Calibri" pitchFamily="34" charset="-120"/>
              </a:rPr>
              <a:t>Fare commit delle modifiche</a:t>
            </a:r>
            <a:endParaRPr lang="en-US" sz="1750" dirty="0"/>
          </a:p>
          <a:p>
            <a:pPr marL="342900" indent="-342900" algn="l">
              <a:lnSpc>
                <a:spcPts val="2850"/>
              </a:lnSpc>
              <a:buSzPct val="100000"/>
              <a:buChar char="•"/>
            </a:pPr>
            <a:r>
              <a:rPr lang="en-US" sz="1750" dirty="0">
                <a:solidFill>
                  <a:srgbClr val="443728"/>
                </a:solidFill>
                <a:latin typeface="Calibri" pitchFamily="34" charset="0"/>
                <a:ea typeface="Calibri" pitchFamily="34" charset="-122"/>
                <a:cs typeface="Calibri" pitchFamily="34" charset="-120"/>
              </a:rPr>
              <a:t>Aggiornare il workspace quando il branch remoto avanza</a:t>
            </a:r>
            <a:endParaRPr lang="en-US" sz="1750" dirty="0"/>
          </a:p>
        </p:txBody>
      </p:sp>
      <p:sp>
        <p:nvSpPr>
          <p:cNvPr id="7" name="Shape 5"/>
          <p:cNvSpPr/>
          <p:nvPr/>
        </p:nvSpPr>
        <p:spPr>
          <a:xfrm>
            <a:off x="8115895" y="2195870"/>
            <a:ext cx="5891570" cy="4886801"/>
          </a:xfrm>
          <a:prstGeom prst="roundRect">
            <a:avLst>
              <a:gd name="adj" fmla="val 3342"/>
            </a:avLst>
          </a:prstGeom>
          <a:solidFill>
            <a:srgbClr val="835E54"/>
          </a:solidFill>
          <a:ln/>
        </p:spPr>
        <p:txBody>
          <a:bodyPr/>
          <a:lstStyle/>
          <a:p>
            <a:endParaRPr lang="en-GB"/>
          </a:p>
        </p:txBody>
      </p:sp>
      <p:sp>
        <p:nvSpPr>
          <p:cNvPr id="8" name="Text 6"/>
          <p:cNvSpPr/>
          <p:nvPr/>
        </p:nvSpPr>
        <p:spPr>
          <a:xfrm>
            <a:off x="8342709" y="2422684"/>
            <a:ext cx="3296007" cy="36195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Cambria" pitchFamily="34" charset="0"/>
                <a:ea typeface="Cambria" pitchFamily="34" charset="-122"/>
                <a:cs typeface="Cambria" pitchFamily="34" charset="-120"/>
              </a:rPr>
              <a:t>⚠️</a:t>
            </a:r>
            <a:r>
              <a:rPr lang="en-US" sz="2200" b="1" dirty="0">
                <a:solidFill>
                  <a:srgbClr val="FFFFFF"/>
                </a:solidFill>
                <a:latin typeface="Cambria" pitchFamily="34" charset="0"/>
                <a:ea typeface="Cambria" pitchFamily="34" charset="-122"/>
                <a:cs typeface="Cambria" pitchFamily="34" charset="-120"/>
              </a:rPr>
              <a:t> Limitazione Importante</a:t>
            </a:r>
            <a:endParaRPr lang="en-US" sz="2200" dirty="0"/>
          </a:p>
        </p:txBody>
      </p:sp>
      <p:sp>
        <p:nvSpPr>
          <p:cNvPr id="9" name="Text 7"/>
          <p:cNvSpPr/>
          <p:nvPr/>
        </p:nvSpPr>
        <p:spPr>
          <a:xfrm>
            <a:off x="8342709" y="3011448"/>
            <a:ext cx="5437942"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Calibri" pitchFamily="34" charset="0"/>
                <a:ea typeface="Calibri" pitchFamily="34" charset="-122"/>
                <a:cs typeface="Calibri" pitchFamily="34" charset="-120"/>
              </a:rPr>
              <a:t>Dopo un merge su main in Azure DevOps, il workspace </a:t>
            </a:r>
            <a:r>
              <a:rPr lang="en-US" sz="1750" b="1" dirty="0">
                <a:solidFill>
                  <a:srgbClr val="FFFFFF"/>
                </a:solidFill>
                <a:latin typeface="Calibri" pitchFamily="34" charset="0"/>
                <a:ea typeface="Calibri" pitchFamily="34" charset="-122"/>
                <a:cs typeface="Calibri" pitchFamily="34" charset="-120"/>
              </a:rPr>
              <a:t>non si aggiorna automaticament: </a:t>
            </a:r>
            <a:r>
              <a:rPr lang="en-US" sz="1750" dirty="0">
                <a:solidFill>
                  <a:srgbClr val="FFFFFF"/>
                </a:solidFill>
                <a:latin typeface="Calibri" pitchFamily="34" charset="0"/>
                <a:ea typeface="Calibri" pitchFamily="34" charset="-122"/>
                <a:cs typeface="Calibri" pitchFamily="34" charset="-120"/>
              </a:rPr>
              <a:t>è necessario un aggiornamento manuale dalla UI.</a:t>
            </a:r>
            <a:endParaRPr lang="en-US" sz="1750" dirty="0"/>
          </a:p>
        </p:txBody>
      </p:sp>
      <p:sp>
        <p:nvSpPr>
          <p:cNvPr id="10" name="Text 8"/>
          <p:cNvSpPr/>
          <p:nvPr/>
        </p:nvSpPr>
        <p:spPr>
          <a:xfrm>
            <a:off x="8342709" y="4304228"/>
            <a:ext cx="5437942"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Calibri" pitchFamily="34" charset="0"/>
                <a:ea typeface="Calibri" pitchFamily="34" charset="-122"/>
                <a:cs typeface="Calibri" pitchFamily="34" charset="-120"/>
              </a:rPr>
              <a:t>Questo comportamento è automatizzabile tramite REST API:</a:t>
            </a:r>
            <a:endParaRPr lang="en-US" sz="1750" dirty="0"/>
          </a:p>
        </p:txBody>
      </p:sp>
      <p:sp>
        <p:nvSpPr>
          <p:cNvPr id="11" name="Shape 9"/>
          <p:cNvSpPr/>
          <p:nvPr/>
        </p:nvSpPr>
        <p:spPr>
          <a:xfrm>
            <a:off x="8342709" y="5285184"/>
            <a:ext cx="5437942" cy="1542336"/>
          </a:xfrm>
          <a:prstGeom prst="roundRect">
            <a:avLst>
              <a:gd name="adj" fmla="val 6177"/>
            </a:avLst>
          </a:prstGeom>
          <a:solidFill>
            <a:srgbClr val="906B61"/>
          </a:solidFill>
          <a:ln/>
        </p:spPr>
        <p:txBody>
          <a:bodyPr/>
          <a:lstStyle/>
          <a:p>
            <a:endParaRPr lang="en-GB"/>
          </a:p>
        </p:txBody>
      </p:sp>
      <p:sp>
        <p:nvSpPr>
          <p:cNvPr id="12" name="Shape 10"/>
          <p:cNvSpPr/>
          <p:nvPr/>
        </p:nvSpPr>
        <p:spPr>
          <a:xfrm>
            <a:off x="8331398" y="5285184"/>
            <a:ext cx="5460563" cy="1542336"/>
          </a:xfrm>
          <a:prstGeom prst="roundRect">
            <a:avLst>
              <a:gd name="adj" fmla="val 2206"/>
            </a:avLst>
          </a:prstGeom>
          <a:solidFill>
            <a:srgbClr val="906B61"/>
          </a:solidFill>
          <a:ln/>
        </p:spPr>
        <p:txBody>
          <a:bodyPr/>
          <a:lstStyle/>
          <a:p>
            <a:endParaRPr lang="en-GB"/>
          </a:p>
        </p:txBody>
      </p:sp>
      <p:sp>
        <p:nvSpPr>
          <p:cNvPr id="13" name="Text 11"/>
          <p:cNvSpPr/>
          <p:nvPr/>
        </p:nvSpPr>
        <p:spPr>
          <a:xfrm>
            <a:off x="8614886" y="5511998"/>
            <a:ext cx="4893588"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highlight>
                  <a:srgbClr val="906B61"/>
                </a:highlight>
                <a:latin typeface="Consolas" pitchFamily="34" charset="0"/>
                <a:ea typeface="Consolas" pitchFamily="34" charset="-122"/>
                <a:cs typeface="Consolas" pitchFamily="34" charset="-120"/>
              </a:rPr>
              <a:t>POST /workspaces/</a:t>
            </a:r>
            <a:endParaRPr lang="en-US" sz="1750" dirty="0"/>
          </a:p>
          <a:p>
            <a:pPr marL="0" indent="0" algn="l">
              <a:lnSpc>
                <a:spcPts val="2850"/>
              </a:lnSpc>
              <a:buNone/>
            </a:pPr>
            <a:r>
              <a:rPr lang="en-US" sz="1750" dirty="0">
                <a:solidFill>
                  <a:srgbClr val="FFFFFF"/>
                </a:solidFill>
                <a:highlight>
                  <a:srgbClr val="906B61"/>
                </a:highlight>
                <a:latin typeface="Consolas" pitchFamily="34" charset="0"/>
                <a:ea typeface="Consolas" pitchFamily="34" charset="-122"/>
                <a:cs typeface="Consolas" pitchFamily="34" charset="-120"/>
              </a:rPr>
              <a:t>{workspaceId}/git/</a:t>
            </a:r>
            <a:endParaRPr lang="en-US" sz="1750" dirty="0"/>
          </a:p>
          <a:p>
            <a:pPr marL="0" indent="0" algn="l">
              <a:lnSpc>
                <a:spcPts val="2850"/>
              </a:lnSpc>
              <a:buNone/>
            </a:pPr>
            <a:r>
              <a:rPr lang="en-US" sz="1750" dirty="0">
                <a:solidFill>
                  <a:srgbClr val="FFFFFF"/>
                </a:solidFill>
                <a:highlight>
                  <a:srgbClr val="906B61"/>
                </a:highlight>
                <a:latin typeface="Consolas" pitchFamily="34" charset="0"/>
                <a:ea typeface="Consolas" pitchFamily="34" charset="-122"/>
                <a:cs typeface="Consolas" pitchFamily="34" charset="-120"/>
              </a:rPr>
              <a:t>updateFromGit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01460" y="543163"/>
            <a:ext cx="4430197" cy="553760"/>
          </a:xfrm>
          <a:prstGeom prst="rect">
            <a:avLst/>
          </a:prstGeom>
          <a:noFill/>
          <a:ln/>
        </p:spPr>
        <p:txBody>
          <a:bodyPr wrap="none" lIns="0" tIns="0" rIns="0" bIns="0" rtlCol="0" anchor="t"/>
          <a:lstStyle/>
          <a:p>
            <a:pPr marL="0" indent="0" algn="l">
              <a:lnSpc>
                <a:spcPts val="4350"/>
              </a:lnSpc>
              <a:buNone/>
            </a:pPr>
            <a:r>
              <a:rPr lang="en-US" sz="3450" b="1" dirty="0">
                <a:solidFill>
                  <a:srgbClr val="443728"/>
                </a:solidFill>
                <a:latin typeface="Cambria" pitchFamily="34" charset="0"/>
                <a:ea typeface="Cambria" pitchFamily="34" charset="-122"/>
                <a:cs typeface="Cambria" pitchFamily="34" charset="-120"/>
              </a:rPr>
              <a:t>Workspace Branchout</a:t>
            </a:r>
            <a:endParaRPr lang="en-US" sz="3450" dirty="0"/>
          </a:p>
        </p:txBody>
      </p:sp>
      <p:sp>
        <p:nvSpPr>
          <p:cNvPr id="3" name="Text 1"/>
          <p:cNvSpPr/>
          <p:nvPr/>
        </p:nvSpPr>
        <p:spPr>
          <a:xfrm>
            <a:off x="1201460" y="1373743"/>
            <a:ext cx="11265603" cy="504825"/>
          </a:xfrm>
          <a:prstGeom prst="rect">
            <a:avLst/>
          </a:prstGeom>
          <a:noFill/>
          <a:ln/>
        </p:spPr>
        <p:txBody>
          <a:bodyPr wrap="squar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Il branchout crea un nuovo workspace Fabric collegato a un feature branch, generato a partire dal workspace principale. Ogni sviluppatore o feature ha il proprio workspace completamente isolato.</a:t>
            </a:r>
            <a:endParaRPr lang="en-US" sz="1350" dirty="0"/>
          </a:p>
        </p:txBody>
      </p:sp>
      <p:sp>
        <p:nvSpPr>
          <p:cNvPr id="4" name="Text 2"/>
          <p:cNvSpPr/>
          <p:nvPr/>
        </p:nvSpPr>
        <p:spPr>
          <a:xfrm>
            <a:off x="1201460" y="2172653"/>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Workflow Tipico</a:t>
            </a:r>
            <a:endParaRPr lang="en-US" sz="1700" dirty="0"/>
          </a:p>
        </p:txBody>
      </p:sp>
      <p:sp>
        <p:nvSpPr>
          <p:cNvPr id="5" name="Text 3"/>
          <p:cNvSpPr/>
          <p:nvPr/>
        </p:nvSpPr>
        <p:spPr>
          <a:xfrm>
            <a:off x="1201460" y="2605207"/>
            <a:ext cx="354330" cy="221456"/>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mbria" pitchFamily="34" charset="0"/>
                <a:ea typeface="Cambria" pitchFamily="34" charset="-122"/>
                <a:cs typeface="Cambria" pitchFamily="34" charset="-120"/>
              </a:rPr>
              <a:t>01</a:t>
            </a:r>
            <a:endParaRPr lang="en-US" sz="1350" dirty="0"/>
          </a:p>
        </p:txBody>
      </p:sp>
      <p:sp>
        <p:nvSpPr>
          <p:cNvPr id="6" name="Shape 4"/>
          <p:cNvSpPr/>
          <p:nvPr/>
        </p:nvSpPr>
        <p:spPr>
          <a:xfrm>
            <a:off x="1201460" y="2883456"/>
            <a:ext cx="3512582" cy="22860"/>
          </a:xfrm>
          <a:prstGeom prst="rect">
            <a:avLst/>
          </a:prstGeom>
          <a:solidFill>
            <a:srgbClr val="835E54"/>
          </a:solidFill>
          <a:ln/>
        </p:spPr>
        <p:txBody>
          <a:bodyPr/>
          <a:lstStyle/>
          <a:p>
            <a:endParaRPr lang="en-GB"/>
          </a:p>
        </p:txBody>
      </p:sp>
      <p:sp>
        <p:nvSpPr>
          <p:cNvPr id="7" name="Text 5"/>
          <p:cNvSpPr/>
          <p:nvPr/>
        </p:nvSpPr>
        <p:spPr>
          <a:xfrm>
            <a:off x="1201460" y="3017758"/>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Branchout da main</a:t>
            </a:r>
            <a:endParaRPr lang="en-US" sz="1700" dirty="0"/>
          </a:p>
        </p:txBody>
      </p:sp>
      <p:sp>
        <p:nvSpPr>
          <p:cNvPr id="8" name="Text 6"/>
          <p:cNvSpPr/>
          <p:nvPr/>
        </p:nvSpPr>
        <p:spPr>
          <a:xfrm>
            <a:off x="1201460" y="3432929"/>
            <a:ext cx="3512582" cy="757238"/>
          </a:xfrm>
          <a:prstGeom prst="rect">
            <a:avLst/>
          </a:prstGeom>
          <a:noFill/>
          <a:ln/>
        </p:spPr>
        <p:txBody>
          <a:bodyPr wrap="squar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Dal workspace connesso a main, si fa branchout su un nuovo branch (es. </a:t>
            </a:r>
            <a:r>
              <a:rPr lang="en-US" sz="1350" dirty="0">
                <a:solidFill>
                  <a:srgbClr val="443728"/>
                </a:solidFill>
                <a:highlight>
                  <a:srgbClr val="F2EFED"/>
                </a:highlight>
                <a:latin typeface="Consolas" pitchFamily="34" charset="0"/>
                <a:ea typeface="Consolas" pitchFamily="34" charset="-122"/>
                <a:cs typeface="Consolas" pitchFamily="34" charset="-120"/>
              </a:rPr>
              <a:t>feature/new-report</a:t>
            </a:r>
            <a:r>
              <a:rPr lang="en-US" sz="1350" dirty="0">
                <a:solidFill>
                  <a:srgbClr val="443728"/>
                </a:solidFill>
                <a:latin typeface="Calibri" pitchFamily="34" charset="0"/>
                <a:ea typeface="Calibri" pitchFamily="34" charset="-122"/>
                <a:cs typeface="Calibri" pitchFamily="34" charset="-120"/>
              </a:rPr>
              <a:t>).</a:t>
            </a:r>
            <a:endParaRPr lang="en-US" sz="1350" dirty="0"/>
          </a:p>
        </p:txBody>
      </p:sp>
      <p:sp>
        <p:nvSpPr>
          <p:cNvPr id="10" name="Shape 8"/>
          <p:cNvSpPr/>
          <p:nvPr/>
        </p:nvSpPr>
        <p:spPr>
          <a:xfrm>
            <a:off x="4852392" y="2883456"/>
            <a:ext cx="3512582" cy="22860"/>
          </a:xfrm>
          <a:prstGeom prst="rect">
            <a:avLst/>
          </a:prstGeom>
          <a:solidFill>
            <a:srgbClr val="835E54"/>
          </a:solidFill>
          <a:ln/>
        </p:spPr>
        <p:txBody>
          <a:bodyPr/>
          <a:lstStyle/>
          <a:p>
            <a:endParaRPr lang="en-GB"/>
          </a:p>
        </p:txBody>
      </p:sp>
      <p:sp>
        <p:nvSpPr>
          <p:cNvPr id="11" name="Text 9"/>
          <p:cNvSpPr/>
          <p:nvPr/>
        </p:nvSpPr>
        <p:spPr>
          <a:xfrm>
            <a:off x="4852392" y="3017758"/>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Workspace isolato</a:t>
            </a:r>
            <a:endParaRPr lang="en-US" sz="1700" dirty="0"/>
          </a:p>
        </p:txBody>
      </p:sp>
      <p:sp>
        <p:nvSpPr>
          <p:cNvPr id="12" name="Text 10"/>
          <p:cNvSpPr/>
          <p:nvPr/>
        </p:nvSpPr>
        <p:spPr>
          <a:xfrm>
            <a:off x="4852392" y="3432929"/>
            <a:ext cx="3512582" cy="504825"/>
          </a:xfrm>
          <a:prstGeom prst="rect">
            <a:avLst/>
          </a:prstGeom>
          <a:noFill/>
          <a:ln/>
        </p:spPr>
        <p:txBody>
          <a:bodyPr wrap="squar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Fabric crea automaticamente un nuovo workspace sincronizzato con quel branch.</a:t>
            </a:r>
            <a:endParaRPr lang="en-US" sz="1350" dirty="0"/>
          </a:p>
        </p:txBody>
      </p:sp>
      <p:sp>
        <p:nvSpPr>
          <p:cNvPr id="13" name="Text 11"/>
          <p:cNvSpPr/>
          <p:nvPr/>
        </p:nvSpPr>
        <p:spPr>
          <a:xfrm>
            <a:off x="1201460" y="4461391"/>
            <a:ext cx="354330" cy="221456"/>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mbria" pitchFamily="34" charset="0"/>
                <a:ea typeface="Cambria" pitchFamily="34" charset="-122"/>
                <a:cs typeface="Cambria" pitchFamily="34" charset="-120"/>
              </a:rPr>
              <a:t>03</a:t>
            </a:r>
            <a:endParaRPr lang="en-US" sz="1350" dirty="0"/>
          </a:p>
        </p:txBody>
      </p:sp>
      <p:sp>
        <p:nvSpPr>
          <p:cNvPr id="14" name="Shape 12"/>
          <p:cNvSpPr/>
          <p:nvPr/>
        </p:nvSpPr>
        <p:spPr>
          <a:xfrm>
            <a:off x="1201460" y="4739640"/>
            <a:ext cx="3512582" cy="22860"/>
          </a:xfrm>
          <a:prstGeom prst="rect">
            <a:avLst/>
          </a:prstGeom>
          <a:solidFill>
            <a:srgbClr val="835E54"/>
          </a:solidFill>
          <a:ln/>
        </p:spPr>
        <p:txBody>
          <a:bodyPr/>
          <a:lstStyle/>
          <a:p>
            <a:endParaRPr lang="en-GB"/>
          </a:p>
        </p:txBody>
      </p:sp>
      <p:sp>
        <p:nvSpPr>
          <p:cNvPr id="15" name="Text 13"/>
          <p:cNvSpPr/>
          <p:nvPr/>
        </p:nvSpPr>
        <p:spPr>
          <a:xfrm>
            <a:off x="1201460" y="4873943"/>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Sviluppo in isolamento</a:t>
            </a:r>
            <a:endParaRPr lang="en-US" sz="1700" dirty="0"/>
          </a:p>
        </p:txBody>
      </p:sp>
      <p:sp>
        <p:nvSpPr>
          <p:cNvPr id="16" name="Text 14"/>
          <p:cNvSpPr/>
          <p:nvPr/>
        </p:nvSpPr>
        <p:spPr>
          <a:xfrm>
            <a:off x="1201460" y="5289113"/>
            <a:ext cx="3512582" cy="504825"/>
          </a:xfrm>
          <a:prstGeom prst="rect">
            <a:avLst/>
          </a:prstGeom>
          <a:noFill/>
          <a:ln/>
        </p:spPr>
        <p:txBody>
          <a:bodyPr wrap="squar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Lo sviluppo avviene nel feature workspace, senza impattare main.</a:t>
            </a:r>
            <a:endParaRPr lang="en-US" sz="1350" dirty="0"/>
          </a:p>
        </p:txBody>
      </p:sp>
      <p:sp>
        <p:nvSpPr>
          <p:cNvPr id="17" name="Text 15"/>
          <p:cNvSpPr/>
          <p:nvPr/>
        </p:nvSpPr>
        <p:spPr>
          <a:xfrm>
            <a:off x="4852392" y="4461391"/>
            <a:ext cx="354330" cy="221456"/>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mbria" pitchFamily="34" charset="0"/>
                <a:ea typeface="Cambria" pitchFamily="34" charset="-122"/>
                <a:cs typeface="Cambria" pitchFamily="34" charset="-120"/>
              </a:rPr>
              <a:t>04</a:t>
            </a:r>
            <a:endParaRPr lang="en-US" sz="1350" dirty="0"/>
          </a:p>
        </p:txBody>
      </p:sp>
      <p:sp>
        <p:nvSpPr>
          <p:cNvPr id="18" name="Shape 16"/>
          <p:cNvSpPr/>
          <p:nvPr/>
        </p:nvSpPr>
        <p:spPr>
          <a:xfrm>
            <a:off x="4852392" y="4739640"/>
            <a:ext cx="3512582" cy="22860"/>
          </a:xfrm>
          <a:prstGeom prst="rect">
            <a:avLst/>
          </a:prstGeom>
          <a:solidFill>
            <a:srgbClr val="835E54"/>
          </a:solidFill>
          <a:ln/>
        </p:spPr>
        <p:txBody>
          <a:bodyPr/>
          <a:lstStyle/>
          <a:p>
            <a:endParaRPr lang="en-GB"/>
          </a:p>
        </p:txBody>
      </p:sp>
      <p:sp>
        <p:nvSpPr>
          <p:cNvPr id="19" name="Text 17"/>
          <p:cNvSpPr/>
          <p:nvPr/>
        </p:nvSpPr>
        <p:spPr>
          <a:xfrm>
            <a:off x="4852392" y="4873943"/>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Pull Request</a:t>
            </a:r>
            <a:endParaRPr lang="en-US" sz="1700" dirty="0"/>
          </a:p>
        </p:txBody>
      </p:sp>
      <p:sp>
        <p:nvSpPr>
          <p:cNvPr id="20" name="Text 18"/>
          <p:cNvSpPr/>
          <p:nvPr/>
        </p:nvSpPr>
        <p:spPr>
          <a:xfrm>
            <a:off x="4852392" y="5289113"/>
            <a:ext cx="3512582" cy="757238"/>
          </a:xfrm>
          <a:prstGeom prst="rect">
            <a:avLst/>
          </a:prstGeom>
          <a:noFill/>
          <a:ln/>
        </p:spPr>
        <p:txBody>
          <a:bodyPr wrap="squar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Al termine si apre una PR in Azure DevOps per fare merge su main e aggiornare il WS collegato.</a:t>
            </a:r>
            <a:endParaRPr lang="en-US" sz="1350" dirty="0"/>
          </a:p>
        </p:txBody>
      </p:sp>
      <p:sp>
        <p:nvSpPr>
          <p:cNvPr id="25" name="Shape 23"/>
          <p:cNvSpPr/>
          <p:nvPr/>
        </p:nvSpPr>
        <p:spPr>
          <a:xfrm>
            <a:off x="8677275" y="2034302"/>
            <a:ext cx="4886563" cy="4695825"/>
          </a:xfrm>
          <a:prstGeom prst="roundRect">
            <a:avLst>
              <a:gd name="adj" fmla="val 2611"/>
            </a:avLst>
          </a:prstGeom>
          <a:solidFill>
            <a:srgbClr val="835E54"/>
          </a:solidFill>
          <a:ln/>
        </p:spPr>
        <p:txBody>
          <a:bodyPr/>
          <a:lstStyle/>
          <a:p>
            <a:endParaRPr lang="en-GB"/>
          </a:p>
        </p:txBody>
      </p:sp>
      <p:sp>
        <p:nvSpPr>
          <p:cNvPr id="26" name="Text 24"/>
          <p:cNvSpPr/>
          <p:nvPr/>
        </p:nvSpPr>
        <p:spPr>
          <a:xfrm>
            <a:off x="8854440" y="2172653"/>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Cambria" pitchFamily="34" charset="0"/>
                <a:ea typeface="Cambria" pitchFamily="34" charset="-122"/>
                <a:cs typeface="Cambria" pitchFamily="34" charset="-120"/>
              </a:rPr>
              <a:t>Perché è utile?</a:t>
            </a:r>
            <a:endParaRPr lang="en-US" sz="1700" dirty="0"/>
          </a:p>
        </p:txBody>
      </p:sp>
      <p:sp>
        <p:nvSpPr>
          <p:cNvPr id="27" name="Text 25"/>
          <p:cNvSpPr/>
          <p:nvPr/>
        </p:nvSpPr>
        <p:spPr>
          <a:xfrm>
            <a:off x="8854440" y="2587823"/>
            <a:ext cx="4532233" cy="1358741"/>
          </a:xfrm>
          <a:prstGeom prst="rect">
            <a:avLst/>
          </a:prstGeom>
          <a:noFill/>
          <a:ln/>
        </p:spPr>
        <p:txBody>
          <a:bodyPr wrap="square" lIns="0" tIns="0" rIns="0" bIns="0" rtlCol="0" anchor="t"/>
          <a:lstStyle/>
          <a:p>
            <a:pPr marL="342900" indent="-342900" algn="l">
              <a:lnSpc>
                <a:spcPts val="1950"/>
              </a:lnSpc>
              <a:buSzPct val="100000"/>
              <a:buChar char="•"/>
            </a:pPr>
            <a:r>
              <a:rPr lang="en-US" sz="1350" dirty="0">
                <a:solidFill>
                  <a:srgbClr val="FFFFFF"/>
                </a:solidFill>
                <a:latin typeface="Calibri" pitchFamily="34" charset="0"/>
                <a:ea typeface="Calibri" pitchFamily="34" charset="-122"/>
                <a:cs typeface="Calibri" pitchFamily="34" charset="-120"/>
              </a:rPr>
              <a:t>Isolamento completo tra sviluppi paralleli</a:t>
            </a:r>
            <a:endParaRPr lang="en-US" sz="1350" dirty="0"/>
          </a:p>
          <a:p>
            <a:pPr marL="342900" indent="-342900" algn="l">
              <a:lnSpc>
                <a:spcPts val="1950"/>
              </a:lnSpc>
              <a:buSzPct val="100000"/>
              <a:buChar char="•"/>
            </a:pPr>
            <a:r>
              <a:rPr lang="en-US" sz="1350" dirty="0">
                <a:solidFill>
                  <a:srgbClr val="FFFFFF"/>
                </a:solidFill>
                <a:latin typeface="Calibri" pitchFamily="34" charset="0"/>
                <a:ea typeface="Calibri" pitchFamily="34" charset="-122"/>
                <a:cs typeface="Calibri" pitchFamily="34" charset="-120"/>
              </a:rPr>
              <a:t>Il workspace di produzione non viene mai toccato durante lo sviluppo</a:t>
            </a:r>
            <a:endParaRPr lang="en-US" sz="1350" dirty="0"/>
          </a:p>
          <a:p>
            <a:pPr marL="342900" indent="-342900" algn="l">
              <a:lnSpc>
                <a:spcPts val="1950"/>
              </a:lnSpc>
              <a:buSzPct val="100000"/>
              <a:buChar char="•"/>
            </a:pPr>
            <a:r>
              <a:rPr lang="en-US" sz="1350" dirty="0">
                <a:solidFill>
                  <a:srgbClr val="FFFFFF"/>
                </a:solidFill>
                <a:latin typeface="Calibri" pitchFamily="34" charset="0"/>
                <a:ea typeface="Calibri" pitchFamily="34" charset="-122"/>
                <a:cs typeface="Calibri" pitchFamily="34" charset="-120"/>
              </a:rPr>
              <a:t>Sostituisce il vecchio approccio di duplicare manualmente i workspace</a:t>
            </a:r>
            <a:endParaRPr lang="en-US" sz="1350" dirty="0"/>
          </a:p>
        </p:txBody>
      </p:sp>
      <p:sp>
        <p:nvSpPr>
          <p:cNvPr id="28" name="Shape 26"/>
          <p:cNvSpPr/>
          <p:nvPr/>
        </p:nvSpPr>
        <p:spPr>
          <a:xfrm>
            <a:off x="8854440" y="4146590"/>
            <a:ext cx="4532233" cy="13216"/>
          </a:xfrm>
          <a:prstGeom prst="rect">
            <a:avLst/>
          </a:prstGeom>
          <a:solidFill>
            <a:srgbClr val="FFFFFF">
              <a:alpha val="50000"/>
            </a:srgbClr>
          </a:solidFill>
          <a:ln/>
        </p:spPr>
        <p:txBody>
          <a:bodyPr/>
          <a:lstStyle/>
          <a:p>
            <a:endParaRPr lang="en-GB"/>
          </a:p>
        </p:txBody>
      </p:sp>
      <p:sp>
        <p:nvSpPr>
          <p:cNvPr id="29" name="Text 27"/>
          <p:cNvSpPr/>
          <p:nvPr/>
        </p:nvSpPr>
        <p:spPr>
          <a:xfrm>
            <a:off x="8854440" y="4359831"/>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Cambria" pitchFamily="34" charset="0"/>
                <a:ea typeface="Cambria" pitchFamily="34" charset="-122"/>
                <a:cs typeface="Cambria" pitchFamily="34" charset="-120"/>
              </a:rPr>
              <a:t>⚠️</a:t>
            </a:r>
            <a:r>
              <a:rPr lang="en-US" sz="1700" b="1" dirty="0">
                <a:solidFill>
                  <a:srgbClr val="FFFFFF"/>
                </a:solidFill>
                <a:latin typeface="Cambria" pitchFamily="34" charset="0"/>
                <a:ea typeface="Cambria" pitchFamily="34" charset="-122"/>
                <a:cs typeface="Cambria" pitchFamily="34" charset="-120"/>
              </a:rPr>
              <a:t> Vincoli Importanti</a:t>
            </a:r>
            <a:endParaRPr lang="en-US" sz="1700" dirty="0"/>
          </a:p>
        </p:txBody>
      </p:sp>
      <p:sp>
        <p:nvSpPr>
          <p:cNvPr id="30" name="Text 28"/>
          <p:cNvSpPr/>
          <p:nvPr/>
        </p:nvSpPr>
        <p:spPr>
          <a:xfrm>
            <a:off x="8854440" y="4775002"/>
            <a:ext cx="4532233" cy="1562814"/>
          </a:xfrm>
          <a:prstGeom prst="rect">
            <a:avLst/>
          </a:prstGeom>
          <a:noFill/>
          <a:ln/>
        </p:spPr>
        <p:txBody>
          <a:bodyPr wrap="square" lIns="0" tIns="0" rIns="0" bIns="0" rtlCol="0" anchor="t"/>
          <a:lstStyle/>
          <a:p>
            <a:pPr marL="342900" indent="-342900" algn="l">
              <a:lnSpc>
                <a:spcPts val="1950"/>
              </a:lnSpc>
              <a:buSzPct val="100000"/>
              <a:buChar char="•"/>
            </a:pPr>
            <a:r>
              <a:rPr lang="en-US" sz="1350" dirty="0">
                <a:solidFill>
                  <a:srgbClr val="FFFFFF"/>
                </a:solidFill>
                <a:latin typeface="Calibri" pitchFamily="34" charset="0"/>
                <a:ea typeface="Calibri" pitchFamily="34" charset="-122"/>
                <a:cs typeface="Calibri" pitchFamily="34" charset="-120"/>
              </a:rPr>
              <a:t>Richiede permessi per creare workspace su una Fabric/Premium capacity: in assenza, </a:t>
            </a:r>
            <a:r>
              <a:rPr lang="en-US" sz="1350" dirty="0" err="1">
                <a:solidFill>
                  <a:srgbClr val="FFFFFF"/>
                </a:solidFill>
                <a:latin typeface="Calibri" pitchFamily="34" charset="0"/>
                <a:ea typeface="Calibri" pitchFamily="34" charset="-122"/>
                <a:cs typeface="Calibri" pitchFamily="34" charset="-120"/>
              </a:rPr>
              <a:t>l'operazione</a:t>
            </a:r>
            <a:r>
              <a:rPr lang="en-US" sz="1350" dirty="0">
                <a:solidFill>
                  <a:srgbClr val="FFFFFF"/>
                </a:solidFill>
                <a:latin typeface="Calibri" pitchFamily="34" charset="0"/>
                <a:ea typeface="Calibri" pitchFamily="34" charset="-122"/>
                <a:cs typeface="Calibri" pitchFamily="34" charset="-120"/>
              </a:rPr>
              <a:t> </a:t>
            </a:r>
            <a:r>
              <a:rPr lang="en-US" sz="1350" dirty="0" err="1">
                <a:solidFill>
                  <a:srgbClr val="FFFFFF"/>
                </a:solidFill>
                <a:latin typeface="Calibri" pitchFamily="34" charset="0"/>
                <a:ea typeface="Calibri" pitchFamily="34" charset="-122"/>
                <a:cs typeface="Calibri" pitchFamily="34" charset="-120"/>
              </a:rPr>
              <a:t>fallisce</a:t>
            </a:r>
            <a:endParaRPr lang="en-US" sz="1350" dirty="0"/>
          </a:p>
          <a:p>
            <a:pPr marL="342900" indent="-342900" algn="l">
              <a:lnSpc>
                <a:spcPts val="1950"/>
              </a:lnSpc>
              <a:buSzPct val="100000"/>
              <a:buChar char="•"/>
            </a:pPr>
            <a:r>
              <a:rPr lang="en-US" sz="1350" dirty="0">
                <a:solidFill>
                  <a:srgbClr val="FFFFFF"/>
                </a:solidFill>
                <a:latin typeface="Calibri" pitchFamily="34" charset="0"/>
                <a:ea typeface="Calibri" pitchFamily="34" charset="-122"/>
                <a:cs typeface="Calibri" pitchFamily="34" charset="-120"/>
              </a:rPr>
              <a:t>In preview: possibilità di selezionare solo gli item su cui si vuole lavorare, evitando di clonare l'intero workspace</a:t>
            </a:r>
            <a:endParaRPr lang="en-US" sz="1350" dirty="0"/>
          </a:p>
        </p:txBody>
      </p:sp>
      <p:sp>
        <p:nvSpPr>
          <p:cNvPr id="31" name="Text 3">
            <a:extLst>
              <a:ext uri="{FF2B5EF4-FFF2-40B4-BE49-F238E27FC236}">
                <a16:creationId xmlns:a16="http://schemas.microsoft.com/office/drawing/2014/main" id="{B86F86EA-D672-848D-BCBE-AF9A3C930420}"/>
              </a:ext>
            </a:extLst>
          </p:cNvPr>
          <p:cNvSpPr/>
          <p:nvPr/>
        </p:nvSpPr>
        <p:spPr>
          <a:xfrm>
            <a:off x="4852392" y="2568150"/>
            <a:ext cx="354330" cy="221456"/>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mbria" pitchFamily="34" charset="0"/>
                <a:ea typeface="Cambria" pitchFamily="34" charset="-122"/>
                <a:cs typeface="Cambria" pitchFamily="34" charset="-120"/>
              </a:rPr>
              <a:t>02</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4260" y="840462"/>
            <a:ext cx="12263318" cy="664488"/>
          </a:xfrm>
          <a:prstGeom prst="rect">
            <a:avLst/>
          </a:prstGeom>
          <a:noFill/>
          <a:ln/>
        </p:spPr>
        <p:txBody>
          <a:bodyPr wrap="none" lIns="0" tIns="0" rIns="0" bIns="0" rtlCol="0" anchor="t"/>
          <a:lstStyle/>
          <a:p>
            <a:pPr marL="0" indent="0" algn="l">
              <a:lnSpc>
                <a:spcPts val="5200"/>
              </a:lnSpc>
              <a:buNone/>
            </a:pPr>
            <a:r>
              <a:rPr lang="en-US" sz="4150" b="1" dirty="0">
                <a:solidFill>
                  <a:srgbClr val="443728"/>
                </a:solidFill>
                <a:latin typeface="Cambria" pitchFamily="34" charset="0"/>
                <a:ea typeface="Cambria" pitchFamily="34" charset="-122"/>
                <a:cs typeface="Cambria" pitchFamily="34" charset="-120"/>
              </a:rPr>
              <a:t>Fabric Deployment Pipelines &amp; Environment Variables</a:t>
            </a:r>
            <a:endParaRPr lang="en-US" sz="4150" dirty="0"/>
          </a:p>
        </p:txBody>
      </p:sp>
      <p:sp>
        <p:nvSpPr>
          <p:cNvPr id="3" name="Text 1"/>
          <p:cNvSpPr/>
          <p:nvPr/>
        </p:nvSpPr>
        <p:spPr>
          <a:xfrm>
            <a:off x="744260" y="2003227"/>
            <a:ext cx="2658070" cy="332303"/>
          </a:xfrm>
          <a:prstGeom prst="rect">
            <a:avLst/>
          </a:prstGeom>
          <a:noFill/>
          <a:ln/>
        </p:spPr>
        <p:txBody>
          <a:bodyPr wrap="none" lIns="0" tIns="0" rIns="0" bIns="0" rtlCol="0" anchor="t"/>
          <a:lstStyle/>
          <a:p>
            <a:pPr marL="0" indent="0" algn="l">
              <a:lnSpc>
                <a:spcPts val="2600"/>
              </a:lnSpc>
              <a:buNone/>
            </a:pPr>
            <a:r>
              <a:rPr lang="en-US" sz="2050" b="1" dirty="0">
                <a:solidFill>
                  <a:srgbClr val="443728"/>
                </a:solidFill>
                <a:latin typeface="Cambria" pitchFamily="34" charset="0"/>
                <a:ea typeface="Cambria" pitchFamily="34" charset="-122"/>
                <a:cs typeface="Cambria" pitchFamily="34" charset="-120"/>
              </a:rPr>
              <a:t>Come Funziona</a:t>
            </a:r>
            <a:endParaRPr lang="en-US" sz="2050" dirty="0"/>
          </a:p>
        </p:txBody>
      </p:sp>
      <p:sp>
        <p:nvSpPr>
          <p:cNvPr id="4" name="Text 2"/>
          <p:cNvSpPr/>
          <p:nvPr/>
        </p:nvSpPr>
        <p:spPr>
          <a:xfrm>
            <a:off x="744260" y="2534841"/>
            <a:ext cx="6311622" cy="988695"/>
          </a:xfrm>
          <a:prstGeom prst="rect">
            <a:avLst/>
          </a:prstGeom>
          <a:noFill/>
          <a:ln/>
        </p:spPr>
        <p:txBody>
          <a:bodyPr wrap="square" lIns="0" tIns="0" rIns="0" bIns="0" rtlCol="0" anchor="t"/>
          <a:lstStyle/>
          <a:p>
            <a:pPr marL="0" indent="0" algn="l">
              <a:lnSpc>
                <a:spcPts val="2550"/>
              </a:lnSpc>
              <a:buNone/>
            </a:pPr>
            <a:r>
              <a:rPr lang="en-US" sz="1650" dirty="0">
                <a:solidFill>
                  <a:srgbClr val="443728"/>
                </a:solidFill>
                <a:latin typeface="Calibri" pitchFamily="34" charset="0"/>
                <a:ea typeface="Calibri" pitchFamily="34" charset="-122"/>
                <a:cs typeface="Calibri" pitchFamily="34" charset="-120"/>
              </a:rPr>
              <a:t>Strumento nativo Fabric per promuovere item tra ambienti in modo controllato. Si configura con tre stage: </a:t>
            </a:r>
            <a:r>
              <a:rPr lang="en-US" sz="1650" b="1" dirty="0">
                <a:solidFill>
                  <a:srgbClr val="443728"/>
                </a:solidFill>
                <a:latin typeface="Calibri" pitchFamily="34" charset="0"/>
                <a:ea typeface="Calibri" pitchFamily="34" charset="-122"/>
                <a:cs typeface="Calibri" pitchFamily="34" charset="-120"/>
              </a:rPr>
              <a:t>Dev → Test → Prod</a:t>
            </a:r>
            <a:r>
              <a:rPr lang="en-US" sz="1650" dirty="0">
                <a:solidFill>
                  <a:srgbClr val="443728"/>
                </a:solidFill>
                <a:latin typeface="Calibri" pitchFamily="34" charset="0"/>
                <a:ea typeface="Calibri" pitchFamily="34" charset="-122"/>
                <a:cs typeface="Calibri" pitchFamily="34" charset="-120"/>
              </a:rPr>
              <a:t>, ognuno associato a un workspace dedicato.</a:t>
            </a:r>
            <a:endParaRPr lang="en-US" sz="1650" dirty="0"/>
          </a:p>
        </p:txBody>
      </p:sp>
      <p:sp>
        <p:nvSpPr>
          <p:cNvPr id="5" name="Text 3"/>
          <p:cNvSpPr/>
          <p:nvPr/>
        </p:nvSpPr>
        <p:spPr>
          <a:xfrm>
            <a:off x="744260" y="3702844"/>
            <a:ext cx="6311622" cy="1787366"/>
          </a:xfrm>
          <a:prstGeom prst="rect">
            <a:avLst/>
          </a:prstGeom>
          <a:noFill/>
          <a:ln/>
        </p:spPr>
        <p:txBody>
          <a:bodyPr wrap="square" lIns="0" tIns="0" rIns="0" bIns="0" rtlCol="0" anchor="t"/>
          <a:lstStyle/>
          <a:p>
            <a:pPr marL="342900" indent="-342900" algn="l">
              <a:lnSpc>
                <a:spcPts val="2550"/>
              </a:lnSpc>
              <a:buSzPct val="100000"/>
              <a:buChar char="•"/>
            </a:pPr>
            <a:r>
              <a:rPr lang="en-US" sz="1650" dirty="0">
                <a:solidFill>
                  <a:srgbClr val="443728"/>
                </a:solidFill>
                <a:latin typeface="Calibri" pitchFamily="34" charset="0"/>
                <a:ea typeface="Calibri" pitchFamily="34" charset="-122"/>
                <a:cs typeface="Calibri" pitchFamily="34" charset="-120"/>
              </a:rPr>
              <a:t>Si selezionano gli item da promuovere (o si promuove tutto)</a:t>
            </a:r>
            <a:endParaRPr lang="en-US" sz="1650" dirty="0"/>
          </a:p>
          <a:p>
            <a:pPr marL="342900" indent="-342900" algn="l">
              <a:lnSpc>
                <a:spcPts val="2550"/>
              </a:lnSpc>
              <a:buSzPct val="100000"/>
              <a:buChar char="•"/>
            </a:pPr>
            <a:r>
              <a:rPr lang="en-US" sz="1650" dirty="0">
                <a:solidFill>
                  <a:srgbClr val="443728"/>
                </a:solidFill>
                <a:latin typeface="Calibri" pitchFamily="34" charset="0"/>
                <a:ea typeface="Calibri" pitchFamily="34" charset="-122"/>
                <a:cs typeface="Calibri" pitchFamily="34" charset="-120"/>
              </a:rPr>
              <a:t>Fabric copia gli item dallo stage sorgente a quello di destinazione</a:t>
            </a:r>
            <a:endParaRPr lang="en-US" sz="1650" dirty="0"/>
          </a:p>
          <a:p>
            <a:pPr marL="342900" indent="-342900" algn="l">
              <a:lnSpc>
                <a:spcPts val="2550"/>
              </a:lnSpc>
              <a:buSzPct val="100000"/>
              <a:buChar char="•"/>
            </a:pPr>
            <a:r>
              <a:rPr lang="en-US" sz="1650" dirty="0">
                <a:solidFill>
                  <a:srgbClr val="443728"/>
                </a:solidFill>
                <a:latin typeface="Calibri" pitchFamily="34" charset="0"/>
                <a:ea typeface="Calibri" pitchFamily="34" charset="-122"/>
                <a:cs typeface="Calibri" pitchFamily="34" charset="-120"/>
              </a:rPr>
              <a:t>È possibile confrontare il contenuto tra stage prima di promuovere</a:t>
            </a:r>
            <a:endParaRPr lang="en-US" sz="1650" dirty="0"/>
          </a:p>
        </p:txBody>
      </p:sp>
      <p:sp>
        <p:nvSpPr>
          <p:cNvPr id="6" name="Text 4"/>
          <p:cNvSpPr/>
          <p:nvPr/>
        </p:nvSpPr>
        <p:spPr>
          <a:xfrm>
            <a:off x="744260" y="5689521"/>
            <a:ext cx="2658070" cy="332303"/>
          </a:xfrm>
          <a:prstGeom prst="rect">
            <a:avLst/>
          </a:prstGeom>
          <a:noFill/>
          <a:ln/>
        </p:spPr>
        <p:txBody>
          <a:bodyPr wrap="none" lIns="0" tIns="0" rIns="0" bIns="0" rtlCol="0" anchor="t"/>
          <a:lstStyle/>
          <a:p>
            <a:pPr marL="0" indent="0" algn="l">
              <a:lnSpc>
                <a:spcPts val="2600"/>
              </a:lnSpc>
              <a:buNone/>
            </a:pPr>
            <a:r>
              <a:rPr lang="en-US" sz="2050" b="1" dirty="0">
                <a:solidFill>
                  <a:srgbClr val="443728"/>
                </a:solidFill>
                <a:latin typeface="Cambria" pitchFamily="34" charset="0"/>
                <a:ea typeface="Cambria" pitchFamily="34" charset="-122"/>
                <a:cs typeface="Cambria" pitchFamily="34" charset="-120"/>
              </a:rPr>
              <a:t>Deployment Rules</a:t>
            </a:r>
            <a:endParaRPr lang="en-US" sz="2050" dirty="0"/>
          </a:p>
        </p:txBody>
      </p:sp>
      <p:sp>
        <p:nvSpPr>
          <p:cNvPr id="7" name="Text 5"/>
          <p:cNvSpPr/>
          <p:nvPr/>
        </p:nvSpPr>
        <p:spPr>
          <a:xfrm>
            <a:off x="744260" y="6021824"/>
            <a:ext cx="6311622" cy="988695"/>
          </a:xfrm>
          <a:prstGeom prst="rect">
            <a:avLst/>
          </a:prstGeom>
          <a:noFill/>
          <a:ln/>
        </p:spPr>
        <p:txBody>
          <a:bodyPr wrap="square" lIns="0" tIns="0" rIns="0" bIns="0" rtlCol="0" anchor="t"/>
          <a:lstStyle/>
          <a:p>
            <a:pPr marL="0" indent="0" algn="l">
              <a:lnSpc>
                <a:spcPts val="2550"/>
              </a:lnSpc>
              <a:buNone/>
            </a:pPr>
            <a:r>
              <a:rPr lang="en-US" sz="1650" dirty="0">
                <a:solidFill>
                  <a:srgbClr val="443728"/>
                </a:solidFill>
                <a:latin typeface="Calibri" pitchFamily="34" charset="0"/>
                <a:ea typeface="Calibri" pitchFamily="34" charset="-122"/>
                <a:cs typeface="Calibri" pitchFamily="34" charset="-120"/>
              </a:rPr>
              <a:t>Regole configurabili per stage che permettono di sovrascrivere proprietà specifiche degli item al momento del deploy.</a:t>
            </a:r>
            <a:endParaRPr lang="en-US" sz="1650" dirty="0"/>
          </a:p>
        </p:txBody>
      </p:sp>
      <p:sp>
        <p:nvSpPr>
          <p:cNvPr id="8" name="Shape 6"/>
          <p:cNvSpPr/>
          <p:nvPr/>
        </p:nvSpPr>
        <p:spPr>
          <a:xfrm>
            <a:off x="7429143" y="1803916"/>
            <a:ext cx="6456997" cy="5031782"/>
          </a:xfrm>
          <a:prstGeom prst="roundRect">
            <a:avLst>
              <a:gd name="adj" fmla="val 2741"/>
            </a:avLst>
          </a:prstGeom>
          <a:solidFill>
            <a:srgbClr val="835E54"/>
          </a:solidFill>
          <a:ln/>
        </p:spPr>
        <p:txBody>
          <a:bodyPr/>
          <a:lstStyle/>
          <a:p>
            <a:endParaRPr lang="en-GB"/>
          </a:p>
        </p:txBody>
      </p:sp>
      <p:sp>
        <p:nvSpPr>
          <p:cNvPr id="9" name="Text 7"/>
          <p:cNvSpPr/>
          <p:nvPr/>
        </p:nvSpPr>
        <p:spPr>
          <a:xfrm>
            <a:off x="7641788" y="2003227"/>
            <a:ext cx="2658070" cy="332303"/>
          </a:xfrm>
          <a:prstGeom prst="rect">
            <a:avLst/>
          </a:prstGeom>
          <a:noFill/>
          <a:ln/>
        </p:spPr>
        <p:txBody>
          <a:bodyPr wrap="none" lIns="0" tIns="0" rIns="0" bIns="0" rtlCol="0" anchor="t"/>
          <a:lstStyle/>
          <a:p>
            <a:pPr marL="0" indent="0" algn="l">
              <a:lnSpc>
                <a:spcPts val="2600"/>
              </a:lnSpc>
              <a:buNone/>
            </a:pPr>
            <a:r>
              <a:rPr lang="en-US" sz="2050" b="1" dirty="0">
                <a:solidFill>
                  <a:srgbClr val="FFFFFF"/>
                </a:solidFill>
                <a:latin typeface="Cambria" pitchFamily="34" charset="0"/>
                <a:ea typeface="Cambria" pitchFamily="34" charset="-122"/>
                <a:cs typeface="Cambria" pitchFamily="34" charset="-120"/>
              </a:rPr>
              <a:t>Environment Variables</a:t>
            </a:r>
            <a:endParaRPr lang="en-US" sz="2050" dirty="0"/>
          </a:p>
        </p:txBody>
      </p:sp>
      <p:sp>
        <p:nvSpPr>
          <p:cNvPr id="10" name="Text 8"/>
          <p:cNvSpPr/>
          <p:nvPr/>
        </p:nvSpPr>
        <p:spPr>
          <a:xfrm>
            <a:off x="7641788" y="2534841"/>
            <a:ext cx="6192322" cy="1647825"/>
          </a:xfrm>
          <a:prstGeom prst="rect">
            <a:avLst/>
          </a:prstGeom>
          <a:noFill/>
          <a:ln/>
        </p:spPr>
        <p:txBody>
          <a:bodyPr wrap="square" lIns="0" tIns="0" rIns="0" bIns="0" rtlCol="0" anchor="t"/>
          <a:lstStyle/>
          <a:p>
            <a:pPr marL="0" indent="0" algn="l">
              <a:lnSpc>
                <a:spcPts val="2550"/>
              </a:lnSpc>
              <a:buNone/>
            </a:pPr>
            <a:r>
              <a:rPr lang="en-US" sz="1650" dirty="0">
                <a:solidFill>
                  <a:srgbClr val="FFFFFF"/>
                </a:solidFill>
                <a:latin typeface="Calibri" pitchFamily="34" charset="0"/>
                <a:ea typeface="Calibri" pitchFamily="34" charset="-122"/>
                <a:cs typeface="Calibri" pitchFamily="34" charset="-120"/>
              </a:rPr>
              <a:t>Introdotte da Microsoft per sopperire alle limitazioni delle deployment rules, che supportano oggi solo un sottoinsieme ristretto di items. Le environment variables permettono di definire valori dinamici (es. stringhe di connessione, parametri) che cambiano automaticamente in base allo stage.</a:t>
            </a:r>
            <a:endParaRPr lang="en-US" sz="1650" dirty="0"/>
          </a:p>
        </p:txBody>
      </p:sp>
      <p:sp>
        <p:nvSpPr>
          <p:cNvPr id="11" name="Shape 9"/>
          <p:cNvSpPr/>
          <p:nvPr/>
        </p:nvSpPr>
        <p:spPr>
          <a:xfrm>
            <a:off x="7641788" y="4459962"/>
            <a:ext cx="6192322" cy="15835"/>
          </a:xfrm>
          <a:prstGeom prst="rect">
            <a:avLst/>
          </a:prstGeom>
          <a:solidFill>
            <a:srgbClr val="FFFFFF">
              <a:alpha val="50000"/>
            </a:srgbClr>
          </a:solidFill>
          <a:ln/>
        </p:spPr>
        <p:txBody>
          <a:bodyPr/>
          <a:lstStyle/>
          <a:p>
            <a:endParaRPr lang="en-GB"/>
          </a:p>
        </p:txBody>
      </p:sp>
      <p:sp>
        <p:nvSpPr>
          <p:cNvPr id="12" name="Text 10"/>
          <p:cNvSpPr/>
          <p:nvPr/>
        </p:nvSpPr>
        <p:spPr>
          <a:xfrm>
            <a:off x="7641788" y="4753094"/>
            <a:ext cx="3798451" cy="332303"/>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Cambria" pitchFamily="34" charset="0"/>
                <a:ea typeface="Cambria" pitchFamily="34" charset="-122"/>
                <a:cs typeface="Cambria" pitchFamily="34" charset="-120"/>
              </a:rPr>
              <a:t>⚠️</a:t>
            </a:r>
            <a:r>
              <a:rPr lang="en-US" sz="2050" b="1" dirty="0">
                <a:solidFill>
                  <a:srgbClr val="FFFFFF"/>
                </a:solidFill>
                <a:latin typeface="Cambria" pitchFamily="34" charset="0"/>
                <a:ea typeface="Cambria" pitchFamily="34" charset="-122"/>
                <a:cs typeface="Cambria" pitchFamily="34" charset="-120"/>
              </a:rPr>
              <a:t> Limitazioni da Tenere a Mente</a:t>
            </a:r>
            <a:endParaRPr lang="en-US" sz="2050" dirty="0"/>
          </a:p>
        </p:txBody>
      </p:sp>
      <p:sp>
        <p:nvSpPr>
          <p:cNvPr id="13" name="Text 11"/>
          <p:cNvSpPr/>
          <p:nvPr/>
        </p:nvSpPr>
        <p:spPr>
          <a:xfrm>
            <a:off x="7641788" y="5284708"/>
            <a:ext cx="6192322" cy="1388031"/>
          </a:xfrm>
          <a:prstGeom prst="rect">
            <a:avLst/>
          </a:prstGeom>
          <a:noFill/>
          <a:ln/>
        </p:spPr>
        <p:txBody>
          <a:bodyPr wrap="square" lIns="0" tIns="0" rIns="0" bIns="0" rtlCol="0" anchor="t"/>
          <a:lstStyle/>
          <a:p>
            <a:pPr marL="342900" indent="-342900" algn="l">
              <a:lnSpc>
                <a:spcPts val="2550"/>
              </a:lnSpc>
              <a:buSzPct val="100000"/>
              <a:buChar char="•"/>
            </a:pPr>
            <a:r>
              <a:rPr lang="en-US" sz="1650" dirty="0">
                <a:solidFill>
                  <a:srgbClr val="FFFFFF"/>
                </a:solidFill>
                <a:latin typeface="Calibri" pitchFamily="34" charset="0"/>
                <a:ea typeface="Calibri" pitchFamily="34" charset="-122"/>
                <a:cs typeface="Calibri" pitchFamily="34" charset="-120"/>
              </a:rPr>
              <a:t>Non tutti gli item types sono supportati dalle deployment pipeline: la copertura è ancora parziale</a:t>
            </a:r>
            <a:endParaRPr lang="en-US" sz="1650" dirty="0"/>
          </a:p>
          <a:p>
            <a:pPr marL="342900" indent="-342900" algn="l">
              <a:lnSpc>
                <a:spcPts val="2550"/>
              </a:lnSpc>
              <a:buSzPct val="100000"/>
              <a:buChar char="•"/>
            </a:pPr>
            <a:r>
              <a:rPr lang="en-US" sz="1650" dirty="0">
                <a:solidFill>
                  <a:srgbClr val="FFFFFF"/>
                </a:solidFill>
                <a:latin typeface="Calibri" pitchFamily="34" charset="0"/>
                <a:ea typeface="Calibri" pitchFamily="34" charset="-122"/>
                <a:cs typeface="Calibri" pitchFamily="34" charset="-120"/>
              </a:rPr>
              <a:t>Le environment variables sono la risposta Microsoft a questo gap, ma sono anch'esse in evoluzione</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376" y="650796"/>
            <a:ext cx="6960989" cy="642342"/>
          </a:xfrm>
          <a:prstGeom prst="rect">
            <a:avLst/>
          </a:prstGeom>
          <a:noFill/>
          <a:ln/>
        </p:spPr>
        <p:txBody>
          <a:bodyPr wrap="none" lIns="0" tIns="0" rIns="0" bIns="0" rtlCol="0" anchor="t"/>
          <a:lstStyle/>
          <a:p>
            <a:pPr marL="0" indent="0" algn="l">
              <a:lnSpc>
                <a:spcPts val="5050"/>
              </a:lnSpc>
              <a:buNone/>
            </a:pPr>
            <a:r>
              <a:rPr lang="en-US" sz="4000" b="1" dirty="0">
                <a:solidFill>
                  <a:srgbClr val="443728"/>
                </a:solidFill>
                <a:latin typeface="Cambria" pitchFamily="34" charset="0"/>
                <a:ea typeface="Cambria" pitchFamily="34" charset="-122"/>
                <a:cs typeface="Cambria" pitchFamily="34" charset="-120"/>
              </a:rPr>
              <a:t>Testing: TE BPA &amp; PBI Inspector</a:t>
            </a:r>
            <a:endParaRPr lang="en-US" sz="4000" dirty="0"/>
          </a:p>
        </p:txBody>
      </p:sp>
      <p:sp>
        <p:nvSpPr>
          <p:cNvPr id="3" name="Text 1"/>
          <p:cNvSpPr/>
          <p:nvPr/>
        </p:nvSpPr>
        <p:spPr>
          <a:xfrm>
            <a:off x="719376" y="1665684"/>
            <a:ext cx="13191649" cy="626983"/>
          </a:xfrm>
          <a:prstGeom prst="rect">
            <a:avLst/>
          </a:prstGeom>
          <a:noFill/>
          <a:ln/>
        </p:spPr>
        <p:txBody>
          <a:bodyPr wrap="square" lIns="0" tIns="0" rIns="0" bIns="0" rtlCol="0" anchor="t"/>
          <a:lstStyle/>
          <a:p>
            <a:pPr marL="0" indent="0" algn="l">
              <a:lnSpc>
                <a:spcPts val="2450"/>
              </a:lnSpc>
              <a:buNone/>
            </a:pPr>
            <a:r>
              <a:rPr lang="en-US" sz="1600" dirty="0">
                <a:solidFill>
                  <a:srgbClr val="443728"/>
                </a:solidFill>
                <a:latin typeface="Calibri" pitchFamily="34" charset="0"/>
                <a:ea typeface="Calibri" pitchFamily="34" charset="-122"/>
                <a:cs typeface="Calibri" pitchFamily="34" charset="-120"/>
              </a:rPr>
              <a:t>Promuovere codice non validato tra ambienti è un rischio. Due strumenti open source permettono di automatizzare quality gate sul codice Power BI.</a:t>
            </a:r>
            <a:endParaRPr lang="en-US" sz="1600" dirty="0"/>
          </a:p>
        </p:txBody>
      </p:sp>
      <p:sp>
        <p:nvSpPr>
          <p:cNvPr id="4" name="Text 2"/>
          <p:cNvSpPr/>
          <p:nvPr/>
        </p:nvSpPr>
        <p:spPr>
          <a:xfrm>
            <a:off x="719376" y="2688431"/>
            <a:ext cx="4427458"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Tabular Editor BPA per i Semantic Model</a:t>
            </a:r>
            <a:endParaRPr lang="en-US" sz="2000" dirty="0"/>
          </a:p>
        </p:txBody>
      </p:sp>
      <p:sp>
        <p:nvSpPr>
          <p:cNvPr id="5" name="Text 3"/>
          <p:cNvSpPr/>
          <p:nvPr/>
        </p:nvSpPr>
        <p:spPr>
          <a:xfrm>
            <a:off x="719376" y="3195757"/>
            <a:ext cx="6345079" cy="2389823"/>
          </a:xfrm>
          <a:prstGeom prst="rect">
            <a:avLst/>
          </a:prstGeom>
          <a:noFill/>
          <a:ln/>
        </p:spPr>
        <p:txBody>
          <a:bodyPr wrap="square" lIns="0" tIns="0" rIns="0" bIns="0" rtlCol="0" anchor="t"/>
          <a:lstStyle/>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Analizza i file TMDL rispetto a un set di regole configurabili</a:t>
            </a:r>
            <a:endParaRPr lang="en-US" sz="1600" dirty="0"/>
          </a:p>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Categorie: performance, espressioni DAX, naming convention, manutenzione</a:t>
            </a:r>
            <a:endParaRPr lang="en-US" sz="1600" dirty="0"/>
          </a:p>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Oltre 60 regole standard disponibili, completamente personalizzabili</a:t>
            </a:r>
            <a:endParaRPr lang="en-US" sz="1600" dirty="0"/>
          </a:p>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Integrato in Azure DevOps come pipeline YAML triggerata su PR</a:t>
            </a:r>
            <a:endParaRPr lang="en-US" sz="1600" dirty="0"/>
          </a:p>
        </p:txBody>
      </p:sp>
      <p:sp>
        <p:nvSpPr>
          <p:cNvPr id="7" name="Text 5"/>
          <p:cNvSpPr/>
          <p:nvPr/>
        </p:nvSpPr>
        <p:spPr>
          <a:xfrm>
            <a:off x="7573566" y="2688431"/>
            <a:ext cx="3131463"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PBI Inspector V2 per i Report</a:t>
            </a:r>
            <a:endParaRPr lang="en-US" sz="2000" dirty="0"/>
          </a:p>
        </p:txBody>
      </p:sp>
      <p:sp>
        <p:nvSpPr>
          <p:cNvPr id="8" name="Text 6"/>
          <p:cNvSpPr/>
          <p:nvPr/>
        </p:nvSpPr>
        <p:spPr>
          <a:xfrm>
            <a:off x="7573566" y="3195757"/>
            <a:ext cx="6345079" cy="1697712"/>
          </a:xfrm>
          <a:prstGeom prst="rect">
            <a:avLst/>
          </a:prstGeom>
          <a:noFill/>
          <a:ln/>
        </p:spPr>
        <p:txBody>
          <a:bodyPr wrap="square" lIns="0" tIns="0" rIns="0" bIns="0" rtlCol="0" anchor="t"/>
          <a:lstStyle/>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Analizza i file PBIR rispetto a regole personalizzabili</a:t>
            </a:r>
            <a:endParaRPr lang="en-US" sz="1600" dirty="0"/>
          </a:p>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Controlla: visual per pagina, campi per visual, uso del tema, accessibilità</a:t>
            </a:r>
            <a:endParaRPr lang="en-US" sz="1600" dirty="0"/>
          </a:p>
          <a:p>
            <a:pPr marL="342900" indent="-342900" algn="l">
              <a:lnSpc>
                <a:spcPts val="2450"/>
              </a:lnSpc>
              <a:buSzPct val="100000"/>
              <a:buChar char="•"/>
            </a:pPr>
            <a:r>
              <a:rPr lang="en-US" sz="1600" dirty="0">
                <a:solidFill>
                  <a:srgbClr val="443728"/>
                </a:solidFill>
                <a:latin typeface="Calibri" pitchFamily="34" charset="0"/>
                <a:ea typeface="Calibri" pitchFamily="34" charset="-122"/>
                <a:cs typeface="Calibri" pitchFamily="34" charset="-120"/>
              </a:rPr>
              <a:t>Integrato in Azure DevOps come pipeline YAML triggerata su PR</a:t>
            </a:r>
            <a:endParaRPr lang="en-US" sz="1600" dirty="0"/>
          </a:p>
        </p:txBody>
      </p:sp>
      <p:sp>
        <p:nvSpPr>
          <p:cNvPr id="10" name="Shape 8"/>
          <p:cNvSpPr/>
          <p:nvPr/>
        </p:nvSpPr>
        <p:spPr>
          <a:xfrm>
            <a:off x="719375" y="5566053"/>
            <a:ext cx="13191649" cy="1134904"/>
          </a:xfrm>
          <a:prstGeom prst="roundRect">
            <a:avLst>
              <a:gd name="adj" fmla="val 7607"/>
            </a:avLst>
          </a:prstGeom>
          <a:solidFill>
            <a:srgbClr val="E1D4D0"/>
          </a:solidFill>
          <a:ln/>
        </p:spPr>
        <p:txBody>
          <a:bodyPr/>
          <a:lstStyle/>
          <a:p>
            <a:endParaRPr lang="en-GB"/>
          </a:p>
        </p:txBody>
      </p:sp>
      <p:pic>
        <p:nvPicPr>
          <p:cNvPr id="11" name="Image 0" descr="preencoded.png"/>
          <p:cNvPicPr>
            <a:picLocks noChangeAspect="1"/>
          </p:cNvPicPr>
          <p:nvPr/>
        </p:nvPicPr>
        <p:blipFill>
          <a:blip r:embed="rId3"/>
          <a:stretch>
            <a:fillRect/>
          </a:stretch>
        </p:blipFill>
        <p:spPr>
          <a:xfrm>
            <a:off x="947467" y="5940940"/>
            <a:ext cx="256937" cy="205502"/>
          </a:xfrm>
          <a:prstGeom prst="rect">
            <a:avLst/>
          </a:prstGeom>
        </p:spPr>
      </p:pic>
      <p:sp>
        <p:nvSpPr>
          <p:cNvPr id="12" name="Text 9"/>
          <p:cNvSpPr/>
          <p:nvPr/>
        </p:nvSpPr>
        <p:spPr>
          <a:xfrm>
            <a:off x="1414463" y="5908141"/>
            <a:ext cx="12318206" cy="626983"/>
          </a:xfrm>
          <a:prstGeom prst="rect">
            <a:avLst/>
          </a:prstGeom>
          <a:noFill/>
          <a:ln/>
        </p:spPr>
        <p:txBody>
          <a:bodyPr wrap="square" lIns="0" tIns="0" rIns="0" bIns="0" rtlCol="0" anchor="t"/>
          <a:lstStyle/>
          <a:p>
            <a:pPr marL="0" indent="0" algn="l">
              <a:lnSpc>
                <a:spcPts val="2450"/>
              </a:lnSpc>
              <a:buNone/>
            </a:pPr>
            <a:r>
              <a:rPr lang="en-US" sz="1600" b="1" dirty="0">
                <a:solidFill>
                  <a:srgbClr val="000000"/>
                </a:solidFill>
                <a:latin typeface="Calibri" pitchFamily="34" charset="0"/>
                <a:ea typeface="Calibri" pitchFamily="34" charset="-122"/>
                <a:cs typeface="Calibri" pitchFamily="34" charset="-120"/>
              </a:rPr>
              <a:t>Il Pattern di Quality Gate:</a:t>
            </a:r>
            <a:r>
              <a:rPr lang="en-US" sz="1600" dirty="0">
                <a:solidFill>
                  <a:srgbClr val="000000"/>
                </a:solidFill>
                <a:latin typeface="Calibri" pitchFamily="34" charset="0"/>
                <a:ea typeface="Calibri" pitchFamily="34" charset="-122"/>
                <a:cs typeface="Calibri" pitchFamily="34" charset="-120"/>
              </a:rPr>
              <a:t> Feature branch → PR su main → pipeline ADO esegue BPA + PBI Inspector → se fallisce, il merge è bloccato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06993" y="558998"/>
            <a:ext cx="10071854" cy="631269"/>
          </a:xfrm>
          <a:prstGeom prst="rect">
            <a:avLst/>
          </a:prstGeom>
          <a:noFill/>
          <a:ln/>
        </p:spPr>
        <p:txBody>
          <a:bodyPr wrap="none" lIns="0" tIns="0" rIns="0" bIns="0" rtlCol="0" anchor="t"/>
          <a:lstStyle/>
          <a:p>
            <a:pPr marL="0" indent="0" algn="l">
              <a:lnSpc>
                <a:spcPts val="4950"/>
              </a:lnSpc>
              <a:buNone/>
            </a:pPr>
            <a:r>
              <a:rPr lang="en-US" sz="3950" b="1" dirty="0">
                <a:solidFill>
                  <a:srgbClr val="443728"/>
                </a:solidFill>
                <a:latin typeface="Cambria" pitchFamily="34" charset="0"/>
                <a:ea typeface="Cambria" pitchFamily="34" charset="-122"/>
                <a:cs typeface="Cambria" pitchFamily="34" charset="-120"/>
              </a:rPr>
              <a:t>Gotchas: Cose Imparate nell'Esperienza Pratica</a:t>
            </a:r>
            <a:endParaRPr lang="en-US" sz="3950" dirty="0"/>
          </a:p>
        </p:txBody>
      </p:sp>
      <p:sp>
        <p:nvSpPr>
          <p:cNvPr id="3" name="Text 1"/>
          <p:cNvSpPr/>
          <p:nvPr/>
        </p:nvSpPr>
        <p:spPr>
          <a:xfrm>
            <a:off x="706993" y="1550075"/>
            <a:ext cx="13216414" cy="305514"/>
          </a:xfrm>
          <a:prstGeom prst="rect">
            <a:avLst/>
          </a:prstGeom>
          <a:noFill/>
          <a:ln/>
        </p:spPr>
        <p:txBody>
          <a:bodyPr wrap="none" lIns="0" tIns="0" rIns="0" bIns="0" rtlCol="0" anchor="t"/>
          <a:lstStyle/>
          <a:p>
            <a:pPr marL="0" indent="0" algn="l">
              <a:lnSpc>
                <a:spcPts val="2400"/>
              </a:lnSpc>
              <a:buNone/>
            </a:pPr>
            <a:r>
              <a:rPr lang="en-US" sz="1550" dirty="0">
                <a:solidFill>
                  <a:srgbClr val="443728"/>
                </a:solidFill>
                <a:latin typeface="Calibri" pitchFamily="34" charset="0"/>
                <a:ea typeface="Calibri" pitchFamily="34" charset="-122"/>
                <a:cs typeface="Calibri" pitchFamily="34" charset="-120"/>
              </a:rPr>
              <a:t>Lavorare con gli strumenti nativi di Fabric per il DevOps rivela alcune insidie non documentate che è utile </a:t>
            </a:r>
            <a:r>
              <a:rPr lang="en-US" sz="1550" dirty="0" err="1">
                <a:solidFill>
                  <a:srgbClr val="443728"/>
                </a:solidFill>
                <a:latin typeface="Calibri" pitchFamily="34" charset="0"/>
                <a:ea typeface="Calibri" pitchFamily="34" charset="-122"/>
                <a:cs typeface="Calibri" pitchFamily="34" charset="-120"/>
              </a:rPr>
              <a:t>conoscere</a:t>
            </a:r>
            <a:r>
              <a:rPr lang="en-US" sz="1550" dirty="0">
                <a:solidFill>
                  <a:srgbClr val="443728"/>
                </a:solidFill>
                <a:latin typeface="Calibri" pitchFamily="34" charset="0"/>
                <a:ea typeface="Calibri" pitchFamily="34" charset="-122"/>
                <a:cs typeface="Calibri" pitchFamily="34" charset="-120"/>
              </a:rPr>
              <a:t>.</a:t>
            </a:r>
            <a:endParaRPr lang="en-US" sz="1550" dirty="0"/>
          </a:p>
        </p:txBody>
      </p:sp>
      <p:sp>
        <p:nvSpPr>
          <p:cNvPr id="4" name="Shape 2"/>
          <p:cNvSpPr/>
          <p:nvPr/>
        </p:nvSpPr>
        <p:spPr>
          <a:xfrm>
            <a:off x="706993" y="2057995"/>
            <a:ext cx="4285536" cy="2410778"/>
          </a:xfrm>
          <a:prstGeom prst="roundRect">
            <a:avLst>
              <a:gd name="adj" fmla="val 4552"/>
            </a:avLst>
          </a:prstGeom>
          <a:solidFill>
            <a:srgbClr val="FFFCFA"/>
          </a:solidFill>
          <a:ln w="22860">
            <a:solidFill>
              <a:srgbClr val="D1C8C6"/>
            </a:solidFill>
            <a:prstDash val="solid"/>
          </a:ln>
        </p:spPr>
        <p:txBody>
          <a:bodyPr/>
          <a:lstStyle/>
          <a:p>
            <a:endParaRPr lang="en-GB"/>
          </a:p>
        </p:txBody>
      </p:sp>
      <p:sp>
        <p:nvSpPr>
          <p:cNvPr id="5" name="Shape 3"/>
          <p:cNvSpPr/>
          <p:nvPr/>
        </p:nvSpPr>
        <p:spPr>
          <a:xfrm>
            <a:off x="684133" y="2057995"/>
            <a:ext cx="91440" cy="2410778"/>
          </a:xfrm>
          <a:prstGeom prst="roundRect">
            <a:avLst>
              <a:gd name="adj" fmla="val 92791"/>
            </a:avLst>
          </a:prstGeom>
          <a:solidFill>
            <a:srgbClr val="835E54"/>
          </a:solidFill>
          <a:ln/>
        </p:spPr>
        <p:txBody>
          <a:bodyPr/>
          <a:lstStyle/>
          <a:p>
            <a:endParaRPr lang="en-GB"/>
          </a:p>
        </p:txBody>
      </p:sp>
      <p:sp>
        <p:nvSpPr>
          <p:cNvPr id="6" name="Text 4"/>
          <p:cNvSpPr/>
          <p:nvPr/>
        </p:nvSpPr>
        <p:spPr>
          <a:xfrm>
            <a:off x="1000363" y="2282785"/>
            <a:ext cx="3767376" cy="631269"/>
          </a:xfrm>
          <a:prstGeom prst="rect">
            <a:avLst/>
          </a:prstGeom>
          <a:noFill/>
          <a:ln/>
        </p:spPr>
        <p:txBody>
          <a:bodyPr wrap="square" lIns="0" tIns="0" rIns="0" bIns="0" rtlCol="0" anchor="t"/>
          <a:lstStyle/>
          <a:p>
            <a:pPr marL="0" indent="0" algn="l">
              <a:lnSpc>
                <a:spcPts val="2450"/>
              </a:lnSpc>
              <a:buNone/>
            </a:pPr>
            <a:r>
              <a:rPr lang="en-US" sz="1950" b="1" dirty="0">
                <a:solidFill>
                  <a:srgbClr val="000000"/>
                </a:solidFill>
                <a:latin typeface="Cambria" pitchFamily="34" charset="0"/>
                <a:ea typeface="Cambria" pitchFamily="34" charset="-122"/>
                <a:cs typeface="Cambria" pitchFamily="34" charset="-120"/>
              </a:rPr>
              <a:t>🔄</a:t>
            </a:r>
            <a:r>
              <a:rPr lang="en-US" sz="1950" b="1" dirty="0">
                <a:solidFill>
                  <a:srgbClr val="443728"/>
                </a:solidFill>
                <a:latin typeface="Cambria" pitchFamily="34" charset="0"/>
                <a:ea typeface="Cambria" pitchFamily="34" charset="-122"/>
                <a:cs typeface="Cambria" pitchFamily="34" charset="-120"/>
              </a:rPr>
              <a:t> Aggiornamento manuale dopo il merge</a:t>
            </a:r>
            <a:endParaRPr lang="en-US" sz="1950" dirty="0"/>
          </a:p>
        </p:txBody>
      </p:sp>
      <p:sp>
        <p:nvSpPr>
          <p:cNvPr id="7" name="Text 5"/>
          <p:cNvSpPr/>
          <p:nvPr/>
        </p:nvSpPr>
        <p:spPr>
          <a:xfrm>
            <a:off x="1000363" y="3021925"/>
            <a:ext cx="3767376" cy="916543"/>
          </a:xfrm>
          <a:prstGeom prst="rect">
            <a:avLst/>
          </a:prstGeom>
          <a:noFill/>
          <a:ln/>
        </p:spPr>
        <p:txBody>
          <a:bodyPr wrap="square" lIns="0" tIns="0" rIns="0" bIns="0" rtlCol="0" anchor="t"/>
          <a:lstStyle/>
          <a:p>
            <a:pPr marL="0" indent="0" algn="l">
              <a:lnSpc>
                <a:spcPts val="2400"/>
              </a:lnSpc>
              <a:buNone/>
            </a:pPr>
            <a:r>
              <a:rPr lang="en-US" sz="1550" dirty="0">
                <a:solidFill>
                  <a:srgbClr val="443728"/>
                </a:solidFill>
                <a:latin typeface="Calibri" pitchFamily="34" charset="0"/>
                <a:ea typeface="Calibri" pitchFamily="34" charset="-122"/>
                <a:cs typeface="Calibri" pitchFamily="34" charset="-120"/>
              </a:rPr>
              <a:t>Il workspace </a:t>
            </a:r>
            <a:r>
              <a:rPr lang="en-US" sz="1550" dirty="0" err="1">
                <a:solidFill>
                  <a:srgbClr val="443728"/>
                </a:solidFill>
                <a:latin typeface="Calibri" pitchFamily="34" charset="0"/>
                <a:ea typeface="Calibri" pitchFamily="34" charset="-122"/>
                <a:cs typeface="Calibri" pitchFamily="34" charset="-120"/>
              </a:rPr>
              <a:t>va</a:t>
            </a:r>
            <a:r>
              <a:rPr lang="en-US" sz="1550" dirty="0">
                <a:solidFill>
                  <a:srgbClr val="443728"/>
                </a:solidFill>
                <a:latin typeface="Calibri" pitchFamily="34" charset="0"/>
                <a:ea typeface="Calibri" pitchFamily="34" charset="-122"/>
                <a:cs typeface="Calibri" pitchFamily="34" charset="-120"/>
              </a:rPr>
              <a:t> sempre </a:t>
            </a:r>
            <a:r>
              <a:rPr lang="en-US" sz="1550" dirty="0" err="1">
                <a:solidFill>
                  <a:srgbClr val="443728"/>
                </a:solidFill>
                <a:latin typeface="Calibri" pitchFamily="34" charset="0"/>
                <a:ea typeface="Calibri" pitchFamily="34" charset="-122"/>
                <a:cs typeface="Calibri" pitchFamily="34" charset="-120"/>
              </a:rPr>
              <a:t>sincronizzato</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quando</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fai</a:t>
            </a:r>
            <a:r>
              <a:rPr lang="en-US" sz="1550" dirty="0">
                <a:solidFill>
                  <a:srgbClr val="443728"/>
                </a:solidFill>
                <a:latin typeface="Calibri" pitchFamily="34" charset="0"/>
                <a:ea typeface="Calibri" pitchFamily="34" charset="-122"/>
                <a:cs typeface="Calibri" pitchFamily="34" charset="-120"/>
              </a:rPr>
              <a:t> merge </a:t>
            </a:r>
            <a:r>
              <a:rPr lang="en-US" sz="1550" dirty="0" err="1">
                <a:solidFill>
                  <a:srgbClr val="443728"/>
                </a:solidFill>
                <a:latin typeface="Calibri" pitchFamily="34" charset="0"/>
                <a:ea typeface="Calibri" pitchFamily="34" charset="-122"/>
                <a:cs typeface="Calibri" pitchFamily="34" charset="-120"/>
              </a:rPr>
              <a:t>su</a:t>
            </a:r>
            <a:r>
              <a:rPr lang="en-US" sz="1550" dirty="0">
                <a:solidFill>
                  <a:srgbClr val="443728"/>
                </a:solidFill>
                <a:latin typeface="Calibri" pitchFamily="34" charset="0"/>
                <a:ea typeface="Calibri" pitchFamily="34" charset="-122"/>
                <a:cs typeface="Calibri" pitchFamily="34" charset="-120"/>
              </a:rPr>
              <a:t> main.</a:t>
            </a:r>
            <a:endParaRPr lang="en-US" sz="1550" dirty="0"/>
          </a:p>
        </p:txBody>
      </p:sp>
      <p:sp>
        <p:nvSpPr>
          <p:cNvPr id="8" name="Shape 6"/>
          <p:cNvSpPr/>
          <p:nvPr/>
        </p:nvSpPr>
        <p:spPr>
          <a:xfrm>
            <a:off x="5172432" y="2057995"/>
            <a:ext cx="4285536" cy="2410778"/>
          </a:xfrm>
          <a:prstGeom prst="roundRect">
            <a:avLst>
              <a:gd name="adj" fmla="val 4552"/>
            </a:avLst>
          </a:prstGeom>
          <a:solidFill>
            <a:srgbClr val="FFFCFA"/>
          </a:solidFill>
          <a:ln w="22860">
            <a:solidFill>
              <a:srgbClr val="D1C8C6"/>
            </a:solidFill>
            <a:prstDash val="solid"/>
          </a:ln>
        </p:spPr>
        <p:txBody>
          <a:bodyPr/>
          <a:lstStyle/>
          <a:p>
            <a:endParaRPr lang="en-GB"/>
          </a:p>
        </p:txBody>
      </p:sp>
      <p:sp>
        <p:nvSpPr>
          <p:cNvPr id="9" name="Shape 7"/>
          <p:cNvSpPr/>
          <p:nvPr/>
        </p:nvSpPr>
        <p:spPr>
          <a:xfrm>
            <a:off x="5149572" y="2057995"/>
            <a:ext cx="91440" cy="2410778"/>
          </a:xfrm>
          <a:prstGeom prst="roundRect">
            <a:avLst>
              <a:gd name="adj" fmla="val 92791"/>
            </a:avLst>
          </a:prstGeom>
          <a:solidFill>
            <a:srgbClr val="835E54"/>
          </a:solidFill>
          <a:ln/>
        </p:spPr>
        <p:txBody>
          <a:bodyPr/>
          <a:lstStyle/>
          <a:p>
            <a:endParaRPr lang="en-GB"/>
          </a:p>
        </p:txBody>
      </p:sp>
      <p:sp>
        <p:nvSpPr>
          <p:cNvPr id="10" name="Text 8"/>
          <p:cNvSpPr/>
          <p:nvPr/>
        </p:nvSpPr>
        <p:spPr>
          <a:xfrm>
            <a:off x="5465802" y="2282785"/>
            <a:ext cx="3110865" cy="315635"/>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Cambria" pitchFamily="34" charset="0"/>
                <a:ea typeface="Cambria" pitchFamily="34" charset="-122"/>
                <a:cs typeface="Cambria" pitchFamily="34" charset="-120"/>
              </a:rPr>
              <a:t>🔐</a:t>
            </a:r>
            <a:r>
              <a:rPr lang="en-US" sz="1950" b="1" dirty="0">
                <a:solidFill>
                  <a:srgbClr val="443728"/>
                </a:solidFill>
                <a:latin typeface="Cambria" pitchFamily="34" charset="0"/>
                <a:ea typeface="Cambria" pitchFamily="34" charset="-122"/>
                <a:cs typeface="Cambria" pitchFamily="34" charset="-120"/>
              </a:rPr>
              <a:t> Permessi per il Branchout</a:t>
            </a:r>
            <a:endParaRPr lang="en-US" sz="1950" dirty="0"/>
          </a:p>
        </p:txBody>
      </p:sp>
      <p:sp>
        <p:nvSpPr>
          <p:cNvPr id="11" name="Text 9"/>
          <p:cNvSpPr/>
          <p:nvPr/>
        </p:nvSpPr>
        <p:spPr>
          <a:xfrm>
            <a:off x="5465802" y="2706291"/>
            <a:ext cx="3767376" cy="1222058"/>
          </a:xfrm>
          <a:prstGeom prst="rect">
            <a:avLst/>
          </a:prstGeom>
          <a:noFill/>
          <a:ln/>
        </p:spPr>
        <p:txBody>
          <a:bodyPr wrap="square" lIns="0" tIns="0" rIns="0" bIns="0" rtlCol="0" anchor="t"/>
          <a:lstStyle/>
          <a:p>
            <a:pPr marL="0" indent="0" algn="l">
              <a:lnSpc>
                <a:spcPts val="2400"/>
              </a:lnSpc>
              <a:buNone/>
            </a:pPr>
            <a:r>
              <a:rPr lang="en-US" sz="1550" dirty="0">
                <a:solidFill>
                  <a:srgbClr val="443728"/>
                </a:solidFill>
                <a:latin typeface="Calibri" pitchFamily="34" charset="0"/>
                <a:ea typeface="Calibri" pitchFamily="34" charset="-122"/>
                <a:cs typeface="Calibri" pitchFamily="34" charset="-120"/>
              </a:rPr>
              <a:t>Il branchout richiede che ogni dev possa assegnare nuovi WS alla capacità Fabric/Premium (dato che il ws originale è sicuramente sotto capacity). </a:t>
            </a:r>
            <a:endParaRPr lang="en-US" sz="1550" dirty="0"/>
          </a:p>
        </p:txBody>
      </p:sp>
      <p:sp>
        <p:nvSpPr>
          <p:cNvPr id="12" name="Shape 10"/>
          <p:cNvSpPr/>
          <p:nvPr/>
        </p:nvSpPr>
        <p:spPr>
          <a:xfrm>
            <a:off x="9637871" y="2057995"/>
            <a:ext cx="4285536" cy="2410778"/>
          </a:xfrm>
          <a:prstGeom prst="roundRect">
            <a:avLst>
              <a:gd name="adj" fmla="val 4552"/>
            </a:avLst>
          </a:prstGeom>
          <a:solidFill>
            <a:srgbClr val="FFFCFA"/>
          </a:solidFill>
          <a:ln w="22860">
            <a:solidFill>
              <a:srgbClr val="D1C8C6"/>
            </a:solidFill>
            <a:prstDash val="solid"/>
          </a:ln>
        </p:spPr>
        <p:txBody>
          <a:bodyPr/>
          <a:lstStyle/>
          <a:p>
            <a:endParaRPr lang="en-GB"/>
          </a:p>
        </p:txBody>
      </p:sp>
      <p:sp>
        <p:nvSpPr>
          <p:cNvPr id="13" name="Shape 11"/>
          <p:cNvSpPr/>
          <p:nvPr/>
        </p:nvSpPr>
        <p:spPr>
          <a:xfrm>
            <a:off x="9615011" y="2057995"/>
            <a:ext cx="91440" cy="2410778"/>
          </a:xfrm>
          <a:prstGeom prst="roundRect">
            <a:avLst>
              <a:gd name="adj" fmla="val 92791"/>
            </a:avLst>
          </a:prstGeom>
          <a:solidFill>
            <a:srgbClr val="835E54"/>
          </a:solidFill>
          <a:ln/>
        </p:spPr>
        <p:txBody>
          <a:bodyPr/>
          <a:lstStyle/>
          <a:p>
            <a:endParaRPr lang="en-GB"/>
          </a:p>
        </p:txBody>
      </p:sp>
      <p:sp>
        <p:nvSpPr>
          <p:cNvPr id="14" name="Text 12"/>
          <p:cNvSpPr/>
          <p:nvPr/>
        </p:nvSpPr>
        <p:spPr>
          <a:xfrm>
            <a:off x="9931241" y="2282785"/>
            <a:ext cx="3767376" cy="631269"/>
          </a:xfrm>
          <a:prstGeom prst="rect">
            <a:avLst/>
          </a:prstGeom>
          <a:noFill/>
          <a:ln/>
        </p:spPr>
        <p:txBody>
          <a:bodyPr wrap="square" lIns="0" tIns="0" rIns="0" bIns="0" rtlCol="0" anchor="t"/>
          <a:lstStyle/>
          <a:p>
            <a:pPr marL="0" indent="0" algn="l">
              <a:lnSpc>
                <a:spcPts val="2450"/>
              </a:lnSpc>
              <a:buNone/>
            </a:pPr>
            <a:r>
              <a:rPr lang="en-US" sz="1950" b="1" dirty="0">
                <a:solidFill>
                  <a:srgbClr val="000000"/>
                </a:solidFill>
                <a:latin typeface="Cambria" pitchFamily="34" charset="0"/>
                <a:ea typeface="Cambria" pitchFamily="34" charset="-122"/>
                <a:cs typeface="Cambria" pitchFamily="34" charset="-120"/>
              </a:rPr>
              <a:t>📦</a:t>
            </a:r>
            <a:r>
              <a:rPr lang="en-US" sz="1950" b="1" dirty="0">
                <a:solidFill>
                  <a:srgbClr val="443728"/>
                </a:solidFill>
                <a:latin typeface="Cambria" pitchFamily="34" charset="0"/>
                <a:ea typeface="Cambria" pitchFamily="34" charset="-122"/>
                <a:cs typeface="Cambria" pitchFamily="34" charset="-120"/>
              </a:rPr>
              <a:t> Copertura parziale delle Deployment Pipeline</a:t>
            </a:r>
            <a:endParaRPr lang="en-US" sz="1950" dirty="0"/>
          </a:p>
        </p:txBody>
      </p:sp>
      <p:sp>
        <p:nvSpPr>
          <p:cNvPr id="15" name="Text 13"/>
          <p:cNvSpPr/>
          <p:nvPr/>
        </p:nvSpPr>
        <p:spPr>
          <a:xfrm>
            <a:off x="9931241" y="3021925"/>
            <a:ext cx="3767376" cy="1222058"/>
          </a:xfrm>
          <a:prstGeom prst="rect">
            <a:avLst/>
          </a:prstGeom>
          <a:noFill/>
          <a:ln/>
        </p:spPr>
        <p:txBody>
          <a:bodyPr wrap="square" lIns="0" tIns="0" rIns="0" bIns="0" rtlCol="0" anchor="t"/>
          <a:lstStyle/>
          <a:p>
            <a:pPr marL="0" indent="0" algn="l">
              <a:lnSpc>
                <a:spcPts val="2400"/>
              </a:lnSpc>
              <a:buNone/>
            </a:pPr>
            <a:r>
              <a:rPr lang="en-US" sz="1550" dirty="0">
                <a:solidFill>
                  <a:srgbClr val="443728"/>
                </a:solidFill>
                <a:latin typeface="Calibri" pitchFamily="34" charset="0"/>
                <a:ea typeface="Calibri" pitchFamily="34" charset="-122"/>
                <a:cs typeface="Calibri" pitchFamily="34" charset="-120"/>
              </a:rPr>
              <a:t>Non tutti gli item types </a:t>
            </a:r>
            <a:r>
              <a:rPr lang="en-US" sz="1550" dirty="0" err="1">
                <a:solidFill>
                  <a:srgbClr val="443728"/>
                </a:solidFill>
                <a:latin typeface="Calibri" pitchFamily="34" charset="0"/>
                <a:ea typeface="Calibri" pitchFamily="34" charset="-122"/>
                <a:cs typeface="Calibri" pitchFamily="34" charset="-120"/>
              </a:rPr>
              <a:t>sono</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supportati</a:t>
            </a:r>
            <a:r>
              <a:rPr lang="en-US" sz="1550" dirty="0">
                <a:solidFill>
                  <a:srgbClr val="443728"/>
                </a:solidFill>
                <a:latin typeface="Calibri" pitchFamily="34" charset="0"/>
                <a:ea typeface="Calibri" pitchFamily="34" charset="-122"/>
                <a:cs typeface="Calibri" pitchFamily="34" charset="-120"/>
              </a:rPr>
              <a:t>, e vi </a:t>
            </a:r>
            <a:r>
              <a:rPr lang="en-US" sz="1550" dirty="0" err="1">
                <a:solidFill>
                  <a:srgbClr val="443728"/>
                </a:solidFill>
                <a:latin typeface="Calibri" pitchFamily="34" charset="0"/>
                <a:ea typeface="Calibri" pitchFamily="34" charset="-122"/>
                <a:cs typeface="Calibri" pitchFamily="34" charset="-120"/>
              </a:rPr>
              <a:t>sono</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limitazioni</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anche</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all’interno</a:t>
            </a:r>
            <a:r>
              <a:rPr lang="en-US" sz="1550" dirty="0">
                <a:solidFill>
                  <a:srgbClr val="443728"/>
                </a:solidFill>
                <a:latin typeface="Calibri" pitchFamily="34" charset="0"/>
                <a:ea typeface="Calibri" pitchFamily="34" charset="-122"/>
                <a:cs typeface="Calibri" pitchFamily="34" charset="-120"/>
              </a:rPr>
              <a:t> degli </a:t>
            </a:r>
            <a:r>
              <a:rPr lang="en-US" sz="1550" dirty="0" err="1">
                <a:solidFill>
                  <a:srgbClr val="443728"/>
                </a:solidFill>
                <a:latin typeface="Calibri" pitchFamily="34" charset="0"/>
                <a:ea typeface="Calibri" pitchFamily="34" charset="-122"/>
                <a:cs typeface="Calibri" pitchFamily="34" charset="-120"/>
              </a:rPr>
              <a:t>stessi</a:t>
            </a:r>
            <a:r>
              <a:rPr lang="en-US" sz="1550" dirty="0">
                <a:solidFill>
                  <a:srgbClr val="443728"/>
                </a:solidFill>
                <a:latin typeface="Calibri" pitchFamily="34" charset="0"/>
                <a:ea typeface="Calibri" pitchFamily="34" charset="-122"/>
                <a:cs typeface="Calibri" pitchFamily="34" charset="-120"/>
              </a:rPr>
              <a:t> item types (es: </a:t>
            </a:r>
            <a:r>
              <a:rPr lang="en-US" sz="1550" dirty="0" err="1">
                <a:solidFill>
                  <a:srgbClr val="443728"/>
                </a:solidFill>
                <a:latin typeface="Calibri" pitchFamily="34" charset="0"/>
                <a:ea typeface="Calibri" pitchFamily="34" charset="-122"/>
                <a:cs typeface="Calibri" pitchFamily="34" charset="-120"/>
              </a:rPr>
              <a:t>specifiche</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datasource</a:t>
            </a:r>
            <a:r>
              <a:rPr lang="en-US" sz="1550" dirty="0">
                <a:solidFill>
                  <a:srgbClr val="443728"/>
                </a:solidFill>
                <a:latin typeface="Calibri" pitchFamily="34" charset="0"/>
                <a:ea typeface="Calibri" pitchFamily="34" charset="-122"/>
                <a:cs typeface="Calibri" pitchFamily="34" charset="-120"/>
              </a:rPr>
              <a:t>)</a:t>
            </a:r>
            <a:endParaRPr lang="en-US" sz="1550" dirty="0"/>
          </a:p>
        </p:txBody>
      </p:sp>
      <p:sp>
        <p:nvSpPr>
          <p:cNvPr id="16" name="Shape 14"/>
          <p:cNvSpPr/>
          <p:nvPr/>
        </p:nvSpPr>
        <p:spPr>
          <a:xfrm>
            <a:off x="706993" y="4648676"/>
            <a:ext cx="4285536" cy="2030849"/>
          </a:xfrm>
          <a:prstGeom prst="roundRect">
            <a:avLst>
              <a:gd name="adj" fmla="val 3631"/>
            </a:avLst>
          </a:prstGeom>
          <a:solidFill>
            <a:srgbClr val="FFFCFA"/>
          </a:solidFill>
          <a:ln w="22860">
            <a:solidFill>
              <a:srgbClr val="D1C8C6"/>
            </a:solidFill>
            <a:prstDash val="solid"/>
          </a:ln>
        </p:spPr>
        <p:txBody>
          <a:bodyPr/>
          <a:lstStyle/>
          <a:p>
            <a:endParaRPr lang="en-GB"/>
          </a:p>
        </p:txBody>
      </p:sp>
      <p:sp>
        <p:nvSpPr>
          <p:cNvPr id="17" name="Shape 15"/>
          <p:cNvSpPr/>
          <p:nvPr/>
        </p:nvSpPr>
        <p:spPr>
          <a:xfrm>
            <a:off x="684133" y="4648676"/>
            <a:ext cx="91440" cy="2030849"/>
          </a:xfrm>
          <a:prstGeom prst="roundRect">
            <a:avLst>
              <a:gd name="adj" fmla="val 92791"/>
            </a:avLst>
          </a:prstGeom>
          <a:solidFill>
            <a:srgbClr val="835E54"/>
          </a:solidFill>
          <a:ln/>
        </p:spPr>
        <p:txBody>
          <a:bodyPr/>
          <a:lstStyle/>
          <a:p>
            <a:endParaRPr lang="en-GB"/>
          </a:p>
        </p:txBody>
      </p:sp>
      <p:sp>
        <p:nvSpPr>
          <p:cNvPr id="18" name="Text 16"/>
          <p:cNvSpPr/>
          <p:nvPr/>
        </p:nvSpPr>
        <p:spPr>
          <a:xfrm>
            <a:off x="1000363" y="4873466"/>
            <a:ext cx="3767376" cy="631269"/>
          </a:xfrm>
          <a:prstGeom prst="rect">
            <a:avLst/>
          </a:prstGeom>
          <a:noFill/>
          <a:ln/>
        </p:spPr>
        <p:txBody>
          <a:bodyPr wrap="square" lIns="0" tIns="0" rIns="0" bIns="0" rtlCol="0" anchor="t"/>
          <a:lstStyle/>
          <a:p>
            <a:pPr marL="0" indent="0" algn="l">
              <a:lnSpc>
                <a:spcPts val="2450"/>
              </a:lnSpc>
              <a:buNone/>
            </a:pPr>
            <a:r>
              <a:rPr lang="en-US" sz="1950" b="1" dirty="0">
                <a:solidFill>
                  <a:srgbClr val="000000"/>
                </a:solidFill>
                <a:latin typeface="Cambria" pitchFamily="34" charset="0"/>
                <a:ea typeface="Cambria" pitchFamily="34" charset="-122"/>
                <a:cs typeface="Cambria" pitchFamily="34" charset="-120"/>
              </a:rPr>
              <a:t>🧪</a:t>
            </a:r>
            <a:r>
              <a:rPr lang="en-US" sz="1950" b="1" dirty="0">
                <a:solidFill>
                  <a:srgbClr val="443728"/>
                </a:solidFill>
                <a:latin typeface="Cambria" pitchFamily="34" charset="0"/>
                <a:ea typeface="Cambria" pitchFamily="34" charset="-122"/>
                <a:cs typeface="Cambria" pitchFamily="34" charset="-120"/>
              </a:rPr>
              <a:t> Environment Variables ancora in evoluzione</a:t>
            </a:r>
            <a:endParaRPr lang="en-US" sz="1950" dirty="0"/>
          </a:p>
        </p:txBody>
      </p:sp>
      <p:sp>
        <p:nvSpPr>
          <p:cNvPr id="19" name="Text 17"/>
          <p:cNvSpPr/>
          <p:nvPr/>
        </p:nvSpPr>
        <p:spPr>
          <a:xfrm>
            <a:off x="1000363" y="5612606"/>
            <a:ext cx="3767376" cy="1066919"/>
          </a:xfrm>
          <a:prstGeom prst="rect">
            <a:avLst/>
          </a:prstGeom>
          <a:noFill/>
          <a:ln/>
        </p:spPr>
        <p:txBody>
          <a:bodyPr wrap="square" lIns="0" tIns="0" rIns="0" bIns="0" rtlCol="0" anchor="t"/>
          <a:lstStyle/>
          <a:p>
            <a:pPr marL="0" indent="0" algn="l">
              <a:lnSpc>
                <a:spcPts val="2400"/>
              </a:lnSpc>
              <a:buNone/>
            </a:pPr>
            <a:r>
              <a:rPr lang="en-US" sz="1550" dirty="0">
                <a:solidFill>
                  <a:srgbClr val="443728"/>
                </a:solidFill>
                <a:latin typeface="Calibri" pitchFamily="34" charset="0"/>
                <a:ea typeface="Calibri" pitchFamily="34" charset="-122"/>
                <a:cs typeface="Calibri" pitchFamily="34" charset="-120"/>
              </a:rPr>
              <a:t>La funzionalità è la risposta Microsoft alle limitazioni delle deployment rules, ma è ancora in </a:t>
            </a:r>
            <a:r>
              <a:rPr lang="en-US" sz="1550" dirty="0" err="1">
                <a:solidFill>
                  <a:srgbClr val="443728"/>
                </a:solidFill>
                <a:latin typeface="Calibri" pitchFamily="34" charset="0"/>
                <a:ea typeface="Calibri" pitchFamily="34" charset="-122"/>
                <a:cs typeface="Calibri" pitchFamily="34" charset="-120"/>
              </a:rPr>
              <a:t>evoluzione</a:t>
            </a:r>
            <a:r>
              <a:rPr lang="en-US" sz="1550" dirty="0">
                <a:solidFill>
                  <a:srgbClr val="443728"/>
                </a:solidFill>
                <a:latin typeface="Calibri" pitchFamily="34" charset="0"/>
                <a:ea typeface="Calibri" pitchFamily="34" charset="-122"/>
                <a:cs typeface="Calibri" pitchFamily="34" charset="-120"/>
              </a:rPr>
              <a:t>.</a:t>
            </a:r>
            <a:endParaRPr lang="en-US" sz="1550" dirty="0"/>
          </a:p>
        </p:txBody>
      </p:sp>
      <p:sp>
        <p:nvSpPr>
          <p:cNvPr id="20" name="Shape 18"/>
          <p:cNvSpPr/>
          <p:nvPr/>
        </p:nvSpPr>
        <p:spPr>
          <a:xfrm>
            <a:off x="5172432" y="4648676"/>
            <a:ext cx="4285536" cy="2030849"/>
          </a:xfrm>
          <a:prstGeom prst="roundRect">
            <a:avLst>
              <a:gd name="adj" fmla="val 3631"/>
            </a:avLst>
          </a:prstGeom>
          <a:solidFill>
            <a:srgbClr val="FFFCFA"/>
          </a:solidFill>
          <a:ln w="22860">
            <a:solidFill>
              <a:srgbClr val="D1C8C6"/>
            </a:solidFill>
            <a:prstDash val="solid"/>
          </a:ln>
        </p:spPr>
        <p:txBody>
          <a:bodyPr/>
          <a:lstStyle/>
          <a:p>
            <a:endParaRPr lang="en-GB"/>
          </a:p>
        </p:txBody>
      </p:sp>
      <p:sp>
        <p:nvSpPr>
          <p:cNvPr id="21" name="Shape 19"/>
          <p:cNvSpPr/>
          <p:nvPr/>
        </p:nvSpPr>
        <p:spPr>
          <a:xfrm>
            <a:off x="5149572" y="4648676"/>
            <a:ext cx="91440" cy="2030849"/>
          </a:xfrm>
          <a:prstGeom prst="roundRect">
            <a:avLst>
              <a:gd name="adj" fmla="val 92791"/>
            </a:avLst>
          </a:prstGeom>
          <a:solidFill>
            <a:srgbClr val="835E54"/>
          </a:solidFill>
          <a:ln/>
        </p:spPr>
        <p:txBody>
          <a:bodyPr/>
          <a:lstStyle/>
          <a:p>
            <a:endParaRPr lang="en-GB"/>
          </a:p>
        </p:txBody>
      </p:sp>
      <p:sp>
        <p:nvSpPr>
          <p:cNvPr id="22" name="Text 20"/>
          <p:cNvSpPr/>
          <p:nvPr/>
        </p:nvSpPr>
        <p:spPr>
          <a:xfrm>
            <a:off x="5465802" y="4873466"/>
            <a:ext cx="3767376" cy="631269"/>
          </a:xfrm>
          <a:prstGeom prst="rect">
            <a:avLst/>
          </a:prstGeom>
          <a:noFill/>
          <a:ln/>
        </p:spPr>
        <p:txBody>
          <a:bodyPr wrap="square" lIns="0" tIns="0" rIns="0" bIns="0" rtlCol="0" anchor="t"/>
          <a:lstStyle/>
          <a:p>
            <a:pPr marL="0" indent="0" algn="l">
              <a:lnSpc>
                <a:spcPts val="2450"/>
              </a:lnSpc>
              <a:buNone/>
            </a:pPr>
            <a:r>
              <a:rPr lang="en-US" sz="1950" b="1" dirty="0">
                <a:solidFill>
                  <a:srgbClr val="000000"/>
                </a:solidFill>
                <a:latin typeface="Cambria" pitchFamily="34" charset="0"/>
                <a:ea typeface="Cambria" pitchFamily="34" charset="-122"/>
                <a:cs typeface="Cambria" pitchFamily="34" charset="-120"/>
              </a:rPr>
              <a:t>📁</a:t>
            </a:r>
            <a:r>
              <a:rPr lang="en-US" sz="1950" b="1" dirty="0">
                <a:solidFill>
                  <a:srgbClr val="443728"/>
                </a:solidFill>
                <a:latin typeface="Cambria" pitchFamily="34" charset="0"/>
                <a:ea typeface="Cambria" pitchFamily="34" charset="-122"/>
                <a:cs typeface="Cambria" pitchFamily="34" charset="-120"/>
              </a:rPr>
              <a:t> Il .pbip è un prerequisito non negoziabile</a:t>
            </a:r>
            <a:endParaRPr lang="en-US" sz="1950" dirty="0"/>
          </a:p>
        </p:txBody>
      </p:sp>
      <p:sp>
        <p:nvSpPr>
          <p:cNvPr id="23" name="Text 21"/>
          <p:cNvSpPr/>
          <p:nvPr/>
        </p:nvSpPr>
        <p:spPr>
          <a:xfrm>
            <a:off x="5465802" y="5612606"/>
            <a:ext cx="3767376" cy="966614"/>
          </a:xfrm>
          <a:prstGeom prst="rect">
            <a:avLst/>
          </a:prstGeom>
          <a:noFill/>
          <a:ln/>
        </p:spPr>
        <p:txBody>
          <a:bodyPr wrap="square" lIns="0" tIns="0" rIns="0" bIns="0" rtlCol="0" anchor="t"/>
          <a:lstStyle/>
          <a:p>
            <a:pPr marL="0" indent="0" algn="l">
              <a:lnSpc>
                <a:spcPts val="2400"/>
              </a:lnSpc>
              <a:buNone/>
            </a:pPr>
            <a:r>
              <a:rPr lang="en-US" sz="1550" dirty="0" err="1">
                <a:solidFill>
                  <a:srgbClr val="443728"/>
                </a:solidFill>
                <a:latin typeface="Calibri" pitchFamily="34" charset="0"/>
                <a:ea typeface="Calibri" pitchFamily="34" charset="-122"/>
                <a:cs typeface="Calibri" pitchFamily="34" charset="-120"/>
              </a:rPr>
              <a:t>Formati</a:t>
            </a:r>
            <a:r>
              <a:rPr lang="en-US" sz="1550" dirty="0">
                <a:solidFill>
                  <a:srgbClr val="443728"/>
                </a:solidFill>
                <a:latin typeface="Calibri" pitchFamily="34" charset="0"/>
                <a:ea typeface="Calibri" pitchFamily="34" charset="-122"/>
                <a:cs typeface="Calibri" pitchFamily="34" charset="-120"/>
              </a:rPr>
              <a:t> TMDL e PBIR </a:t>
            </a:r>
            <a:r>
              <a:rPr lang="en-US" sz="1550" dirty="0" err="1">
                <a:solidFill>
                  <a:srgbClr val="443728"/>
                </a:solidFill>
                <a:latin typeface="Calibri" pitchFamily="34" charset="0"/>
                <a:ea typeface="Calibri" pitchFamily="34" charset="-122"/>
                <a:cs typeface="Calibri" pitchFamily="34" charset="-120"/>
              </a:rPr>
              <a:t>sono</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fondamentali</a:t>
            </a:r>
            <a:r>
              <a:rPr lang="en-US" sz="1550" dirty="0">
                <a:solidFill>
                  <a:srgbClr val="443728"/>
                </a:solidFill>
                <a:latin typeface="Calibri" pitchFamily="34" charset="0"/>
                <a:ea typeface="Calibri" pitchFamily="34" charset="-122"/>
                <a:cs typeface="Calibri" pitchFamily="34" charset="-120"/>
              </a:rPr>
              <a:t> per </a:t>
            </a:r>
            <a:r>
              <a:rPr lang="en-US" sz="1550" dirty="0" err="1">
                <a:solidFill>
                  <a:srgbClr val="443728"/>
                </a:solidFill>
                <a:latin typeface="Calibri" pitchFamily="34" charset="0"/>
                <a:ea typeface="Calibri" pitchFamily="34" charset="-122"/>
                <a:cs typeface="Calibri" pitchFamily="34" charset="-120"/>
              </a:rPr>
              <a:t>utilizzare</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questi</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strumenti</a:t>
            </a:r>
            <a:r>
              <a:rPr lang="en-US" sz="1550" dirty="0">
                <a:solidFill>
                  <a:srgbClr val="443728"/>
                </a:solidFill>
                <a:latin typeface="Calibri" pitchFamily="34" charset="0"/>
                <a:ea typeface="Calibri" pitchFamily="34" charset="-122"/>
                <a:cs typeface="Calibri" pitchFamily="34" charset="-120"/>
              </a:rPr>
              <a:t> </a:t>
            </a:r>
            <a:r>
              <a:rPr lang="en-US" sz="1550" dirty="0" err="1">
                <a:solidFill>
                  <a:srgbClr val="443728"/>
                </a:solidFill>
                <a:latin typeface="Calibri" pitchFamily="34" charset="0"/>
                <a:ea typeface="Calibri" pitchFamily="34" charset="-122"/>
                <a:cs typeface="Calibri" pitchFamily="34" charset="-120"/>
              </a:rPr>
              <a:t>nella</a:t>
            </a:r>
            <a:r>
              <a:rPr lang="en-US" sz="1550" dirty="0">
                <a:solidFill>
                  <a:srgbClr val="443728"/>
                </a:solidFill>
                <a:latin typeface="Calibri" pitchFamily="34" charset="0"/>
                <a:ea typeface="Calibri" pitchFamily="34" charset="-122"/>
                <a:cs typeface="Calibri" pitchFamily="34" charset="-120"/>
              </a:rPr>
              <a:t> maniera </a:t>
            </a:r>
            <a:r>
              <a:rPr lang="en-US" sz="1550" dirty="0" err="1">
                <a:solidFill>
                  <a:srgbClr val="443728"/>
                </a:solidFill>
                <a:latin typeface="Calibri" pitchFamily="34" charset="0"/>
                <a:ea typeface="Calibri" pitchFamily="34" charset="-122"/>
                <a:cs typeface="Calibri" pitchFamily="34" charset="-120"/>
              </a:rPr>
              <a:t>corretta</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201460" y="560665"/>
            <a:ext cx="8002310" cy="553760"/>
          </a:xfrm>
          <a:prstGeom prst="rect">
            <a:avLst/>
          </a:prstGeom>
          <a:noFill/>
          <a:ln/>
        </p:spPr>
        <p:txBody>
          <a:bodyPr wrap="none" lIns="0" tIns="0" rIns="0" bIns="0" rtlCol="0" anchor="t"/>
          <a:lstStyle/>
          <a:p>
            <a:pPr marL="0" indent="0" algn="l">
              <a:lnSpc>
                <a:spcPts val="4350"/>
              </a:lnSpc>
              <a:buNone/>
            </a:pPr>
            <a:r>
              <a:rPr lang="en-US" sz="3450" b="1" dirty="0">
                <a:solidFill>
                  <a:srgbClr val="443728"/>
                </a:solidFill>
                <a:latin typeface="Cambria" pitchFamily="34" charset="0"/>
                <a:ea typeface="Cambria" pitchFamily="34" charset="-122"/>
                <a:cs typeface="Cambria" pitchFamily="34" charset="-120"/>
              </a:rPr>
              <a:t>Riepilogo: Il Percorso DevOps per Power BI</a:t>
            </a:r>
            <a:endParaRPr lang="en-US" sz="3450" dirty="0"/>
          </a:p>
        </p:txBody>
      </p:sp>
      <p:sp>
        <p:nvSpPr>
          <p:cNvPr id="3" name="Text 1"/>
          <p:cNvSpPr/>
          <p:nvPr/>
        </p:nvSpPr>
        <p:spPr>
          <a:xfrm>
            <a:off x="1201460" y="1391245"/>
            <a:ext cx="12227362" cy="252413"/>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Un approccio strutturato e progressivo per adottare il DevOps in un contesto Power BI su Microsoft Fabric.</a:t>
            </a:r>
            <a:endParaRPr lang="en-US" sz="1350" dirty="0"/>
          </a:p>
        </p:txBody>
      </p:sp>
      <p:sp>
        <p:nvSpPr>
          <p:cNvPr id="4" name="Shape 2"/>
          <p:cNvSpPr/>
          <p:nvPr/>
        </p:nvSpPr>
        <p:spPr>
          <a:xfrm>
            <a:off x="1378625" y="2065139"/>
            <a:ext cx="177165" cy="797362"/>
          </a:xfrm>
          <a:prstGeom prst="roundRect">
            <a:avLst>
              <a:gd name="adj" fmla="val 42010"/>
            </a:avLst>
          </a:prstGeom>
          <a:solidFill>
            <a:srgbClr val="EBE2E0"/>
          </a:solidFill>
          <a:ln w="7620">
            <a:solidFill>
              <a:srgbClr val="D1C8C6"/>
            </a:solidFill>
            <a:prstDash val="solid"/>
          </a:ln>
        </p:spPr>
        <p:txBody>
          <a:bodyPr/>
          <a:lstStyle/>
          <a:p>
            <a:endParaRPr lang="en-GB"/>
          </a:p>
        </p:txBody>
      </p:sp>
      <p:sp>
        <p:nvSpPr>
          <p:cNvPr id="5" name="Shape 3"/>
          <p:cNvSpPr/>
          <p:nvPr/>
        </p:nvSpPr>
        <p:spPr>
          <a:xfrm>
            <a:off x="1201460" y="1948815"/>
            <a:ext cx="531614" cy="531614"/>
          </a:xfrm>
          <a:prstGeom prst="roundRect">
            <a:avLst>
              <a:gd name="adj" fmla="val 86002"/>
            </a:avLst>
          </a:prstGeom>
          <a:solidFill>
            <a:srgbClr val="EBE2E0"/>
          </a:solidFill>
          <a:ln w="7620">
            <a:solidFill>
              <a:srgbClr val="D1C8C6"/>
            </a:solidFill>
            <a:prstDash val="solid"/>
          </a:ln>
        </p:spPr>
        <p:txBody>
          <a:bodyPr/>
          <a:lstStyle/>
          <a:p>
            <a:endParaRPr lang="en-GB"/>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4333" y="2081808"/>
            <a:ext cx="265748" cy="265747"/>
          </a:xfrm>
          <a:prstGeom prst="rect">
            <a:avLst/>
          </a:prstGeom>
        </p:spPr>
      </p:pic>
      <p:sp>
        <p:nvSpPr>
          <p:cNvPr id="7" name="Text 4"/>
          <p:cNvSpPr/>
          <p:nvPr/>
        </p:nvSpPr>
        <p:spPr>
          <a:xfrm>
            <a:off x="1871424" y="1976557"/>
            <a:ext cx="2215039"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Adotta il formato .pbip</a:t>
            </a:r>
            <a:endParaRPr lang="en-US" sz="1700" dirty="0"/>
          </a:p>
        </p:txBody>
      </p:sp>
      <p:sp>
        <p:nvSpPr>
          <p:cNvPr id="8" name="Text 5"/>
          <p:cNvSpPr/>
          <p:nvPr/>
        </p:nvSpPr>
        <p:spPr>
          <a:xfrm>
            <a:off x="1871424" y="2336363"/>
            <a:ext cx="11557397" cy="252413"/>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Migra da .pbix a .pbip abilitando TMDL e PBIR: la fondamenta di tutto il resto.</a:t>
            </a:r>
            <a:endParaRPr lang="en-US" sz="1350" dirty="0"/>
          </a:p>
        </p:txBody>
      </p:sp>
      <p:sp>
        <p:nvSpPr>
          <p:cNvPr id="9" name="Shape 6"/>
          <p:cNvSpPr/>
          <p:nvPr/>
        </p:nvSpPr>
        <p:spPr>
          <a:xfrm>
            <a:off x="1644372" y="3266718"/>
            <a:ext cx="177165" cy="797362"/>
          </a:xfrm>
          <a:prstGeom prst="roundRect">
            <a:avLst>
              <a:gd name="adj" fmla="val 42010"/>
            </a:avLst>
          </a:prstGeom>
          <a:solidFill>
            <a:srgbClr val="EBE2E0"/>
          </a:solidFill>
          <a:ln w="7620">
            <a:solidFill>
              <a:srgbClr val="D1C8C6"/>
            </a:solidFill>
            <a:prstDash val="solid"/>
          </a:ln>
        </p:spPr>
        <p:txBody>
          <a:bodyPr/>
          <a:lstStyle/>
          <a:p>
            <a:endParaRPr lang="en-GB"/>
          </a:p>
        </p:txBody>
      </p:sp>
      <p:sp>
        <p:nvSpPr>
          <p:cNvPr id="10" name="Shape 7"/>
          <p:cNvSpPr/>
          <p:nvPr/>
        </p:nvSpPr>
        <p:spPr>
          <a:xfrm>
            <a:off x="1467207" y="3150394"/>
            <a:ext cx="531614" cy="531614"/>
          </a:xfrm>
          <a:prstGeom prst="roundRect">
            <a:avLst>
              <a:gd name="adj" fmla="val 86002"/>
            </a:avLst>
          </a:prstGeom>
          <a:solidFill>
            <a:srgbClr val="EBE2E0"/>
          </a:solidFill>
          <a:ln w="7620">
            <a:solidFill>
              <a:srgbClr val="D1C8C6"/>
            </a:solidFill>
            <a:prstDash val="solid"/>
          </a:ln>
        </p:spPr>
        <p:txBody>
          <a:bodyPr/>
          <a:lstStyle/>
          <a:p>
            <a:endParaRPr lang="en-GB"/>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0081" y="3283387"/>
            <a:ext cx="265748" cy="265747"/>
          </a:xfrm>
          <a:prstGeom prst="rect">
            <a:avLst/>
          </a:prstGeom>
        </p:spPr>
      </p:pic>
      <p:sp>
        <p:nvSpPr>
          <p:cNvPr id="12" name="Text 8"/>
          <p:cNvSpPr/>
          <p:nvPr/>
        </p:nvSpPr>
        <p:spPr>
          <a:xfrm>
            <a:off x="2137172" y="3178135"/>
            <a:ext cx="2536388"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Connetti il workspace a Git</a:t>
            </a:r>
            <a:endParaRPr lang="en-US" sz="1700" dirty="0"/>
          </a:p>
        </p:txBody>
      </p:sp>
      <p:sp>
        <p:nvSpPr>
          <p:cNvPr id="13" name="Text 9"/>
          <p:cNvSpPr/>
          <p:nvPr/>
        </p:nvSpPr>
        <p:spPr>
          <a:xfrm>
            <a:off x="2137172" y="3537942"/>
            <a:ext cx="11291649" cy="252413"/>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Collega il workspace Fabric al branch main di Azure DevOps per avere una source of truth condivisa.</a:t>
            </a:r>
            <a:endParaRPr lang="en-US" sz="1350" dirty="0"/>
          </a:p>
        </p:txBody>
      </p:sp>
      <p:sp>
        <p:nvSpPr>
          <p:cNvPr id="14" name="Shape 10"/>
          <p:cNvSpPr/>
          <p:nvPr/>
        </p:nvSpPr>
        <p:spPr>
          <a:xfrm>
            <a:off x="1910239" y="4468297"/>
            <a:ext cx="177165" cy="797362"/>
          </a:xfrm>
          <a:prstGeom prst="roundRect">
            <a:avLst>
              <a:gd name="adj" fmla="val 42010"/>
            </a:avLst>
          </a:prstGeom>
          <a:solidFill>
            <a:srgbClr val="EBE2E0"/>
          </a:solidFill>
          <a:ln w="7620">
            <a:solidFill>
              <a:srgbClr val="D1C8C6"/>
            </a:solidFill>
            <a:prstDash val="solid"/>
          </a:ln>
        </p:spPr>
        <p:txBody>
          <a:bodyPr/>
          <a:lstStyle/>
          <a:p>
            <a:endParaRPr lang="en-GB"/>
          </a:p>
        </p:txBody>
      </p:sp>
      <p:sp>
        <p:nvSpPr>
          <p:cNvPr id="15" name="Shape 11"/>
          <p:cNvSpPr/>
          <p:nvPr/>
        </p:nvSpPr>
        <p:spPr>
          <a:xfrm>
            <a:off x="1733074" y="4351973"/>
            <a:ext cx="531614" cy="531614"/>
          </a:xfrm>
          <a:prstGeom prst="roundRect">
            <a:avLst>
              <a:gd name="adj" fmla="val 86002"/>
            </a:avLst>
          </a:prstGeom>
          <a:solidFill>
            <a:srgbClr val="EBE2E0"/>
          </a:solidFill>
          <a:ln w="7620">
            <a:solidFill>
              <a:srgbClr val="D1C8C6"/>
            </a:solidFill>
            <a:prstDash val="solid"/>
          </a:ln>
        </p:spPr>
        <p:txBody>
          <a:bodyPr/>
          <a:lstStyle/>
          <a:p>
            <a:endParaRPr lang="en-GB"/>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65948" y="4484965"/>
            <a:ext cx="265748" cy="265747"/>
          </a:xfrm>
          <a:prstGeom prst="rect">
            <a:avLst/>
          </a:prstGeom>
        </p:spPr>
      </p:pic>
      <p:sp>
        <p:nvSpPr>
          <p:cNvPr id="17" name="Text 12"/>
          <p:cNvSpPr/>
          <p:nvPr/>
        </p:nvSpPr>
        <p:spPr>
          <a:xfrm>
            <a:off x="2403038" y="4379714"/>
            <a:ext cx="2984897"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Usa il Branchout per lo sviluppo</a:t>
            </a:r>
            <a:endParaRPr lang="en-US" sz="1700" dirty="0"/>
          </a:p>
        </p:txBody>
      </p:sp>
      <p:sp>
        <p:nvSpPr>
          <p:cNvPr id="18" name="Text 13"/>
          <p:cNvSpPr/>
          <p:nvPr/>
        </p:nvSpPr>
        <p:spPr>
          <a:xfrm>
            <a:off x="2403038" y="4739521"/>
            <a:ext cx="11025783" cy="252413"/>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Ogni feature o sviluppatore lavora in un workspace isolato collegato al proprio branch.</a:t>
            </a:r>
            <a:endParaRPr lang="en-US" sz="1350" dirty="0"/>
          </a:p>
        </p:txBody>
      </p:sp>
      <p:sp>
        <p:nvSpPr>
          <p:cNvPr id="19" name="Shape 14"/>
          <p:cNvSpPr/>
          <p:nvPr/>
        </p:nvSpPr>
        <p:spPr>
          <a:xfrm>
            <a:off x="2175986" y="5669875"/>
            <a:ext cx="177165" cy="797362"/>
          </a:xfrm>
          <a:prstGeom prst="roundRect">
            <a:avLst>
              <a:gd name="adj" fmla="val 42010"/>
            </a:avLst>
          </a:prstGeom>
          <a:solidFill>
            <a:srgbClr val="EBE2E0"/>
          </a:solidFill>
          <a:ln w="7620">
            <a:solidFill>
              <a:srgbClr val="D1C8C6"/>
            </a:solidFill>
            <a:prstDash val="solid"/>
          </a:ln>
        </p:spPr>
        <p:txBody>
          <a:bodyPr/>
          <a:lstStyle/>
          <a:p>
            <a:endParaRPr lang="en-GB"/>
          </a:p>
        </p:txBody>
      </p:sp>
      <p:sp>
        <p:nvSpPr>
          <p:cNvPr id="20" name="Shape 15"/>
          <p:cNvSpPr/>
          <p:nvPr/>
        </p:nvSpPr>
        <p:spPr>
          <a:xfrm>
            <a:off x="1998821" y="5553551"/>
            <a:ext cx="531614" cy="531614"/>
          </a:xfrm>
          <a:prstGeom prst="roundRect">
            <a:avLst>
              <a:gd name="adj" fmla="val 86002"/>
            </a:avLst>
          </a:prstGeom>
          <a:solidFill>
            <a:srgbClr val="EBE2E0"/>
          </a:solidFill>
          <a:ln w="7620">
            <a:solidFill>
              <a:srgbClr val="D1C8C6"/>
            </a:solidFill>
            <a:prstDash val="solid"/>
          </a:ln>
        </p:spPr>
        <p:txBody>
          <a:bodyPr/>
          <a:lstStyle/>
          <a:p>
            <a:endParaRPr lang="en-GB"/>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31695" y="5686544"/>
            <a:ext cx="265748" cy="265747"/>
          </a:xfrm>
          <a:prstGeom prst="rect">
            <a:avLst/>
          </a:prstGeom>
        </p:spPr>
      </p:pic>
      <p:sp>
        <p:nvSpPr>
          <p:cNvPr id="22" name="Text 16"/>
          <p:cNvSpPr/>
          <p:nvPr/>
        </p:nvSpPr>
        <p:spPr>
          <a:xfrm>
            <a:off x="2668786" y="5581293"/>
            <a:ext cx="2453402"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Automatizza i quality gate</a:t>
            </a:r>
            <a:endParaRPr lang="en-US" sz="1700" dirty="0"/>
          </a:p>
        </p:txBody>
      </p:sp>
      <p:sp>
        <p:nvSpPr>
          <p:cNvPr id="23" name="Text 17"/>
          <p:cNvSpPr/>
          <p:nvPr/>
        </p:nvSpPr>
        <p:spPr>
          <a:xfrm>
            <a:off x="2668786" y="5941100"/>
            <a:ext cx="10760035" cy="252413"/>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Integra TE BPA e PBI Inspector nelle pipeline YAML per bloccare codice non conforme prima del merge.</a:t>
            </a:r>
            <a:endParaRPr lang="en-US" sz="1350" dirty="0"/>
          </a:p>
        </p:txBody>
      </p:sp>
      <p:sp>
        <p:nvSpPr>
          <p:cNvPr id="24" name="Shape 18"/>
          <p:cNvSpPr/>
          <p:nvPr/>
        </p:nvSpPr>
        <p:spPr>
          <a:xfrm>
            <a:off x="2483222" y="6888123"/>
            <a:ext cx="177165" cy="797362"/>
          </a:xfrm>
          <a:prstGeom prst="roundRect">
            <a:avLst>
              <a:gd name="adj" fmla="val 42010"/>
            </a:avLst>
          </a:prstGeom>
          <a:solidFill>
            <a:srgbClr val="EBE2E0"/>
          </a:solidFill>
          <a:ln w="7620">
            <a:solidFill>
              <a:srgbClr val="D1C8C6"/>
            </a:solidFill>
            <a:prstDash val="solid"/>
          </a:ln>
        </p:spPr>
        <p:txBody>
          <a:bodyPr/>
          <a:lstStyle/>
          <a:p>
            <a:endParaRPr lang="en-GB"/>
          </a:p>
        </p:txBody>
      </p:sp>
      <p:sp>
        <p:nvSpPr>
          <p:cNvPr id="25" name="Shape 19"/>
          <p:cNvSpPr/>
          <p:nvPr/>
        </p:nvSpPr>
        <p:spPr>
          <a:xfrm>
            <a:off x="2311658" y="6663655"/>
            <a:ext cx="531614" cy="531614"/>
          </a:xfrm>
          <a:prstGeom prst="roundRect">
            <a:avLst>
              <a:gd name="adj" fmla="val 86002"/>
            </a:avLst>
          </a:prstGeom>
          <a:solidFill>
            <a:srgbClr val="EBE2E0"/>
          </a:solidFill>
          <a:ln w="7620">
            <a:solidFill>
              <a:srgbClr val="D1C8C6"/>
            </a:solidFill>
            <a:prstDash val="solid"/>
          </a:ln>
        </p:spPr>
        <p:txBody>
          <a:bodyPr/>
          <a:lstStyle/>
          <a:p>
            <a:endParaRPr lang="en-GB"/>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38930" y="6814531"/>
            <a:ext cx="265748" cy="265747"/>
          </a:xfrm>
          <a:prstGeom prst="rect">
            <a:avLst/>
          </a:prstGeom>
        </p:spPr>
      </p:pic>
      <p:sp>
        <p:nvSpPr>
          <p:cNvPr id="27" name="Text 20"/>
          <p:cNvSpPr/>
          <p:nvPr/>
        </p:nvSpPr>
        <p:spPr>
          <a:xfrm>
            <a:off x="2970544" y="6749713"/>
            <a:ext cx="3531275" cy="276820"/>
          </a:xfrm>
          <a:prstGeom prst="rect">
            <a:avLst/>
          </a:prstGeom>
          <a:noFill/>
          <a:ln/>
        </p:spPr>
        <p:txBody>
          <a:bodyPr wrap="none" lIns="0" tIns="0" rIns="0" bIns="0" rtlCol="0" anchor="t"/>
          <a:lstStyle/>
          <a:p>
            <a:pPr marL="0" indent="0" algn="l">
              <a:lnSpc>
                <a:spcPts val="2150"/>
              </a:lnSpc>
              <a:buNone/>
            </a:pPr>
            <a:r>
              <a:rPr lang="en-US" sz="1700" b="1" dirty="0">
                <a:solidFill>
                  <a:srgbClr val="443728"/>
                </a:solidFill>
                <a:latin typeface="Cambria" pitchFamily="34" charset="0"/>
                <a:ea typeface="Cambria" pitchFamily="34" charset="-122"/>
                <a:cs typeface="Cambria" pitchFamily="34" charset="-120"/>
              </a:rPr>
              <a:t>Promuovi con le Deployment Pipeline</a:t>
            </a:r>
            <a:endParaRPr lang="en-US" sz="1700" dirty="0"/>
          </a:p>
        </p:txBody>
      </p:sp>
      <p:sp>
        <p:nvSpPr>
          <p:cNvPr id="28" name="Text 21"/>
          <p:cNvSpPr/>
          <p:nvPr/>
        </p:nvSpPr>
        <p:spPr>
          <a:xfrm>
            <a:off x="2978943" y="7097368"/>
            <a:ext cx="11025783" cy="252413"/>
          </a:xfrm>
          <a:prstGeom prst="rect">
            <a:avLst/>
          </a:prstGeom>
          <a:noFill/>
          <a:ln/>
        </p:spPr>
        <p:txBody>
          <a:bodyPr wrap="none" lIns="0" tIns="0" rIns="0" bIns="0" rtlCol="0" anchor="t"/>
          <a:lstStyle/>
          <a:p>
            <a:pPr marL="0" indent="0" algn="l">
              <a:lnSpc>
                <a:spcPts val="1950"/>
              </a:lnSpc>
              <a:buNone/>
            </a:pPr>
            <a:r>
              <a:rPr lang="en-US" sz="1350" dirty="0">
                <a:solidFill>
                  <a:srgbClr val="443728"/>
                </a:solidFill>
                <a:latin typeface="Calibri" pitchFamily="34" charset="0"/>
                <a:ea typeface="Calibri" pitchFamily="34" charset="-122"/>
                <a:cs typeface="Calibri" pitchFamily="34" charset="-120"/>
              </a:rPr>
              <a:t>Usa le pipeline native Fabric con deployment rules ed environment variables per gestire Dev → Test → Prod.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2">
            <a:extLst>
              <a:ext uri="{FF2B5EF4-FFF2-40B4-BE49-F238E27FC236}">
                <a16:creationId xmlns:a16="http://schemas.microsoft.com/office/drawing/2014/main" id="{217D7BF3-60EC-FA50-F43E-2283B19C1C81}"/>
              </a:ext>
            </a:extLst>
          </p:cNvPr>
          <p:cNvSpPr/>
          <p:nvPr/>
        </p:nvSpPr>
        <p:spPr>
          <a:xfrm>
            <a:off x="7315200" y="4346573"/>
            <a:ext cx="6571417" cy="1692354"/>
          </a:xfrm>
          <a:prstGeom prst="roundRect">
            <a:avLst>
              <a:gd name="adj" fmla="val 9650"/>
            </a:avLst>
          </a:prstGeom>
          <a:solidFill>
            <a:srgbClr val="835E54"/>
          </a:solidFill>
          <a:ln/>
        </p:spPr>
        <p:txBody>
          <a:bodyPr/>
          <a:lstStyle/>
          <a:p>
            <a:endParaRPr lang="en-GB"/>
          </a:p>
        </p:txBody>
      </p:sp>
      <p:sp>
        <p:nvSpPr>
          <p:cNvPr id="2" name="Text 0"/>
          <p:cNvSpPr/>
          <p:nvPr/>
        </p:nvSpPr>
        <p:spPr>
          <a:xfrm>
            <a:off x="793790" y="2196941"/>
            <a:ext cx="10034044"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Cambria" pitchFamily="34" charset="0"/>
                <a:ea typeface="Cambria" pitchFamily="34" charset="-122"/>
                <a:cs typeface="Cambria" pitchFamily="34" charset="-120"/>
              </a:rPr>
              <a:t>Oltre la UI: APIs e </a:t>
            </a:r>
            <a:r>
              <a:rPr lang="en-US" sz="4450" b="1" dirty="0" err="1">
                <a:solidFill>
                  <a:srgbClr val="443728"/>
                </a:solidFill>
                <a:latin typeface="Cambria" pitchFamily="34" charset="0"/>
                <a:ea typeface="Cambria" pitchFamily="34" charset="-122"/>
                <a:cs typeface="Cambria" pitchFamily="34" charset="-120"/>
              </a:rPr>
              <a:t>libreria</a:t>
            </a:r>
            <a:r>
              <a:rPr lang="en-US" sz="4450" b="1" dirty="0">
                <a:solidFill>
                  <a:srgbClr val="443728"/>
                </a:solidFill>
                <a:latin typeface="Cambria" pitchFamily="34" charset="0"/>
                <a:ea typeface="Cambria" pitchFamily="34" charset="-122"/>
                <a:cs typeface="Cambria" pitchFamily="34" charset="-120"/>
              </a:rPr>
              <a:t> Fabric CI/CD</a:t>
            </a:r>
            <a:endParaRPr lang="en-US" sz="4450" dirty="0"/>
          </a:p>
        </p:txBody>
      </p:sp>
      <p:sp>
        <p:nvSpPr>
          <p:cNvPr id="3" name="Text 1"/>
          <p:cNvSpPr/>
          <p:nvPr/>
        </p:nvSpPr>
        <p:spPr>
          <a:xfrm>
            <a:off x="793790" y="335934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Calibri" pitchFamily="34" charset="0"/>
                <a:ea typeface="Calibri" pitchFamily="34" charset="-122"/>
                <a:cs typeface="Calibri" pitchFamily="34" charset="-120"/>
              </a:rPr>
              <a:t>Gli strumenti che abbiamo visto </a:t>
            </a:r>
            <a:r>
              <a:rPr lang="en-US" sz="1750" dirty="0" err="1">
                <a:solidFill>
                  <a:srgbClr val="443728"/>
                </a:solidFill>
                <a:latin typeface="Calibri" pitchFamily="34" charset="0"/>
                <a:ea typeface="Calibri" pitchFamily="34" charset="-122"/>
                <a:cs typeface="Calibri" pitchFamily="34" charset="-120"/>
              </a:rPr>
              <a:t>sono</a:t>
            </a:r>
            <a:r>
              <a:rPr lang="en-US" sz="1750" dirty="0">
                <a:solidFill>
                  <a:srgbClr val="443728"/>
                </a:solidFill>
                <a:latin typeface="Calibri" pitchFamily="34" charset="0"/>
                <a:ea typeface="Calibri" pitchFamily="34" charset="-122"/>
                <a:cs typeface="Calibri" pitchFamily="34" charset="-120"/>
              </a:rPr>
              <a:t> tutti accessibili anche via </a:t>
            </a:r>
            <a:r>
              <a:rPr lang="en-US" sz="1750" b="1" dirty="0">
                <a:solidFill>
                  <a:srgbClr val="443728"/>
                </a:solidFill>
                <a:latin typeface="Calibri" pitchFamily="34" charset="0"/>
                <a:ea typeface="Calibri" pitchFamily="34" charset="-122"/>
                <a:cs typeface="Calibri" pitchFamily="34" charset="-120"/>
              </a:rPr>
              <a:t>REST API</a:t>
            </a:r>
            <a:r>
              <a:rPr lang="en-US" sz="1750" dirty="0">
                <a:solidFill>
                  <a:srgbClr val="443728"/>
                </a:solidFill>
                <a:latin typeface="Calibri" pitchFamily="34" charset="0"/>
                <a:ea typeface="Calibri" pitchFamily="34" charset="-122"/>
                <a:cs typeface="Calibri" pitchFamily="34" charset="-120"/>
              </a:rPr>
              <a:t>, senza toccare la UI. Questo apre la strada all'automazione completa dei flussi CI/CD Fabric.</a:t>
            </a:r>
            <a:endParaRPr lang="en-US" sz="1750" dirty="0"/>
          </a:p>
        </p:txBody>
      </p:sp>
      <p:sp>
        <p:nvSpPr>
          <p:cNvPr id="4" name="Shape 2"/>
          <p:cNvSpPr/>
          <p:nvPr/>
        </p:nvSpPr>
        <p:spPr>
          <a:xfrm>
            <a:off x="630436" y="4340304"/>
            <a:ext cx="6571417" cy="1692354"/>
          </a:xfrm>
          <a:prstGeom prst="roundRect">
            <a:avLst>
              <a:gd name="adj" fmla="val 9650"/>
            </a:avLst>
          </a:prstGeom>
          <a:solidFill>
            <a:srgbClr val="835E54"/>
          </a:solidFill>
          <a:ln/>
        </p:spPr>
        <p:txBody>
          <a:bodyPr/>
          <a:lstStyle/>
          <a:p>
            <a:endParaRPr lang="en-GB"/>
          </a:p>
        </p:txBody>
      </p:sp>
      <p:sp>
        <p:nvSpPr>
          <p:cNvPr id="5" name="Text 3"/>
          <p:cNvSpPr/>
          <p:nvPr/>
        </p:nvSpPr>
        <p:spPr>
          <a:xfrm>
            <a:off x="857250" y="4567118"/>
            <a:ext cx="3512582"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Cambria" pitchFamily="34" charset="0"/>
                <a:ea typeface="Cambria" pitchFamily="34" charset="-122"/>
                <a:cs typeface="Cambria" pitchFamily="34" charset="-120"/>
              </a:rPr>
              <a:t>Automatizzare la UI esistente</a:t>
            </a:r>
            <a:endParaRPr lang="en-US" sz="2200" dirty="0"/>
          </a:p>
        </p:txBody>
      </p:sp>
      <p:sp>
        <p:nvSpPr>
          <p:cNvPr id="6" name="Text 4"/>
          <p:cNvSpPr/>
          <p:nvPr/>
        </p:nvSpPr>
        <p:spPr>
          <a:xfrm>
            <a:off x="857250" y="5148263"/>
            <a:ext cx="6117788"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FFFFF"/>
                </a:solidFill>
                <a:latin typeface="Calibri" pitchFamily="34" charset="0"/>
                <a:ea typeface="Calibri" pitchFamily="34" charset="-122"/>
                <a:cs typeface="Calibri" pitchFamily="34" charset="-120"/>
              </a:rPr>
              <a:t>Fabric Git API</a:t>
            </a:r>
            <a:endParaRPr lang="en-US" sz="1750" dirty="0"/>
          </a:p>
          <a:p>
            <a:pPr marL="342900" indent="-342900" algn="l">
              <a:lnSpc>
                <a:spcPts val="2850"/>
              </a:lnSpc>
              <a:buSzPct val="100000"/>
              <a:buChar char="•"/>
            </a:pPr>
            <a:r>
              <a:rPr lang="en-US" sz="1750" dirty="0">
                <a:solidFill>
                  <a:srgbClr val="FFFFFF"/>
                </a:solidFill>
                <a:latin typeface="Calibri" pitchFamily="34" charset="0"/>
                <a:ea typeface="Calibri" pitchFamily="34" charset="-122"/>
                <a:cs typeface="Calibri" pitchFamily="34" charset="-120"/>
              </a:rPr>
              <a:t>Deployment Pipelines API</a:t>
            </a:r>
            <a:endParaRPr lang="en-US" sz="1750" dirty="0"/>
          </a:p>
        </p:txBody>
      </p:sp>
      <p:sp>
        <p:nvSpPr>
          <p:cNvPr id="7" name="Text 5"/>
          <p:cNvSpPr/>
          <p:nvPr/>
        </p:nvSpPr>
        <p:spPr>
          <a:xfrm>
            <a:off x="7599521" y="4567118"/>
            <a:ext cx="5485090" cy="354330"/>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Cambria" pitchFamily="34" charset="0"/>
                <a:ea typeface="Cambria" pitchFamily="34" charset="-122"/>
                <a:cs typeface="Cambria" pitchFamily="34" charset="-120"/>
              </a:rPr>
              <a:t>Deployare contenuto in modo programmatico</a:t>
            </a:r>
            <a:endParaRPr lang="en-US" sz="2200" dirty="0">
              <a:solidFill>
                <a:schemeClr val="bg1"/>
              </a:solidFill>
            </a:endParaRPr>
          </a:p>
        </p:txBody>
      </p:sp>
      <p:sp>
        <p:nvSpPr>
          <p:cNvPr id="8" name="Text 6"/>
          <p:cNvSpPr/>
          <p:nvPr/>
        </p:nvSpPr>
        <p:spPr>
          <a:xfrm>
            <a:off x="7599521" y="5148263"/>
            <a:ext cx="6244709"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bg1"/>
                </a:solidFill>
                <a:latin typeface="Calibri" pitchFamily="34" charset="0"/>
                <a:ea typeface="Calibri" pitchFamily="34" charset="-122"/>
                <a:cs typeface="Calibri" pitchFamily="34" charset="-120"/>
              </a:rPr>
              <a:t>Fabric Item API</a:t>
            </a:r>
            <a:endParaRPr lang="en-US" sz="1750" dirty="0">
              <a:solidFill>
                <a:schemeClr val="bg1"/>
              </a:solidFill>
            </a:endParaRPr>
          </a:p>
          <a:p>
            <a:pPr marL="342900" indent="-342900" algn="l">
              <a:lnSpc>
                <a:spcPts val="2850"/>
              </a:lnSpc>
              <a:buSzPct val="100000"/>
              <a:buChar char="•"/>
            </a:pPr>
            <a:r>
              <a:rPr lang="en-US" sz="1750" dirty="0">
                <a:solidFill>
                  <a:schemeClr val="bg1"/>
                </a:solidFill>
                <a:latin typeface="Calibri" pitchFamily="34" charset="0"/>
                <a:ea typeface="Calibri" pitchFamily="34" charset="-122"/>
                <a:cs typeface="Calibri" pitchFamily="34" charset="-120"/>
              </a:rPr>
              <a:t>fabric-cicd (libreria Python </a:t>
            </a:r>
            <a:r>
              <a:rPr lang="en-US" sz="1750" dirty="0" err="1">
                <a:solidFill>
                  <a:schemeClr val="bg1"/>
                </a:solidFill>
                <a:latin typeface="Calibri" pitchFamily="34" charset="0"/>
                <a:ea typeface="Calibri" pitchFamily="34" charset="-122"/>
                <a:cs typeface="Calibri" pitchFamily="34" charset="-120"/>
              </a:rPr>
              <a:t>supportata</a:t>
            </a:r>
            <a:r>
              <a:rPr lang="en-US" sz="1750" dirty="0">
                <a:solidFill>
                  <a:schemeClr val="bg1"/>
                </a:solidFill>
                <a:latin typeface="Calibri" pitchFamily="34" charset="0"/>
                <a:ea typeface="Calibri" pitchFamily="34" charset="-122"/>
                <a:cs typeface="Calibri" pitchFamily="34" charset="-120"/>
              </a:rPr>
              <a:t> MSFT da </a:t>
            </a:r>
            <a:r>
              <a:rPr lang="en-US" sz="1750" dirty="0" err="1">
                <a:solidFill>
                  <a:schemeClr val="bg1"/>
                </a:solidFill>
                <a:latin typeface="Calibri" pitchFamily="34" charset="0"/>
                <a:ea typeface="Calibri" pitchFamily="34" charset="-122"/>
                <a:cs typeface="Calibri" pitchFamily="34" charset="-120"/>
              </a:rPr>
              <a:t>febbraio</a:t>
            </a:r>
            <a:r>
              <a:rPr lang="en-US" sz="1750" dirty="0">
                <a:solidFill>
                  <a:schemeClr val="bg1"/>
                </a:solidFill>
                <a:latin typeface="Calibri" pitchFamily="34" charset="0"/>
                <a:ea typeface="Calibri" pitchFamily="34" charset="-122"/>
                <a:cs typeface="Calibri" pitchFamily="34" charset="-120"/>
              </a:rPr>
              <a:t>)</a:t>
            </a:r>
            <a:endParaRPr lang="en-US" sz="175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19376" y="707469"/>
            <a:ext cx="911662" cy="373856"/>
          </a:xfrm>
          <a:prstGeom prst="roundRect">
            <a:avLst>
              <a:gd name="adj" fmla="val 18475"/>
            </a:avLst>
          </a:prstGeom>
          <a:solidFill>
            <a:srgbClr val="EBE2E0"/>
          </a:solidFill>
          <a:ln/>
        </p:spPr>
        <p:txBody>
          <a:bodyPr/>
          <a:lstStyle/>
          <a:p>
            <a:endParaRPr lang="en-GB"/>
          </a:p>
        </p:txBody>
      </p:sp>
      <p:sp>
        <p:nvSpPr>
          <p:cNvPr id="3" name="Text 1"/>
          <p:cNvSpPr/>
          <p:nvPr/>
        </p:nvSpPr>
        <p:spPr>
          <a:xfrm>
            <a:off x="842605" y="769025"/>
            <a:ext cx="665202" cy="250746"/>
          </a:xfrm>
          <a:prstGeom prst="rect">
            <a:avLst/>
          </a:prstGeom>
          <a:noFill/>
          <a:ln/>
        </p:spPr>
        <p:txBody>
          <a:bodyPr wrap="none" lIns="0" tIns="0" rIns="0" bIns="0" rtlCol="0" anchor="t"/>
          <a:lstStyle/>
          <a:p>
            <a:pPr marL="0" indent="0" algn="l">
              <a:lnSpc>
                <a:spcPts val="1950"/>
              </a:lnSpc>
              <a:buNone/>
            </a:pPr>
            <a:r>
              <a:rPr lang="en-US" sz="1250" dirty="0">
                <a:solidFill>
                  <a:srgbClr val="443728"/>
                </a:solidFill>
                <a:latin typeface="Calibri" pitchFamily="34" charset="0"/>
                <a:ea typeface="Calibri" pitchFamily="34" charset="-122"/>
                <a:cs typeface="Calibri" pitchFamily="34" charset="-120"/>
              </a:rPr>
              <a:t>REST API</a:t>
            </a:r>
            <a:endParaRPr lang="en-US" sz="1250" dirty="0"/>
          </a:p>
        </p:txBody>
      </p:sp>
      <p:sp>
        <p:nvSpPr>
          <p:cNvPr id="4" name="Text 2"/>
          <p:cNvSpPr/>
          <p:nvPr/>
        </p:nvSpPr>
        <p:spPr>
          <a:xfrm>
            <a:off x="719376" y="1155740"/>
            <a:ext cx="5138976" cy="642342"/>
          </a:xfrm>
          <a:prstGeom prst="rect">
            <a:avLst/>
          </a:prstGeom>
          <a:noFill/>
          <a:ln/>
        </p:spPr>
        <p:txBody>
          <a:bodyPr wrap="none" lIns="0" tIns="0" rIns="0" bIns="0" rtlCol="0" anchor="t"/>
          <a:lstStyle/>
          <a:p>
            <a:pPr marL="0" indent="0" algn="l">
              <a:lnSpc>
                <a:spcPts val="5050"/>
              </a:lnSpc>
              <a:buNone/>
            </a:pPr>
            <a:r>
              <a:rPr lang="en-US" sz="4000" b="1" dirty="0">
                <a:solidFill>
                  <a:srgbClr val="443728"/>
                </a:solidFill>
                <a:latin typeface="Cambria" pitchFamily="34" charset="0"/>
                <a:ea typeface="Cambria" pitchFamily="34" charset="-122"/>
                <a:cs typeface="Cambria" pitchFamily="34" charset="-120"/>
              </a:rPr>
              <a:t>Fabric Git API</a:t>
            </a:r>
            <a:endParaRPr lang="en-US" sz="4000" dirty="0"/>
          </a:p>
        </p:txBody>
      </p:sp>
      <p:sp>
        <p:nvSpPr>
          <p:cNvPr id="5" name="Text 3"/>
          <p:cNvSpPr/>
          <p:nvPr/>
        </p:nvSpPr>
        <p:spPr>
          <a:xfrm>
            <a:off x="842605" y="1377887"/>
            <a:ext cx="13191649" cy="313492"/>
          </a:xfrm>
          <a:prstGeom prst="rect">
            <a:avLst/>
          </a:prstGeom>
          <a:noFill/>
          <a:ln/>
        </p:spPr>
        <p:txBody>
          <a:bodyPr wrap="none" lIns="0" tIns="0" rIns="0" bIns="0" rtlCol="0" anchor="t"/>
          <a:lstStyle/>
          <a:p>
            <a:pPr marL="0" indent="0" algn="ctr">
              <a:lnSpc>
                <a:spcPts val="2450"/>
              </a:lnSpc>
              <a:buNone/>
            </a:pPr>
            <a:r>
              <a:rPr lang="en-US" sz="1600" dirty="0">
                <a:solidFill>
                  <a:srgbClr val="443728"/>
                </a:solidFill>
                <a:highlight>
                  <a:srgbClr val="F2EFED"/>
                </a:highlight>
                <a:latin typeface="Consolas" pitchFamily="34" charset="0"/>
                <a:ea typeface="Consolas" pitchFamily="34" charset="-122"/>
                <a:cs typeface="Consolas" pitchFamily="34" charset="-120"/>
              </a:rPr>
              <a:t>api.fabric.microsoft.com/v1/workspaces/{id}/git/</a:t>
            </a:r>
            <a:endParaRPr lang="en-US" sz="1600" dirty="0"/>
          </a:p>
        </p:txBody>
      </p:sp>
      <p:sp>
        <p:nvSpPr>
          <p:cNvPr id="6" name="Text 4"/>
          <p:cNvSpPr/>
          <p:nvPr/>
        </p:nvSpPr>
        <p:spPr>
          <a:xfrm>
            <a:off x="719376" y="2108373"/>
            <a:ext cx="2569488"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Operazioni principali</a:t>
            </a:r>
            <a:endParaRPr lang="en-US" sz="2000" dirty="0"/>
          </a:p>
        </p:txBody>
      </p:sp>
      <p:sp>
        <p:nvSpPr>
          <p:cNvPr id="7" name="Shape 5"/>
          <p:cNvSpPr/>
          <p:nvPr/>
        </p:nvSpPr>
        <p:spPr>
          <a:xfrm>
            <a:off x="742236" y="2681049"/>
            <a:ext cx="3079433" cy="1904524"/>
          </a:xfrm>
          <a:prstGeom prst="roundRect">
            <a:avLst>
              <a:gd name="adj" fmla="val 5761"/>
            </a:avLst>
          </a:prstGeom>
          <a:solidFill>
            <a:srgbClr val="FFFCFA"/>
          </a:solidFill>
          <a:ln w="22860">
            <a:solidFill>
              <a:srgbClr val="D1C8C6"/>
            </a:solidFill>
            <a:prstDash val="solid"/>
          </a:ln>
        </p:spPr>
        <p:txBody>
          <a:bodyPr/>
          <a:lstStyle/>
          <a:p>
            <a:endParaRPr lang="en-GB"/>
          </a:p>
        </p:txBody>
      </p:sp>
      <p:sp>
        <p:nvSpPr>
          <p:cNvPr id="8" name="Shape 6"/>
          <p:cNvSpPr/>
          <p:nvPr/>
        </p:nvSpPr>
        <p:spPr>
          <a:xfrm>
            <a:off x="719376" y="2681049"/>
            <a:ext cx="91440" cy="1904524"/>
          </a:xfrm>
          <a:prstGeom prst="roundRect">
            <a:avLst>
              <a:gd name="adj" fmla="val 94419"/>
            </a:avLst>
          </a:prstGeom>
          <a:solidFill>
            <a:srgbClr val="835E54"/>
          </a:solidFill>
          <a:ln/>
        </p:spPr>
        <p:txBody>
          <a:bodyPr/>
          <a:lstStyle/>
          <a:p>
            <a:endParaRPr lang="en-GB"/>
          </a:p>
        </p:txBody>
      </p:sp>
      <p:sp>
        <p:nvSpPr>
          <p:cNvPr id="9" name="Text 7"/>
          <p:cNvSpPr/>
          <p:nvPr/>
        </p:nvSpPr>
        <p:spPr>
          <a:xfrm>
            <a:off x="1039177" y="2909411"/>
            <a:ext cx="2554129"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Connect / Disconnect</a:t>
            </a:r>
            <a:endParaRPr lang="en-US" sz="2000" dirty="0"/>
          </a:p>
        </p:txBody>
      </p:sp>
      <p:sp>
        <p:nvSpPr>
          <p:cNvPr id="10" name="Text 8"/>
          <p:cNvSpPr/>
          <p:nvPr/>
        </p:nvSpPr>
        <p:spPr>
          <a:xfrm>
            <a:off x="1039177" y="3416737"/>
            <a:ext cx="2554129" cy="940475"/>
          </a:xfrm>
          <a:prstGeom prst="rect">
            <a:avLst/>
          </a:prstGeom>
          <a:noFill/>
          <a:ln/>
        </p:spPr>
        <p:txBody>
          <a:bodyPr wrap="square" lIns="0" tIns="0" rIns="0" bIns="0" rtlCol="0" anchor="t"/>
          <a:lstStyle/>
          <a:p>
            <a:pPr marL="0" indent="0" algn="l">
              <a:lnSpc>
                <a:spcPts val="2450"/>
              </a:lnSpc>
              <a:buNone/>
            </a:pPr>
            <a:r>
              <a:rPr lang="en-US" sz="1600" dirty="0">
                <a:solidFill>
                  <a:srgbClr val="443728"/>
                </a:solidFill>
                <a:latin typeface="Calibri" pitchFamily="34" charset="0"/>
                <a:ea typeface="Calibri" pitchFamily="34" charset="-122"/>
                <a:cs typeface="Calibri" pitchFamily="34" charset="-120"/>
              </a:rPr>
              <a:t>Collega o scollega un workspace da un branch Git.</a:t>
            </a:r>
            <a:endParaRPr lang="en-US" sz="1600" dirty="0"/>
          </a:p>
        </p:txBody>
      </p:sp>
      <p:sp>
        <p:nvSpPr>
          <p:cNvPr id="11" name="Shape 9"/>
          <p:cNvSpPr/>
          <p:nvPr/>
        </p:nvSpPr>
        <p:spPr>
          <a:xfrm>
            <a:off x="4007882" y="2681049"/>
            <a:ext cx="3079433" cy="1904524"/>
          </a:xfrm>
          <a:prstGeom prst="roundRect">
            <a:avLst>
              <a:gd name="adj" fmla="val 5761"/>
            </a:avLst>
          </a:prstGeom>
          <a:solidFill>
            <a:srgbClr val="FFFCFA"/>
          </a:solidFill>
          <a:ln w="22860">
            <a:solidFill>
              <a:srgbClr val="D1C8C6"/>
            </a:solidFill>
            <a:prstDash val="solid"/>
          </a:ln>
        </p:spPr>
        <p:txBody>
          <a:bodyPr/>
          <a:lstStyle/>
          <a:p>
            <a:endParaRPr lang="en-GB"/>
          </a:p>
        </p:txBody>
      </p:sp>
      <p:sp>
        <p:nvSpPr>
          <p:cNvPr id="12" name="Shape 10"/>
          <p:cNvSpPr/>
          <p:nvPr/>
        </p:nvSpPr>
        <p:spPr>
          <a:xfrm>
            <a:off x="3985022" y="2681049"/>
            <a:ext cx="91440" cy="1904524"/>
          </a:xfrm>
          <a:prstGeom prst="roundRect">
            <a:avLst>
              <a:gd name="adj" fmla="val 94419"/>
            </a:avLst>
          </a:prstGeom>
          <a:solidFill>
            <a:srgbClr val="835E54"/>
          </a:solidFill>
          <a:ln/>
        </p:spPr>
        <p:txBody>
          <a:bodyPr/>
          <a:lstStyle/>
          <a:p>
            <a:endParaRPr lang="en-GB"/>
          </a:p>
        </p:txBody>
      </p:sp>
      <p:sp>
        <p:nvSpPr>
          <p:cNvPr id="13" name="Text 11"/>
          <p:cNvSpPr/>
          <p:nvPr/>
        </p:nvSpPr>
        <p:spPr>
          <a:xfrm>
            <a:off x="4304824" y="2909411"/>
            <a:ext cx="2554129"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Get Status</a:t>
            </a:r>
            <a:endParaRPr lang="en-US" sz="2000" dirty="0"/>
          </a:p>
        </p:txBody>
      </p:sp>
      <p:sp>
        <p:nvSpPr>
          <p:cNvPr id="14" name="Text 12"/>
          <p:cNvSpPr/>
          <p:nvPr/>
        </p:nvSpPr>
        <p:spPr>
          <a:xfrm>
            <a:off x="4304824" y="3416737"/>
            <a:ext cx="2554129" cy="940475"/>
          </a:xfrm>
          <a:prstGeom prst="rect">
            <a:avLst/>
          </a:prstGeom>
          <a:noFill/>
          <a:ln/>
        </p:spPr>
        <p:txBody>
          <a:bodyPr wrap="square" lIns="0" tIns="0" rIns="0" bIns="0" rtlCol="0" anchor="t"/>
          <a:lstStyle/>
          <a:p>
            <a:pPr marL="0" indent="0" algn="l">
              <a:lnSpc>
                <a:spcPts val="2450"/>
              </a:lnSpc>
              <a:buNone/>
            </a:pPr>
            <a:r>
              <a:rPr lang="en-US" sz="1600" dirty="0">
                <a:solidFill>
                  <a:srgbClr val="443728"/>
                </a:solidFill>
                <a:latin typeface="Calibri" pitchFamily="34" charset="0"/>
                <a:ea typeface="Calibri" pitchFamily="34" charset="-122"/>
                <a:cs typeface="Calibri" pitchFamily="34" charset="-120"/>
              </a:rPr>
              <a:t>Recupera gli item con modifiche non committate o aggiornamenti in arrivo.</a:t>
            </a:r>
            <a:endParaRPr lang="en-US" sz="1600" dirty="0"/>
          </a:p>
        </p:txBody>
      </p:sp>
      <p:sp>
        <p:nvSpPr>
          <p:cNvPr id="15" name="Shape 13"/>
          <p:cNvSpPr/>
          <p:nvPr/>
        </p:nvSpPr>
        <p:spPr>
          <a:xfrm>
            <a:off x="742236" y="4771787"/>
            <a:ext cx="3079433" cy="1904524"/>
          </a:xfrm>
          <a:prstGeom prst="roundRect">
            <a:avLst>
              <a:gd name="adj" fmla="val 5761"/>
            </a:avLst>
          </a:prstGeom>
          <a:solidFill>
            <a:srgbClr val="FFFCFA"/>
          </a:solidFill>
          <a:ln w="22860">
            <a:solidFill>
              <a:srgbClr val="D1C8C6"/>
            </a:solidFill>
            <a:prstDash val="solid"/>
          </a:ln>
        </p:spPr>
        <p:txBody>
          <a:bodyPr/>
          <a:lstStyle/>
          <a:p>
            <a:endParaRPr lang="en-GB"/>
          </a:p>
        </p:txBody>
      </p:sp>
      <p:sp>
        <p:nvSpPr>
          <p:cNvPr id="16" name="Shape 14"/>
          <p:cNvSpPr/>
          <p:nvPr/>
        </p:nvSpPr>
        <p:spPr>
          <a:xfrm>
            <a:off x="719376" y="4771787"/>
            <a:ext cx="91440" cy="1904524"/>
          </a:xfrm>
          <a:prstGeom prst="roundRect">
            <a:avLst>
              <a:gd name="adj" fmla="val 94419"/>
            </a:avLst>
          </a:prstGeom>
          <a:solidFill>
            <a:srgbClr val="835E54"/>
          </a:solidFill>
          <a:ln/>
        </p:spPr>
        <p:txBody>
          <a:bodyPr/>
          <a:lstStyle/>
          <a:p>
            <a:endParaRPr lang="en-GB"/>
          </a:p>
        </p:txBody>
      </p:sp>
      <p:sp>
        <p:nvSpPr>
          <p:cNvPr id="17" name="Text 15"/>
          <p:cNvSpPr/>
          <p:nvPr/>
        </p:nvSpPr>
        <p:spPr>
          <a:xfrm>
            <a:off x="1039177" y="5000149"/>
            <a:ext cx="2554129"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Commit to Git</a:t>
            </a:r>
            <a:endParaRPr lang="en-US" sz="2000" dirty="0"/>
          </a:p>
        </p:txBody>
      </p:sp>
      <p:sp>
        <p:nvSpPr>
          <p:cNvPr id="18" name="Text 16"/>
          <p:cNvSpPr/>
          <p:nvPr/>
        </p:nvSpPr>
        <p:spPr>
          <a:xfrm>
            <a:off x="1039177" y="5507474"/>
            <a:ext cx="2554129" cy="940475"/>
          </a:xfrm>
          <a:prstGeom prst="rect">
            <a:avLst/>
          </a:prstGeom>
          <a:noFill/>
          <a:ln/>
        </p:spPr>
        <p:txBody>
          <a:bodyPr wrap="square" lIns="0" tIns="0" rIns="0" bIns="0" rtlCol="0" anchor="t"/>
          <a:lstStyle/>
          <a:p>
            <a:pPr marL="0" indent="0" algn="l">
              <a:lnSpc>
                <a:spcPts val="2450"/>
              </a:lnSpc>
              <a:buNone/>
            </a:pPr>
            <a:r>
              <a:rPr lang="en-US" sz="1600" dirty="0">
                <a:solidFill>
                  <a:srgbClr val="443728"/>
                </a:solidFill>
                <a:latin typeface="Calibri" pitchFamily="34" charset="0"/>
                <a:ea typeface="Calibri" pitchFamily="34" charset="-122"/>
                <a:cs typeface="Calibri" pitchFamily="34" charset="-120"/>
              </a:rPr>
              <a:t>Committa le modifiche del workspace — tutto o in modo selettivo.</a:t>
            </a:r>
            <a:endParaRPr lang="en-US" sz="1600" dirty="0"/>
          </a:p>
        </p:txBody>
      </p:sp>
      <p:sp>
        <p:nvSpPr>
          <p:cNvPr id="19" name="Shape 17"/>
          <p:cNvSpPr/>
          <p:nvPr/>
        </p:nvSpPr>
        <p:spPr>
          <a:xfrm>
            <a:off x="4007882" y="4771787"/>
            <a:ext cx="3079433" cy="1904524"/>
          </a:xfrm>
          <a:prstGeom prst="roundRect">
            <a:avLst>
              <a:gd name="adj" fmla="val 5761"/>
            </a:avLst>
          </a:prstGeom>
          <a:solidFill>
            <a:srgbClr val="FFFCFA"/>
          </a:solidFill>
          <a:ln w="22860">
            <a:solidFill>
              <a:srgbClr val="D1C8C6"/>
            </a:solidFill>
            <a:prstDash val="solid"/>
          </a:ln>
        </p:spPr>
        <p:txBody>
          <a:bodyPr/>
          <a:lstStyle/>
          <a:p>
            <a:endParaRPr lang="en-GB"/>
          </a:p>
        </p:txBody>
      </p:sp>
      <p:sp>
        <p:nvSpPr>
          <p:cNvPr id="20" name="Shape 18"/>
          <p:cNvSpPr/>
          <p:nvPr/>
        </p:nvSpPr>
        <p:spPr>
          <a:xfrm>
            <a:off x="3985022" y="4771787"/>
            <a:ext cx="91440" cy="1904524"/>
          </a:xfrm>
          <a:prstGeom prst="roundRect">
            <a:avLst>
              <a:gd name="adj" fmla="val 94419"/>
            </a:avLst>
          </a:prstGeom>
          <a:solidFill>
            <a:srgbClr val="835E54"/>
          </a:solidFill>
          <a:ln/>
        </p:spPr>
        <p:txBody>
          <a:bodyPr/>
          <a:lstStyle/>
          <a:p>
            <a:endParaRPr lang="en-GB"/>
          </a:p>
        </p:txBody>
      </p:sp>
      <p:sp>
        <p:nvSpPr>
          <p:cNvPr id="21" name="Text 19"/>
          <p:cNvSpPr/>
          <p:nvPr/>
        </p:nvSpPr>
        <p:spPr>
          <a:xfrm>
            <a:off x="4304824" y="5000149"/>
            <a:ext cx="2554129" cy="32111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ambria" pitchFamily="34" charset="0"/>
                <a:ea typeface="Cambria" pitchFamily="34" charset="-122"/>
                <a:cs typeface="Cambria" pitchFamily="34" charset="-120"/>
              </a:rPr>
              <a:t>Update From Git</a:t>
            </a:r>
            <a:endParaRPr lang="en-US" sz="2000" dirty="0"/>
          </a:p>
        </p:txBody>
      </p:sp>
      <p:sp>
        <p:nvSpPr>
          <p:cNvPr id="22" name="Text 20"/>
          <p:cNvSpPr/>
          <p:nvPr/>
        </p:nvSpPr>
        <p:spPr>
          <a:xfrm>
            <a:off x="4304824" y="5507474"/>
            <a:ext cx="2554129" cy="940475"/>
          </a:xfrm>
          <a:prstGeom prst="rect">
            <a:avLst/>
          </a:prstGeom>
          <a:noFill/>
          <a:ln/>
        </p:spPr>
        <p:txBody>
          <a:bodyPr wrap="square" lIns="0" tIns="0" rIns="0" bIns="0" rtlCol="0" anchor="t"/>
          <a:lstStyle/>
          <a:p>
            <a:pPr marL="0" indent="0" algn="l">
              <a:lnSpc>
                <a:spcPts val="2450"/>
              </a:lnSpc>
              <a:buNone/>
            </a:pPr>
            <a:r>
              <a:rPr lang="en-US" sz="1600" dirty="0">
                <a:solidFill>
                  <a:srgbClr val="443728"/>
                </a:solidFill>
                <a:latin typeface="Calibri" pitchFamily="34" charset="0"/>
                <a:ea typeface="Calibri" pitchFamily="34" charset="-122"/>
                <a:cs typeface="Calibri" pitchFamily="34" charset="-120"/>
              </a:rPr>
              <a:t>Aggiorna il workspace dai commit arrivati sul branch.</a:t>
            </a:r>
            <a:endParaRPr lang="en-US" sz="1600" dirty="0"/>
          </a:p>
        </p:txBody>
      </p:sp>
      <p:sp>
        <p:nvSpPr>
          <p:cNvPr id="23" name="Shape 21"/>
          <p:cNvSpPr/>
          <p:nvPr/>
        </p:nvSpPr>
        <p:spPr>
          <a:xfrm>
            <a:off x="7573566" y="2809994"/>
            <a:ext cx="6345079" cy="1150144"/>
          </a:xfrm>
          <a:prstGeom prst="roundRect">
            <a:avLst>
              <a:gd name="adj" fmla="val 7507"/>
            </a:avLst>
          </a:prstGeom>
          <a:solidFill>
            <a:srgbClr val="FCF2B5"/>
          </a:solidFill>
          <a:ln/>
        </p:spPr>
        <p:txBody>
          <a:bodyPr/>
          <a:lstStyle/>
          <a:p>
            <a:endParaRPr lang="en-GB"/>
          </a:p>
        </p:txBody>
      </p:sp>
      <p:pic>
        <p:nvPicPr>
          <p:cNvPr id="24" name="Image 0" descr="preencoded.png"/>
          <p:cNvPicPr>
            <a:picLocks noChangeAspect="1"/>
          </p:cNvPicPr>
          <p:nvPr/>
        </p:nvPicPr>
        <p:blipFill>
          <a:blip r:embed="rId3"/>
          <a:stretch>
            <a:fillRect/>
          </a:stretch>
        </p:blipFill>
        <p:spPr>
          <a:xfrm>
            <a:off x="7779068" y="3123128"/>
            <a:ext cx="256937" cy="205502"/>
          </a:xfrm>
          <a:prstGeom prst="rect">
            <a:avLst/>
          </a:prstGeom>
        </p:spPr>
      </p:pic>
      <p:sp>
        <p:nvSpPr>
          <p:cNvPr id="25" name="Text 22"/>
          <p:cNvSpPr/>
          <p:nvPr/>
        </p:nvSpPr>
        <p:spPr>
          <a:xfrm>
            <a:off x="8241506" y="3047524"/>
            <a:ext cx="5471636" cy="642223"/>
          </a:xfrm>
          <a:prstGeom prst="rect">
            <a:avLst/>
          </a:prstGeom>
          <a:noFill/>
          <a:ln/>
        </p:spPr>
        <p:txBody>
          <a:bodyPr wrap="square" lIns="0" tIns="0" rIns="0" bIns="0" rtlCol="0" anchor="t"/>
          <a:lstStyle/>
          <a:p>
            <a:pPr marL="0" indent="0" algn="l">
              <a:lnSpc>
                <a:spcPts val="2450"/>
              </a:lnSpc>
              <a:buNone/>
            </a:pPr>
            <a:r>
              <a:rPr lang="en-US" sz="1600" dirty="0">
                <a:solidFill>
                  <a:srgbClr val="000000"/>
                </a:solidFill>
                <a:latin typeface="Calibri" pitchFamily="34" charset="0"/>
                <a:ea typeface="Calibri" pitchFamily="34" charset="-122"/>
                <a:cs typeface="Calibri" pitchFamily="34" charset="-120"/>
              </a:rPr>
              <a:t>⚠️ Non </a:t>
            </a:r>
            <a:r>
              <a:rPr lang="en-US" sz="1600" dirty="0" err="1">
                <a:solidFill>
                  <a:srgbClr val="000000"/>
                </a:solidFill>
                <a:latin typeface="Calibri" pitchFamily="34" charset="0"/>
                <a:ea typeface="Calibri" pitchFamily="34" charset="-122"/>
                <a:cs typeface="Calibri" pitchFamily="34" charset="-120"/>
              </a:rPr>
              <a:t>gestiscono</a:t>
            </a:r>
            <a:r>
              <a:rPr lang="en-US" sz="1600" dirty="0">
                <a:solidFill>
                  <a:srgbClr val="000000"/>
                </a:solidFill>
                <a:latin typeface="Calibri" pitchFamily="34" charset="0"/>
                <a:ea typeface="Calibri" pitchFamily="34" charset="-122"/>
                <a:cs typeface="Calibri" pitchFamily="34" charset="-120"/>
              </a:rPr>
              <a:t> </a:t>
            </a:r>
            <a:r>
              <a:rPr lang="en-US" sz="1600" dirty="0" err="1">
                <a:solidFill>
                  <a:srgbClr val="000000"/>
                </a:solidFill>
                <a:latin typeface="Calibri" pitchFamily="34" charset="0"/>
                <a:ea typeface="Calibri" pitchFamily="34" charset="-122"/>
                <a:cs typeface="Calibri" pitchFamily="34" charset="-120"/>
              </a:rPr>
              <a:t>gli</a:t>
            </a:r>
            <a:r>
              <a:rPr lang="en-US" sz="1600" dirty="0">
                <a:solidFill>
                  <a:srgbClr val="000000"/>
                </a:solidFill>
                <a:latin typeface="Calibri" pitchFamily="34" charset="0"/>
                <a:ea typeface="Calibri" pitchFamily="34" charset="-122"/>
                <a:cs typeface="Calibri" pitchFamily="34" charset="-120"/>
              </a:rPr>
              <a:t> item. </a:t>
            </a:r>
            <a:r>
              <a:rPr lang="en-US" sz="1600" dirty="0" err="1">
                <a:solidFill>
                  <a:srgbClr val="000000"/>
                </a:solidFill>
                <a:latin typeface="Calibri" pitchFamily="34" charset="0"/>
                <a:ea typeface="Calibri" pitchFamily="34" charset="-122"/>
                <a:cs typeface="Calibri" pitchFamily="34" charset="-120"/>
              </a:rPr>
              <a:t>Gestiscono</a:t>
            </a:r>
            <a:r>
              <a:rPr lang="en-US" sz="1600" dirty="0">
                <a:solidFill>
                  <a:srgbClr val="000000"/>
                </a:solidFill>
                <a:latin typeface="Calibri" pitchFamily="34" charset="0"/>
                <a:ea typeface="Calibri" pitchFamily="34" charset="-122"/>
                <a:cs typeface="Calibri" pitchFamily="34" charset="-120"/>
              </a:rPr>
              <a:t> il synch </a:t>
            </a:r>
            <a:r>
              <a:rPr lang="en-US" sz="1600" dirty="0" err="1">
                <a:solidFill>
                  <a:srgbClr val="000000"/>
                </a:solidFill>
                <a:latin typeface="Calibri" pitchFamily="34" charset="0"/>
                <a:ea typeface="Calibri" pitchFamily="34" charset="-122"/>
                <a:cs typeface="Calibri" pitchFamily="34" charset="-120"/>
              </a:rPr>
              <a:t>tra</a:t>
            </a:r>
            <a:r>
              <a:rPr lang="en-US" sz="1600" dirty="0">
                <a:solidFill>
                  <a:srgbClr val="000000"/>
                </a:solidFill>
                <a:latin typeface="Calibri" pitchFamily="34" charset="0"/>
                <a:ea typeface="Calibri" pitchFamily="34" charset="-122"/>
                <a:cs typeface="Calibri" pitchFamily="34" charset="-120"/>
              </a:rPr>
              <a:t> workspace e GIT branch.</a:t>
            </a:r>
            <a:endParaRPr lang="en-US" sz="1600" dirty="0"/>
          </a:p>
        </p:txBody>
      </p:sp>
      <p:sp>
        <p:nvSpPr>
          <p:cNvPr id="26" name="Shape 23"/>
          <p:cNvSpPr/>
          <p:nvPr/>
        </p:nvSpPr>
        <p:spPr>
          <a:xfrm>
            <a:off x="7573566" y="4169688"/>
            <a:ext cx="6345079" cy="1463635"/>
          </a:xfrm>
          <a:prstGeom prst="roundRect">
            <a:avLst>
              <a:gd name="adj" fmla="val 5899"/>
            </a:avLst>
          </a:prstGeom>
          <a:solidFill>
            <a:srgbClr val="B6FCB8"/>
          </a:solidFill>
          <a:ln/>
        </p:spPr>
        <p:txBody>
          <a:bodyPr/>
          <a:lstStyle/>
          <a:p>
            <a:endParaRPr lang="en-GB"/>
          </a:p>
        </p:txBody>
      </p:sp>
      <p:pic>
        <p:nvPicPr>
          <p:cNvPr id="27" name="Image 1" descr="preencoded.png"/>
          <p:cNvPicPr>
            <a:picLocks noChangeAspect="1"/>
          </p:cNvPicPr>
          <p:nvPr/>
        </p:nvPicPr>
        <p:blipFill>
          <a:blip r:embed="rId4"/>
          <a:stretch>
            <a:fillRect/>
          </a:stretch>
        </p:blipFill>
        <p:spPr>
          <a:xfrm>
            <a:off x="7779068" y="4482822"/>
            <a:ext cx="256937" cy="205502"/>
          </a:xfrm>
          <a:prstGeom prst="rect">
            <a:avLst/>
          </a:prstGeom>
        </p:spPr>
      </p:pic>
      <p:sp>
        <p:nvSpPr>
          <p:cNvPr id="28" name="Text 24"/>
          <p:cNvSpPr/>
          <p:nvPr/>
        </p:nvSpPr>
        <p:spPr>
          <a:xfrm>
            <a:off x="8241506" y="4407218"/>
            <a:ext cx="5471636" cy="955715"/>
          </a:xfrm>
          <a:prstGeom prst="rect">
            <a:avLst/>
          </a:prstGeom>
          <a:noFill/>
          <a:ln/>
        </p:spPr>
        <p:txBody>
          <a:bodyPr wrap="square" lIns="0" tIns="0" rIns="0" bIns="0" rtlCol="0" anchor="t"/>
          <a:lstStyle/>
          <a:p>
            <a:pPr marL="0" indent="0" algn="l">
              <a:lnSpc>
                <a:spcPts val="2450"/>
              </a:lnSpc>
              <a:buNone/>
            </a:pPr>
            <a:r>
              <a:rPr lang="en-US" sz="1600" dirty="0">
                <a:solidFill>
                  <a:srgbClr val="000000"/>
                </a:solidFill>
                <a:latin typeface="Calibri" pitchFamily="34" charset="0"/>
                <a:ea typeface="Calibri" pitchFamily="34" charset="-122"/>
                <a:cs typeface="Calibri" pitchFamily="34" charset="-120"/>
              </a:rPr>
              <a:t>✅ </a:t>
            </a:r>
            <a:r>
              <a:rPr lang="en-US" sz="1600" b="1" dirty="0">
                <a:solidFill>
                  <a:srgbClr val="000000"/>
                </a:solidFill>
                <a:latin typeface="Calibri" pitchFamily="34" charset="0"/>
                <a:ea typeface="Calibri" pitchFamily="34" charset="-122"/>
                <a:cs typeface="Calibri" pitchFamily="34" charset="-120"/>
              </a:rPr>
              <a:t>Quando usarla:</a:t>
            </a:r>
            <a:r>
              <a:rPr lang="en-US" sz="1600" dirty="0">
                <a:solidFill>
                  <a:srgbClr val="000000"/>
                </a:solidFill>
                <a:latin typeface="Calibri" pitchFamily="34" charset="0"/>
                <a:ea typeface="Calibri" pitchFamily="34" charset="-122"/>
                <a:cs typeface="Calibri" pitchFamily="34" charset="-120"/>
              </a:rPr>
              <a:t> eliminare l'aggiornamento manuale del workspace dopo ogni merge su </a:t>
            </a:r>
            <a:r>
              <a:rPr lang="en-US" sz="1600" dirty="0">
                <a:solidFill>
                  <a:srgbClr val="000000"/>
                </a:solidFill>
                <a:highlight>
                  <a:srgbClr val="F2EFED"/>
                </a:highlight>
                <a:latin typeface="Consolas" pitchFamily="34" charset="0"/>
                <a:ea typeface="Consolas" pitchFamily="34" charset="-122"/>
                <a:cs typeface="Consolas" pitchFamily="34" charset="-120"/>
              </a:rPr>
              <a:t>main</a:t>
            </a:r>
            <a:r>
              <a:rPr lang="en-US" sz="1600" dirty="0">
                <a:solidFill>
                  <a:srgbClr val="000000"/>
                </a:solidFill>
                <a:latin typeface="Calibri" pitchFamily="34" charset="0"/>
                <a:ea typeface="Calibri" pitchFamily="34" charset="-122"/>
                <a:cs typeface="Calibri" pitchFamily="34" charset="-120"/>
              </a:rPr>
              <a:t>. Chiama </a:t>
            </a:r>
            <a:r>
              <a:rPr lang="en-US" sz="1600" dirty="0">
                <a:solidFill>
                  <a:srgbClr val="000000"/>
                </a:solidFill>
                <a:highlight>
                  <a:srgbClr val="F2EFED"/>
                </a:highlight>
                <a:latin typeface="Consolas" pitchFamily="34" charset="0"/>
                <a:ea typeface="Consolas" pitchFamily="34" charset="-122"/>
                <a:cs typeface="Consolas" pitchFamily="34" charset="-120"/>
              </a:rPr>
              <a:t>updateFromGit</a:t>
            </a:r>
            <a:r>
              <a:rPr lang="en-US" sz="1600" dirty="0">
                <a:solidFill>
                  <a:srgbClr val="000000"/>
                </a:solidFill>
                <a:latin typeface="Calibri" pitchFamily="34" charset="0"/>
                <a:ea typeface="Calibri" pitchFamily="34" charset="-122"/>
                <a:cs typeface="Calibri" pitchFamily="34" charset="-120"/>
              </a:rPr>
              <a:t> direttamente dalla pipeline ADO.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31758" y="618173"/>
            <a:ext cx="927021" cy="382429"/>
          </a:xfrm>
          <a:prstGeom prst="roundRect">
            <a:avLst>
              <a:gd name="adj" fmla="val 18372"/>
            </a:avLst>
          </a:prstGeom>
          <a:solidFill>
            <a:srgbClr val="EBE2E0"/>
          </a:solidFill>
          <a:ln/>
        </p:spPr>
        <p:txBody>
          <a:bodyPr/>
          <a:lstStyle/>
          <a:p>
            <a:endParaRPr lang="en-GB"/>
          </a:p>
        </p:txBody>
      </p:sp>
      <p:sp>
        <p:nvSpPr>
          <p:cNvPr id="3" name="Text 1"/>
          <p:cNvSpPr/>
          <p:nvPr/>
        </p:nvSpPr>
        <p:spPr>
          <a:xfrm>
            <a:off x="857131" y="680799"/>
            <a:ext cx="676275" cy="257175"/>
          </a:xfrm>
          <a:prstGeom prst="rect">
            <a:avLst/>
          </a:prstGeom>
          <a:noFill/>
          <a:ln/>
        </p:spPr>
        <p:txBody>
          <a:bodyPr wrap="none" lIns="0" tIns="0" rIns="0" bIns="0" rtlCol="0" anchor="t"/>
          <a:lstStyle/>
          <a:p>
            <a:pPr marL="0" indent="0" algn="l">
              <a:lnSpc>
                <a:spcPts val="2000"/>
              </a:lnSpc>
              <a:buNone/>
            </a:pPr>
            <a:r>
              <a:rPr lang="en-US" sz="1300" dirty="0">
                <a:solidFill>
                  <a:srgbClr val="443728"/>
                </a:solidFill>
                <a:latin typeface="Calibri" pitchFamily="34" charset="0"/>
                <a:ea typeface="Calibri" pitchFamily="34" charset="-122"/>
                <a:cs typeface="Calibri" pitchFamily="34" charset="-120"/>
              </a:rPr>
              <a:t>REST API</a:t>
            </a:r>
            <a:endParaRPr lang="en-US" sz="1300" dirty="0"/>
          </a:p>
        </p:txBody>
      </p:sp>
      <p:sp>
        <p:nvSpPr>
          <p:cNvPr id="4" name="Text 2"/>
          <p:cNvSpPr/>
          <p:nvPr/>
        </p:nvSpPr>
        <p:spPr>
          <a:xfrm>
            <a:off x="731758" y="1077635"/>
            <a:ext cx="5754172" cy="653415"/>
          </a:xfrm>
          <a:prstGeom prst="rect">
            <a:avLst/>
          </a:prstGeom>
          <a:noFill/>
          <a:ln/>
        </p:spPr>
        <p:txBody>
          <a:bodyPr wrap="none" lIns="0" tIns="0" rIns="0" bIns="0" rtlCol="0" anchor="t"/>
          <a:lstStyle/>
          <a:p>
            <a:pPr marL="0" indent="0" algn="l">
              <a:lnSpc>
                <a:spcPts val="5100"/>
              </a:lnSpc>
              <a:buNone/>
            </a:pPr>
            <a:r>
              <a:rPr lang="en-US" sz="4100" b="1" dirty="0">
                <a:solidFill>
                  <a:srgbClr val="443728"/>
                </a:solidFill>
                <a:latin typeface="Cambria" pitchFamily="34" charset="0"/>
                <a:ea typeface="Cambria" pitchFamily="34" charset="-122"/>
                <a:cs typeface="Cambria" pitchFamily="34" charset="-120"/>
              </a:rPr>
              <a:t>Deployment Pipelines API</a:t>
            </a:r>
            <a:endParaRPr lang="en-US" sz="4100" dirty="0"/>
          </a:p>
        </p:txBody>
      </p:sp>
      <p:sp>
        <p:nvSpPr>
          <p:cNvPr id="5" name="Text 3"/>
          <p:cNvSpPr/>
          <p:nvPr/>
        </p:nvSpPr>
        <p:spPr>
          <a:xfrm>
            <a:off x="2772431" y="1313715"/>
            <a:ext cx="13166884" cy="321350"/>
          </a:xfrm>
          <a:prstGeom prst="rect">
            <a:avLst/>
          </a:prstGeom>
          <a:noFill/>
          <a:ln/>
        </p:spPr>
        <p:txBody>
          <a:bodyPr wrap="none" lIns="0" tIns="0" rIns="0" bIns="0" rtlCol="0" anchor="t"/>
          <a:lstStyle/>
          <a:p>
            <a:pPr marL="0" indent="0" algn="ctr">
              <a:lnSpc>
                <a:spcPts val="2500"/>
              </a:lnSpc>
              <a:buNone/>
            </a:pPr>
            <a:r>
              <a:rPr lang="en-US" sz="1600" dirty="0">
                <a:solidFill>
                  <a:srgbClr val="443728"/>
                </a:solidFill>
                <a:highlight>
                  <a:srgbClr val="F2EFED"/>
                </a:highlight>
                <a:latin typeface="Consolas" pitchFamily="34" charset="0"/>
                <a:ea typeface="Consolas" pitchFamily="34" charset="-122"/>
                <a:cs typeface="Consolas" pitchFamily="34" charset="-120"/>
              </a:rPr>
              <a:t>api.fabric.microsoft.com/v1/deploymentPipelines/</a:t>
            </a:r>
            <a:endParaRPr lang="en-US" sz="1600" dirty="0"/>
          </a:p>
        </p:txBody>
      </p:sp>
      <p:sp>
        <p:nvSpPr>
          <p:cNvPr id="6" name="Shape 4"/>
          <p:cNvSpPr/>
          <p:nvPr/>
        </p:nvSpPr>
        <p:spPr>
          <a:xfrm>
            <a:off x="731758" y="2027553"/>
            <a:ext cx="6487001" cy="1196935"/>
          </a:xfrm>
          <a:prstGeom prst="roundRect">
            <a:avLst>
              <a:gd name="adj" fmla="val 7337"/>
            </a:avLst>
          </a:prstGeom>
          <a:solidFill>
            <a:srgbClr val="EBE2E0"/>
          </a:solidFill>
          <a:ln w="7620">
            <a:solidFill>
              <a:srgbClr val="D1C8C6"/>
            </a:solidFill>
            <a:prstDash val="solid"/>
          </a:ln>
        </p:spPr>
        <p:txBody>
          <a:bodyPr/>
          <a:lstStyle/>
          <a:p>
            <a:endParaRPr lang="en-GB"/>
          </a:p>
        </p:txBody>
      </p:sp>
      <p:sp>
        <p:nvSpPr>
          <p:cNvPr id="7" name="Text 5"/>
          <p:cNvSpPr/>
          <p:nvPr/>
        </p:nvSpPr>
        <p:spPr>
          <a:xfrm>
            <a:off x="948452" y="2244247"/>
            <a:ext cx="2613779" cy="326588"/>
          </a:xfrm>
          <a:prstGeom prst="rect">
            <a:avLst/>
          </a:prstGeom>
          <a:noFill/>
          <a:ln/>
        </p:spPr>
        <p:txBody>
          <a:bodyPr wrap="none" lIns="0" tIns="0" rIns="0" bIns="0" rtlCol="0" anchor="t"/>
          <a:lstStyle/>
          <a:p>
            <a:pPr marL="0" indent="0" algn="l">
              <a:lnSpc>
                <a:spcPts val="2550"/>
              </a:lnSpc>
              <a:buNone/>
            </a:pPr>
            <a:r>
              <a:rPr lang="en-US" sz="2050" b="1" dirty="0">
                <a:solidFill>
                  <a:srgbClr val="443728"/>
                </a:solidFill>
                <a:latin typeface="Cambria" pitchFamily="34" charset="0"/>
                <a:ea typeface="Cambria" pitchFamily="34" charset="-122"/>
                <a:cs typeface="Cambria" pitchFamily="34" charset="-120"/>
              </a:rPr>
              <a:t>List / Get Pipeline</a:t>
            </a:r>
            <a:endParaRPr lang="en-US" sz="2050" dirty="0"/>
          </a:p>
        </p:txBody>
      </p:sp>
      <p:sp>
        <p:nvSpPr>
          <p:cNvPr id="8" name="Text 6"/>
          <p:cNvSpPr/>
          <p:nvPr/>
        </p:nvSpPr>
        <p:spPr>
          <a:xfrm>
            <a:off x="948452" y="2686445"/>
            <a:ext cx="6053614" cy="321350"/>
          </a:xfrm>
          <a:prstGeom prst="rect">
            <a:avLst/>
          </a:prstGeom>
          <a:noFill/>
          <a:ln/>
        </p:spPr>
        <p:txBody>
          <a:bodyPr wrap="none" lIns="0" tIns="0" rIns="0" bIns="0" rtlCol="0" anchor="t"/>
          <a:lstStyle/>
          <a:p>
            <a:pPr marL="0" indent="0" algn="l">
              <a:lnSpc>
                <a:spcPts val="2500"/>
              </a:lnSpc>
              <a:buNone/>
            </a:pPr>
            <a:r>
              <a:rPr lang="en-US" sz="1600" dirty="0">
                <a:solidFill>
                  <a:srgbClr val="443728"/>
                </a:solidFill>
                <a:latin typeface="Calibri" pitchFamily="34" charset="0"/>
                <a:ea typeface="Calibri" pitchFamily="34" charset="-122"/>
                <a:cs typeface="Calibri" pitchFamily="34" charset="-120"/>
              </a:rPr>
              <a:t>Recupera pipeline e stage ID per le operazioni successive.</a:t>
            </a:r>
            <a:endParaRPr lang="en-US" sz="1600" dirty="0"/>
          </a:p>
        </p:txBody>
      </p:sp>
      <p:sp>
        <p:nvSpPr>
          <p:cNvPr id="9" name="Shape 7"/>
          <p:cNvSpPr/>
          <p:nvPr/>
        </p:nvSpPr>
        <p:spPr>
          <a:xfrm>
            <a:off x="7411522" y="2027553"/>
            <a:ext cx="6487120" cy="1196935"/>
          </a:xfrm>
          <a:prstGeom prst="roundRect">
            <a:avLst>
              <a:gd name="adj" fmla="val 7337"/>
            </a:avLst>
          </a:prstGeom>
          <a:solidFill>
            <a:srgbClr val="EBE2E0"/>
          </a:solidFill>
          <a:ln w="7620">
            <a:solidFill>
              <a:srgbClr val="D1C8C6"/>
            </a:solidFill>
            <a:prstDash val="solid"/>
          </a:ln>
        </p:spPr>
        <p:txBody>
          <a:bodyPr/>
          <a:lstStyle/>
          <a:p>
            <a:endParaRPr lang="en-GB"/>
          </a:p>
        </p:txBody>
      </p:sp>
      <p:sp>
        <p:nvSpPr>
          <p:cNvPr id="10" name="Text 8"/>
          <p:cNvSpPr/>
          <p:nvPr/>
        </p:nvSpPr>
        <p:spPr>
          <a:xfrm>
            <a:off x="7628215" y="2244247"/>
            <a:ext cx="2613779" cy="326588"/>
          </a:xfrm>
          <a:prstGeom prst="rect">
            <a:avLst/>
          </a:prstGeom>
          <a:noFill/>
          <a:ln/>
        </p:spPr>
        <p:txBody>
          <a:bodyPr wrap="none" lIns="0" tIns="0" rIns="0" bIns="0" rtlCol="0" anchor="t"/>
          <a:lstStyle/>
          <a:p>
            <a:pPr marL="0" indent="0" algn="l">
              <a:lnSpc>
                <a:spcPts val="2550"/>
              </a:lnSpc>
              <a:buNone/>
            </a:pPr>
            <a:r>
              <a:rPr lang="en-US" sz="2050" b="1" dirty="0">
                <a:solidFill>
                  <a:srgbClr val="443728"/>
                </a:solidFill>
                <a:latin typeface="Cambria" pitchFamily="34" charset="0"/>
                <a:ea typeface="Cambria" pitchFamily="34" charset="-122"/>
                <a:cs typeface="Cambria" pitchFamily="34" charset="-120"/>
              </a:rPr>
              <a:t>List Stage Items</a:t>
            </a:r>
            <a:endParaRPr lang="en-US" sz="2050" dirty="0"/>
          </a:p>
        </p:txBody>
      </p:sp>
      <p:sp>
        <p:nvSpPr>
          <p:cNvPr id="11" name="Text 9"/>
          <p:cNvSpPr/>
          <p:nvPr/>
        </p:nvSpPr>
        <p:spPr>
          <a:xfrm>
            <a:off x="7628215" y="2686445"/>
            <a:ext cx="6053733" cy="321350"/>
          </a:xfrm>
          <a:prstGeom prst="rect">
            <a:avLst/>
          </a:prstGeom>
          <a:noFill/>
          <a:ln/>
        </p:spPr>
        <p:txBody>
          <a:bodyPr wrap="none" lIns="0" tIns="0" rIns="0" bIns="0" rtlCol="0" anchor="t"/>
          <a:lstStyle/>
          <a:p>
            <a:pPr marL="0" indent="0" algn="l">
              <a:lnSpc>
                <a:spcPts val="2500"/>
              </a:lnSpc>
              <a:buNone/>
            </a:pPr>
            <a:r>
              <a:rPr lang="en-US" sz="1600" dirty="0">
                <a:solidFill>
                  <a:srgbClr val="443728"/>
                </a:solidFill>
                <a:latin typeface="Calibri" pitchFamily="34" charset="0"/>
                <a:ea typeface="Calibri" pitchFamily="34" charset="-122"/>
                <a:cs typeface="Calibri" pitchFamily="34" charset="-120"/>
              </a:rPr>
              <a:t>Stato degli item per stage: nuovo, modificato o identico.</a:t>
            </a:r>
            <a:endParaRPr lang="en-US" sz="1600" dirty="0"/>
          </a:p>
        </p:txBody>
      </p:sp>
      <p:sp>
        <p:nvSpPr>
          <p:cNvPr id="12" name="Shape 10"/>
          <p:cNvSpPr/>
          <p:nvPr/>
        </p:nvSpPr>
        <p:spPr>
          <a:xfrm>
            <a:off x="731758" y="3417250"/>
            <a:ext cx="6487001" cy="1518285"/>
          </a:xfrm>
          <a:prstGeom prst="roundRect">
            <a:avLst>
              <a:gd name="adj" fmla="val 5784"/>
            </a:avLst>
          </a:prstGeom>
          <a:solidFill>
            <a:srgbClr val="EBE2E0"/>
          </a:solidFill>
          <a:ln w="7620">
            <a:solidFill>
              <a:srgbClr val="D1C8C6"/>
            </a:solidFill>
            <a:prstDash val="solid"/>
          </a:ln>
        </p:spPr>
        <p:txBody>
          <a:bodyPr/>
          <a:lstStyle/>
          <a:p>
            <a:endParaRPr lang="en-GB"/>
          </a:p>
        </p:txBody>
      </p:sp>
      <p:sp>
        <p:nvSpPr>
          <p:cNvPr id="13" name="Text 11"/>
          <p:cNvSpPr/>
          <p:nvPr/>
        </p:nvSpPr>
        <p:spPr>
          <a:xfrm>
            <a:off x="948452" y="3633944"/>
            <a:ext cx="2613779" cy="326588"/>
          </a:xfrm>
          <a:prstGeom prst="rect">
            <a:avLst/>
          </a:prstGeom>
          <a:noFill/>
          <a:ln/>
        </p:spPr>
        <p:txBody>
          <a:bodyPr wrap="none" lIns="0" tIns="0" rIns="0" bIns="0" rtlCol="0" anchor="t"/>
          <a:lstStyle/>
          <a:p>
            <a:pPr marL="0" indent="0" algn="l">
              <a:lnSpc>
                <a:spcPts val="2550"/>
              </a:lnSpc>
              <a:buNone/>
            </a:pPr>
            <a:r>
              <a:rPr lang="en-US" sz="2050" b="1" dirty="0">
                <a:solidFill>
                  <a:srgbClr val="443728"/>
                </a:solidFill>
                <a:latin typeface="Cambria" pitchFamily="34" charset="0"/>
                <a:ea typeface="Cambria" pitchFamily="34" charset="-122"/>
                <a:cs typeface="Cambria" pitchFamily="34" charset="-120"/>
              </a:rPr>
              <a:t>Deploy Stage Content</a:t>
            </a:r>
            <a:endParaRPr lang="en-US" sz="2050" dirty="0"/>
          </a:p>
        </p:txBody>
      </p:sp>
      <p:sp>
        <p:nvSpPr>
          <p:cNvPr id="14" name="Text 12"/>
          <p:cNvSpPr/>
          <p:nvPr/>
        </p:nvSpPr>
        <p:spPr>
          <a:xfrm>
            <a:off x="948452" y="4076142"/>
            <a:ext cx="6053614" cy="642699"/>
          </a:xfrm>
          <a:prstGeom prst="rect">
            <a:avLst/>
          </a:prstGeom>
          <a:noFill/>
          <a:ln/>
        </p:spPr>
        <p:txBody>
          <a:bodyPr wrap="square" lIns="0" tIns="0" rIns="0" bIns="0" rtlCol="0" anchor="t"/>
          <a:lstStyle/>
          <a:p>
            <a:pPr marL="0" indent="0" algn="l">
              <a:lnSpc>
                <a:spcPts val="2500"/>
              </a:lnSpc>
              <a:buNone/>
            </a:pPr>
            <a:r>
              <a:rPr lang="en-US" sz="1600" dirty="0">
                <a:solidFill>
                  <a:srgbClr val="443728"/>
                </a:solidFill>
                <a:latin typeface="Calibri" pitchFamily="34" charset="0"/>
                <a:ea typeface="Calibri" pitchFamily="34" charset="-122"/>
                <a:cs typeface="Calibri" pitchFamily="34" charset="-120"/>
              </a:rPr>
              <a:t>Promuove da uno stage al </a:t>
            </a:r>
            <a:r>
              <a:rPr lang="en-US" sz="1600" dirty="0" err="1">
                <a:solidFill>
                  <a:srgbClr val="443728"/>
                </a:solidFill>
                <a:latin typeface="Calibri" pitchFamily="34" charset="0"/>
                <a:ea typeface="Calibri" pitchFamily="34" charset="-122"/>
                <a:cs typeface="Calibri" pitchFamily="34" charset="-120"/>
              </a:rPr>
              <a:t>successivo</a:t>
            </a:r>
            <a:r>
              <a:rPr lang="en-US" sz="1600" dirty="0">
                <a:solidFill>
                  <a:srgbClr val="443728"/>
                </a:solidFill>
                <a:latin typeface="Calibri" pitchFamily="34" charset="0"/>
                <a:ea typeface="Calibri" pitchFamily="34" charset="-122"/>
                <a:cs typeface="Calibri" pitchFamily="34" charset="-120"/>
              </a:rPr>
              <a:t> </a:t>
            </a:r>
            <a:r>
              <a:rPr lang="en-US" sz="1600" dirty="0" err="1">
                <a:solidFill>
                  <a:srgbClr val="443728"/>
                </a:solidFill>
                <a:latin typeface="Calibri" pitchFamily="34" charset="0"/>
                <a:ea typeface="Calibri" pitchFamily="34" charset="-122"/>
                <a:cs typeface="Calibri" pitchFamily="34" charset="-120"/>
              </a:rPr>
              <a:t>tutto</a:t>
            </a:r>
            <a:r>
              <a:rPr lang="en-US" sz="1600" dirty="0">
                <a:solidFill>
                  <a:srgbClr val="443728"/>
                </a:solidFill>
                <a:latin typeface="Calibri" pitchFamily="34" charset="0"/>
                <a:ea typeface="Calibri" pitchFamily="34" charset="-122"/>
                <a:cs typeface="Calibri" pitchFamily="34" charset="-120"/>
              </a:rPr>
              <a:t> o in maniera </a:t>
            </a:r>
            <a:r>
              <a:rPr lang="en-US" sz="1600" dirty="0" err="1">
                <a:solidFill>
                  <a:srgbClr val="443728"/>
                </a:solidFill>
                <a:latin typeface="Calibri" pitchFamily="34" charset="0"/>
                <a:ea typeface="Calibri" pitchFamily="34" charset="-122"/>
                <a:cs typeface="Calibri" pitchFamily="34" charset="-120"/>
              </a:rPr>
              <a:t>selettiva</a:t>
            </a:r>
            <a:r>
              <a:rPr lang="en-US" sz="1600" dirty="0">
                <a:solidFill>
                  <a:srgbClr val="443728"/>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7411522" y="3417250"/>
            <a:ext cx="6487120" cy="1518285"/>
          </a:xfrm>
          <a:prstGeom prst="roundRect">
            <a:avLst>
              <a:gd name="adj" fmla="val 5784"/>
            </a:avLst>
          </a:prstGeom>
          <a:solidFill>
            <a:srgbClr val="EBE2E0"/>
          </a:solidFill>
          <a:ln w="7620">
            <a:solidFill>
              <a:srgbClr val="D1C8C6"/>
            </a:solidFill>
            <a:prstDash val="solid"/>
          </a:ln>
        </p:spPr>
        <p:txBody>
          <a:bodyPr/>
          <a:lstStyle/>
          <a:p>
            <a:endParaRPr lang="en-GB"/>
          </a:p>
        </p:txBody>
      </p:sp>
      <p:sp>
        <p:nvSpPr>
          <p:cNvPr id="16" name="Text 14"/>
          <p:cNvSpPr/>
          <p:nvPr/>
        </p:nvSpPr>
        <p:spPr>
          <a:xfrm>
            <a:off x="7628215" y="3633944"/>
            <a:ext cx="3239810" cy="326588"/>
          </a:xfrm>
          <a:prstGeom prst="rect">
            <a:avLst/>
          </a:prstGeom>
          <a:noFill/>
          <a:ln/>
        </p:spPr>
        <p:txBody>
          <a:bodyPr wrap="none" lIns="0" tIns="0" rIns="0" bIns="0" rtlCol="0" anchor="t"/>
          <a:lstStyle/>
          <a:p>
            <a:pPr marL="0" indent="0" algn="l">
              <a:lnSpc>
                <a:spcPts val="2550"/>
              </a:lnSpc>
              <a:buNone/>
            </a:pPr>
            <a:r>
              <a:rPr lang="en-US" sz="2050" b="1" dirty="0">
                <a:solidFill>
                  <a:srgbClr val="443728"/>
                </a:solidFill>
                <a:latin typeface="Cambria" pitchFamily="34" charset="0"/>
                <a:ea typeface="Cambria" pitchFamily="34" charset="-122"/>
                <a:cs typeface="Cambria" pitchFamily="34" charset="-120"/>
              </a:rPr>
              <a:t>Assign / Unassign Workspace</a:t>
            </a:r>
            <a:endParaRPr lang="en-US" sz="2050" dirty="0"/>
          </a:p>
        </p:txBody>
      </p:sp>
      <p:sp>
        <p:nvSpPr>
          <p:cNvPr id="17" name="Text 15"/>
          <p:cNvSpPr/>
          <p:nvPr/>
        </p:nvSpPr>
        <p:spPr>
          <a:xfrm>
            <a:off x="7628215" y="4076142"/>
            <a:ext cx="6053733" cy="321350"/>
          </a:xfrm>
          <a:prstGeom prst="rect">
            <a:avLst/>
          </a:prstGeom>
          <a:noFill/>
          <a:ln/>
        </p:spPr>
        <p:txBody>
          <a:bodyPr wrap="none" lIns="0" tIns="0" rIns="0" bIns="0" rtlCol="0" anchor="t"/>
          <a:lstStyle/>
          <a:p>
            <a:pPr marL="0" indent="0" algn="l">
              <a:lnSpc>
                <a:spcPts val="2500"/>
              </a:lnSpc>
              <a:buNone/>
            </a:pPr>
            <a:r>
              <a:rPr lang="en-US" sz="1600" dirty="0">
                <a:solidFill>
                  <a:srgbClr val="443728"/>
                </a:solidFill>
                <a:latin typeface="Calibri" pitchFamily="34" charset="0"/>
                <a:ea typeface="Calibri" pitchFamily="34" charset="-122"/>
                <a:cs typeface="Calibri" pitchFamily="34" charset="-120"/>
              </a:rPr>
              <a:t>Associa o dissocia workspace dagli stage della pipeline.</a:t>
            </a:r>
            <a:endParaRPr lang="en-US" sz="1600" dirty="0"/>
          </a:p>
        </p:txBody>
      </p:sp>
      <p:sp>
        <p:nvSpPr>
          <p:cNvPr id="18" name="Shape 16"/>
          <p:cNvSpPr/>
          <p:nvPr/>
        </p:nvSpPr>
        <p:spPr>
          <a:xfrm>
            <a:off x="731758" y="5369161"/>
            <a:ext cx="6328410" cy="1173361"/>
          </a:xfrm>
          <a:prstGeom prst="roundRect">
            <a:avLst>
              <a:gd name="adj" fmla="val 7485"/>
            </a:avLst>
          </a:prstGeom>
          <a:solidFill>
            <a:srgbClr val="FCF2B5"/>
          </a:solidFill>
          <a:ln/>
        </p:spPr>
        <p:txBody>
          <a:bodyPr/>
          <a:lstStyle/>
          <a:p>
            <a:endParaRPr lang="en-GB"/>
          </a:p>
        </p:txBody>
      </p:sp>
      <p:pic>
        <p:nvPicPr>
          <p:cNvPr id="19" name="Image 0" descr="preencoded.png"/>
          <p:cNvPicPr>
            <a:picLocks noChangeAspect="1"/>
          </p:cNvPicPr>
          <p:nvPr/>
        </p:nvPicPr>
        <p:blipFill>
          <a:blip r:embed="rId3"/>
          <a:stretch>
            <a:fillRect/>
          </a:stretch>
        </p:blipFill>
        <p:spPr>
          <a:xfrm>
            <a:off x="940832" y="5683724"/>
            <a:ext cx="261342" cy="209074"/>
          </a:xfrm>
          <a:prstGeom prst="rect">
            <a:avLst/>
          </a:prstGeom>
        </p:spPr>
      </p:pic>
      <p:sp>
        <p:nvSpPr>
          <p:cNvPr id="20" name="Text 17"/>
          <p:cNvSpPr/>
          <p:nvPr/>
        </p:nvSpPr>
        <p:spPr>
          <a:xfrm>
            <a:off x="1411248" y="5614192"/>
            <a:ext cx="5439847" cy="650319"/>
          </a:xfrm>
          <a:prstGeom prst="rect">
            <a:avLst/>
          </a:prstGeom>
          <a:noFill/>
          <a:ln/>
        </p:spPr>
        <p:txBody>
          <a:bodyPr wrap="square" lIns="0" tIns="0" rIns="0" bIns="0" rtlCol="0" anchor="t"/>
          <a:lstStyle/>
          <a:p>
            <a:pPr marL="0" indent="0" algn="l">
              <a:lnSpc>
                <a:spcPts val="2500"/>
              </a:lnSpc>
              <a:buNone/>
            </a:pPr>
            <a:r>
              <a:rPr lang="en-US" sz="1600" dirty="0">
                <a:solidFill>
                  <a:srgbClr val="000000"/>
                </a:solidFill>
                <a:latin typeface="Calibri" pitchFamily="34" charset="0"/>
                <a:ea typeface="Calibri" pitchFamily="34" charset="-122"/>
                <a:cs typeface="Calibri" pitchFamily="34" charset="-120"/>
              </a:rPr>
              <a:t>⚠️ La pipeline deve </a:t>
            </a:r>
            <a:r>
              <a:rPr lang="en-US" sz="1600" b="1" dirty="0">
                <a:solidFill>
                  <a:srgbClr val="000000"/>
                </a:solidFill>
                <a:latin typeface="Calibri" pitchFamily="34" charset="0"/>
                <a:ea typeface="Calibri" pitchFamily="34" charset="-122"/>
                <a:cs typeface="Calibri" pitchFamily="34" charset="-120"/>
              </a:rPr>
              <a:t>esistere già</a:t>
            </a:r>
            <a:r>
              <a:rPr lang="en-US" sz="1600" dirty="0">
                <a:solidFill>
                  <a:srgbClr val="000000"/>
                </a:solidFill>
                <a:latin typeface="Calibri" pitchFamily="34" charset="0"/>
                <a:ea typeface="Calibri" pitchFamily="34" charset="-122"/>
                <a:cs typeface="Calibri" pitchFamily="34" charset="-120"/>
              </a:rPr>
              <a:t> in Fabric. Le API automatizzano il flusso, non configurano la pipeline.</a:t>
            </a:r>
            <a:endParaRPr lang="en-US" sz="1600" dirty="0"/>
          </a:p>
        </p:txBody>
      </p:sp>
      <p:sp>
        <p:nvSpPr>
          <p:cNvPr id="21" name="Shape 18"/>
          <p:cNvSpPr/>
          <p:nvPr/>
        </p:nvSpPr>
        <p:spPr>
          <a:xfrm>
            <a:off x="7577852" y="5369161"/>
            <a:ext cx="6328410" cy="1494711"/>
          </a:xfrm>
          <a:prstGeom prst="roundRect">
            <a:avLst>
              <a:gd name="adj" fmla="val 5876"/>
            </a:avLst>
          </a:prstGeom>
          <a:solidFill>
            <a:srgbClr val="B6FCB8"/>
          </a:solidFill>
          <a:ln/>
        </p:spPr>
        <p:txBody>
          <a:bodyPr/>
          <a:lstStyle/>
          <a:p>
            <a:endParaRPr lang="en-GB"/>
          </a:p>
        </p:txBody>
      </p:sp>
      <p:pic>
        <p:nvPicPr>
          <p:cNvPr id="22" name="Image 1" descr="preencoded.png"/>
          <p:cNvPicPr>
            <a:picLocks noChangeAspect="1"/>
          </p:cNvPicPr>
          <p:nvPr/>
        </p:nvPicPr>
        <p:blipFill>
          <a:blip r:embed="rId4"/>
          <a:stretch>
            <a:fillRect/>
          </a:stretch>
        </p:blipFill>
        <p:spPr>
          <a:xfrm>
            <a:off x="7786926" y="5683724"/>
            <a:ext cx="261342" cy="209074"/>
          </a:xfrm>
          <a:prstGeom prst="rect">
            <a:avLst/>
          </a:prstGeom>
        </p:spPr>
      </p:pic>
      <p:sp>
        <p:nvSpPr>
          <p:cNvPr id="23" name="Text 19"/>
          <p:cNvSpPr/>
          <p:nvPr/>
        </p:nvSpPr>
        <p:spPr>
          <a:xfrm>
            <a:off x="8257342" y="5614192"/>
            <a:ext cx="5439847" cy="971669"/>
          </a:xfrm>
          <a:prstGeom prst="rect">
            <a:avLst/>
          </a:prstGeom>
          <a:noFill/>
          <a:ln/>
        </p:spPr>
        <p:txBody>
          <a:bodyPr wrap="square" lIns="0" tIns="0" rIns="0" bIns="0" rtlCol="0" anchor="t"/>
          <a:lstStyle/>
          <a:p>
            <a:pPr marL="0" indent="0" algn="l">
              <a:lnSpc>
                <a:spcPts val="2500"/>
              </a:lnSpc>
              <a:buNone/>
            </a:pPr>
            <a:r>
              <a:rPr lang="en-US" sz="1600" dirty="0">
                <a:solidFill>
                  <a:srgbClr val="000000"/>
                </a:solidFill>
                <a:latin typeface="Calibri" pitchFamily="34" charset="0"/>
                <a:ea typeface="Calibri" pitchFamily="34" charset="-122"/>
                <a:cs typeface="Calibri" pitchFamily="34" charset="-120"/>
              </a:rPr>
              <a:t>✅ </a:t>
            </a:r>
            <a:r>
              <a:rPr lang="en-US" sz="1600" b="1" dirty="0">
                <a:solidFill>
                  <a:srgbClr val="000000"/>
                </a:solidFill>
                <a:latin typeface="Calibri" pitchFamily="34" charset="0"/>
                <a:ea typeface="Calibri" pitchFamily="34" charset="-122"/>
                <a:cs typeface="Calibri" pitchFamily="34" charset="-120"/>
              </a:rPr>
              <a:t>Quando usarla:</a:t>
            </a:r>
            <a:r>
              <a:rPr lang="en-US" sz="1600" dirty="0">
                <a:solidFill>
                  <a:srgbClr val="000000"/>
                </a:solidFill>
                <a:latin typeface="Calibri" pitchFamily="34" charset="0"/>
                <a:ea typeface="Calibri" pitchFamily="34" charset="-122"/>
                <a:cs typeface="Calibri" pitchFamily="34" charset="-120"/>
              </a:rPr>
              <a:t> triggerare la promozione </a:t>
            </a:r>
            <a:r>
              <a:rPr lang="en-US" sz="1600" dirty="0">
                <a:solidFill>
                  <a:srgbClr val="000000"/>
                </a:solidFill>
                <a:highlight>
                  <a:srgbClr val="F2EFED"/>
                </a:highlight>
                <a:latin typeface="Consolas" pitchFamily="34" charset="0"/>
                <a:ea typeface="Consolas" pitchFamily="34" charset="-122"/>
                <a:cs typeface="Consolas" pitchFamily="34" charset="-120"/>
              </a:rPr>
              <a:t>Dev → Prod</a:t>
            </a:r>
            <a:r>
              <a:rPr lang="en-US" sz="1600" dirty="0">
                <a:solidFill>
                  <a:srgbClr val="000000"/>
                </a:solidFill>
                <a:latin typeface="Calibri" pitchFamily="34" charset="0"/>
                <a:ea typeface="Calibri" pitchFamily="34" charset="-122"/>
                <a:cs typeface="Calibri" pitchFamily="34" charset="-120"/>
              </a:rPr>
              <a:t> da una release pipeline ADO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690568" y="537567"/>
            <a:ext cx="1392079" cy="276820"/>
          </a:xfrm>
          <a:prstGeom prst="roundRect">
            <a:avLst>
              <a:gd name="adj" fmla="val 19789"/>
            </a:avLst>
          </a:prstGeom>
          <a:solidFill>
            <a:srgbClr val="EBE2E0"/>
          </a:solidFill>
          <a:ln/>
        </p:spPr>
        <p:txBody>
          <a:bodyPr/>
          <a:lstStyle/>
          <a:p>
            <a:endParaRPr lang="en-GB"/>
          </a:p>
        </p:txBody>
      </p:sp>
      <p:sp>
        <p:nvSpPr>
          <p:cNvPr id="3" name="Text 1"/>
          <p:cNvSpPr/>
          <p:nvPr/>
        </p:nvSpPr>
        <p:spPr>
          <a:xfrm>
            <a:off x="1788319" y="586383"/>
            <a:ext cx="1196578" cy="179189"/>
          </a:xfrm>
          <a:prstGeom prst="rect">
            <a:avLst/>
          </a:prstGeom>
          <a:noFill/>
          <a:ln/>
        </p:spPr>
        <p:txBody>
          <a:bodyPr wrap="none" lIns="0" tIns="0" rIns="0" bIns="0" rtlCol="0" anchor="t"/>
          <a:lstStyle/>
          <a:p>
            <a:pPr marL="0" indent="0" algn="l">
              <a:lnSpc>
                <a:spcPts val="1400"/>
              </a:lnSpc>
              <a:buNone/>
            </a:pPr>
            <a:r>
              <a:rPr lang="en-US" sz="1000" dirty="0">
                <a:solidFill>
                  <a:srgbClr val="443728"/>
                </a:solidFill>
                <a:latin typeface="Calibri" pitchFamily="34" charset="0"/>
                <a:ea typeface="Calibri" pitchFamily="34" charset="-122"/>
                <a:cs typeface="Calibri" pitchFamily="34" charset="-120"/>
              </a:rPr>
              <a:t>MICROSOFT FABRIC</a:t>
            </a:r>
            <a:endParaRPr lang="en-US" sz="1000" dirty="0"/>
          </a:p>
        </p:txBody>
      </p:sp>
      <p:sp>
        <p:nvSpPr>
          <p:cNvPr id="4" name="Text 2"/>
          <p:cNvSpPr/>
          <p:nvPr/>
        </p:nvSpPr>
        <p:spPr>
          <a:xfrm>
            <a:off x="1690568" y="861179"/>
            <a:ext cx="4075748" cy="509349"/>
          </a:xfrm>
          <a:prstGeom prst="rect">
            <a:avLst/>
          </a:prstGeom>
          <a:noFill/>
          <a:ln/>
        </p:spPr>
        <p:txBody>
          <a:bodyPr wrap="none" lIns="0" tIns="0" rIns="0" bIns="0" rtlCol="0" anchor="t"/>
          <a:lstStyle/>
          <a:p>
            <a:pPr marL="0" indent="0" algn="l">
              <a:lnSpc>
                <a:spcPts val="4000"/>
              </a:lnSpc>
              <a:buNone/>
            </a:pPr>
            <a:r>
              <a:rPr lang="en-US" sz="3200" b="1" dirty="0">
                <a:solidFill>
                  <a:srgbClr val="443728"/>
                </a:solidFill>
                <a:latin typeface="Cambria" pitchFamily="34" charset="0"/>
                <a:ea typeface="Cambria" pitchFamily="34" charset="-122"/>
                <a:cs typeface="Cambria" pitchFamily="34" charset="-120"/>
              </a:rPr>
              <a:t>Fabric Item API</a:t>
            </a:r>
            <a:endParaRPr lang="en-US" sz="3200" dirty="0"/>
          </a:p>
        </p:txBody>
      </p:sp>
      <p:sp>
        <p:nvSpPr>
          <p:cNvPr id="5" name="Text 3"/>
          <p:cNvSpPr/>
          <p:nvPr/>
        </p:nvSpPr>
        <p:spPr>
          <a:xfrm>
            <a:off x="4530566" y="1003815"/>
            <a:ext cx="11249144" cy="224076"/>
          </a:xfrm>
          <a:prstGeom prst="rect">
            <a:avLst/>
          </a:prstGeom>
          <a:noFill/>
          <a:ln/>
        </p:spPr>
        <p:txBody>
          <a:bodyPr wrap="none" lIns="0" tIns="0" rIns="0" bIns="0" rtlCol="0" anchor="t"/>
          <a:lstStyle/>
          <a:p>
            <a:pPr marL="0" indent="0" algn="l">
              <a:lnSpc>
                <a:spcPts val="1750"/>
              </a:lnSpc>
              <a:buNone/>
            </a:pPr>
            <a:r>
              <a:rPr lang="en-US" sz="1250" dirty="0">
                <a:solidFill>
                  <a:srgbClr val="443728"/>
                </a:solidFill>
                <a:highlight>
                  <a:srgbClr val="F2EFED"/>
                </a:highlight>
                <a:latin typeface="Consolas" pitchFamily="34" charset="0"/>
                <a:ea typeface="Consolas" pitchFamily="34" charset="-122"/>
                <a:cs typeface="Consolas" pitchFamily="34" charset="-120"/>
              </a:rPr>
              <a:t>api.fabric.microsoft.com/v1/workspaces/{id}/items/</a:t>
            </a:r>
            <a:endParaRPr lang="en-US" sz="1250" dirty="0"/>
          </a:p>
        </p:txBody>
      </p:sp>
      <p:sp>
        <p:nvSpPr>
          <p:cNvPr id="6" name="Text 4"/>
          <p:cNvSpPr/>
          <p:nvPr/>
        </p:nvSpPr>
        <p:spPr>
          <a:xfrm>
            <a:off x="1667708" y="1546146"/>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ambria" pitchFamily="34" charset="0"/>
                <a:ea typeface="Cambria" pitchFamily="34" charset="-122"/>
                <a:cs typeface="Cambria" pitchFamily="34" charset="-120"/>
              </a:rPr>
              <a:t>Operazioni Principali</a:t>
            </a:r>
            <a:endParaRPr lang="en-US" sz="1600" dirty="0"/>
          </a:p>
        </p:txBody>
      </p:sp>
      <p:sp>
        <p:nvSpPr>
          <p:cNvPr id="7" name="Shape 5"/>
          <p:cNvSpPr/>
          <p:nvPr/>
        </p:nvSpPr>
        <p:spPr>
          <a:xfrm>
            <a:off x="1690568" y="2088368"/>
            <a:ext cx="2654260" cy="1639967"/>
          </a:xfrm>
          <a:prstGeom prst="roundRect">
            <a:avLst>
              <a:gd name="adj" fmla="val 6691"/>
            </a:avLst>
          </a:prstGeom>
          <a:solidFill>
            <a:srgbClr val="FFFCFA"/>
          </a:solidFill>
          <a:ln w="22860">
            <a:solidFill>
              <a:srgbClr val="D1C8C6"/>
            </a:solidFill>
            <a:prstDash val="solid"/>
          </a:ln>
        </p:spPr>
        <p:txBody>
          <a:bodyPr/>
          <a:lstStyle/>
          <a:p>
            <a:endParaRPr lang="en-GB"/>
          </a:p>
        </p:txBody>
      </p:sp>
      <p:sp>
        <p:nvSpPr>
          <p:cNvPr id="8" name="Shape 6"/>
          <p:cNvSpPr/>
          <p:nvPr/>
        </p:nvSpPr>
        <p:spPr>
          <a:xfrm>
            <a:off x="1667708" y="2088368"/>
            <a:ext cx="91440" cy="1639967"/>
          </a:xfrm>
          <a:prstGeom prst="roundRect">
            <a:avLst>
              <a:gd name="adj" fmla="val 74884"/>
            </a:avLst>
          </a:prstGeom>
          <a:solidFill>
            <a:srgbClr val="835E54"/>
          </a:solidFill>
          <a:ln/>
        </p:spPr>
        <p:txBody>
          <a:bodyPr/>
          <a:lstStyle/>
          <a:p>
            <a:endParaRPr lang="en-GB"/>
          </a:p>
        </p:txBody>
      </p:sp>
      <p:sp>
        <p:nvSpPr>
          <p:cNvPr id="9" name="Text 7"/>
          <p:cNvSpPr/>
          <p:nvPr/>
        </p:nvSpPr>
        <p:spPr>
          <a:xfrm>
            <a:off x="1945005" y="2274225"/>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ambria" pitchFamily="34" charset="0"/>
                <a:ea typeface="Cambria" pitchFamily="34" charset="-122"/>
                <a:cs typeface="Cambria" pitchFamily="34" charset="-120"/>
              </a:rPr>
              <a:t>Create Item</a:t>
            </a:r>
            <a:endParaRPr lang="en-US" sz="1600" dirty="0"/>
          </a:p>
        </p:txBody>
      </p:sp>
      <p:sp>
        <p:nvSpPr>
          <p:cNvPr id="10" name="Text 8"/>
          <p:cNvSpPr/>
          <p:nvPr/>
        </p:nvSpPr>
        <p:spPr>
          <a:xfrm>
            <a:off x="1945005" y="2646176"/>
            <a:ext cx="2213967" cy="896303"/>
          </a:xfrm>
          <a:prstGeom prst="rect">
            <a:avLst/>
          </a:prstGeom>
          <a:noFill/>
          <a:ln/>
        </p:spPr>
        <p:txBody>
          <a:bodyPr wrap="square" lIns="0" tIns="0" rIns="0" bIns="0" rtlCol="0" anchor="t"/>
          <a:lstStyle/>
          <a:p>
            <a:pPr marL="0" indent="0" algn="l">
              <a:lnSpc>
                <a:spcPts val="1750"/>
              </a:lnSpc>
              <a:buNone/>
            </a:pPr>
            <a:r>
              <a:rPr lang="en-US" sz="1250" dirty="0">
                <a:solidFill>
                  <a:srgbClr val="443728"/>
                </a:solidFill>
                <a:latin typeface="Calibri" pitchFamily="34" charset="0"/>
                <a:ea typeface="Calibri" pitchFamily="34" charset="-122"/>
                <a:cs typeface="Calibri" pitchFamily="34" charset="-120"/>
              </a:rPr>
              <a:t>Crea un item nel workspace con definizione completa, inclusi tutti i metadati e il contenuto necessario.</a:t>
            </a:r>
            <a:endParaRPr lang="en-US" sz="1250" dirty="0"/>
          </a:p>
        </p:txBody>
      </p:sp>
      <p:sp>
        <p:nvSpPr>
          <p:cNvPr id="11" name="Shape 9"/>
          <p:cNvSpPr/>
          <p:nvPr/>
        </p:nvSpPr>
        <p:spPr>
          <a:xfrm>
            <a:off x="4461986" y="2088368"/>
            <a:ext cx="2654260" cy="1639967"/>
          </a:xfrm>
          <a:prstGeom prst="roundRect">
            <a:avLst>
              <a:gd name="adj" fmla="val 6691"/>
            </a:avLst>
          </a:prstGeom>
          <a:solidFill>
            <a:srgbClr val="FFFCFA"/>
          </a:solidFill>
          <a:ln w="22860">
            <a:solidFill>
              <a:srgbClr val="D1C8C6"/>
            </a:solidFill>
            <a:prstDash val="solid"/>
          </a:ln>
        </p:spPr>
        <p:txBody>
          <a:bodyPr/>
          <a:lstStyle/>
          <a:p>
            <a:endParaRPr lang="en-GB"/>
          </a:p>
        </p:txBody>
      </p:sp>
      <p:sp>
        <p:nvSpPr>
          <p:cNvPr id="12" name="Shape 10"/>
          <p:cNvSpPr/>
          <p:nvPr/>
        </p:nvSpPr>
        <p:spPr>
          <a:xfrm>
            <a:off x="4439126" y="2088368"/>
            <a:ext cx="91440" cy="1639967"/>
          </a:xfrm>
          <a:prstGeom prst="roundRect">
            <a:avLst>
              <a:gd name="adj" fmla="val 74884"/>
            </a:avLst>
          </a:prstGeom>
          <a:solidFill>
            <a:srgbClr val="835E54"/>
          </a:solidFill>
          <a:ln/>
        </p:spPr>
        <p:txBody>
          <a:bodyPr/>
          <a:lstStyle/>
          <a:p>
            <a:endParaRPr lang="en-GB"/>
          </a:p>
        </p:txBody>
      </p:sp>
      <p:sp>
        <p:nvSpPr>
          <p:cNvPr id="13" name="Text 11"/>
          <p:cNvSpPr/>
          <p:nvPr/>
        </p:nvSpPr>
        <p:spPr>
          <a:xfrm>
            <a:off x="4716423" y="2274225"/>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ambria" pitchFamily="34" charset="0"/>
                <a:ea typeface="Cambria" pitchFamily="34" charset="-122"/>
                <a:cs typeface="Cambria" pitchFamily="34" charset="-120"/>
              </a:rPr>
              <a:t>Get Item Definition</a:t>
            </a:r>
            <a:endParaRPr lang="en-US" sz="1600" dirty="0"/>
          </a:p>
        </p:txBody>
      </p:sp>
      <p:sp>
        <p:nvSpPr>
          <p:cNvPr id="14" name="Text 12"/>
          <p:cNvSpPr/>
          <p:nvPr/>
        </p:nvSpPr>
        <p:spPr>
          <a:xfrm>
            <a:off x="4716423" y="2646176"/>
            <a:ext cx="2213967" cy="896303"/>
          </a:xfrm>
          <a:prstGeom prst="rect">
            <a:avLst/>
          </a:prstGeom>
          <a:noFill/>
          <a:ln/>
        </p:spPr>
        <p:txBody>
          <a:bodyPr wrap="square" lIns="0" tIns="0" rIns="0" bIns="0" rtlCol="0" anchor="t"/>
          <a:lstStyle/>
          <a:p>
            <a:pPr marL="0" indent="0" algn="l">
              <a:lnSpc>
                <a:spcPts val="1750"/>
              </a:lnSpc>
              <a:buNone/>
            </a:pPr>
            <a:r>
              <a:rPr lang="en-US" sz="1250" dirty="0">
                <a:solidFill>
                  <a:srgbClr val="443728"/>
                </a:solidFill>
                <a:latin typeface="Calibri" pitchFamily="34" charset="0"/>
                <a:ea typeface="Calibri" pitchFamily="34" charset="-122"/>
                <a:cs typeface="Calibri" pitchFamily="34" charset="-120"/>
              </a:rPr>
              <a:t>Legge la definizione di un item </a:t>
            </a:r>
            <a:r>
              <a:rPr lang="en-US" sz="1250" dirty="0" err="1">
                <a:solidFill>
                  <a:srgbClr val="443728"/>
                </a:solidFill>
                <a:latin typeface="Calibri" pitchFamily="34" charset="0"/>
                <a:ea typeface="Calibri" pitchFamily="34" charset="-122"/>
                <a:cs typeface="Calibri" pitchFamily="34" charset="-120"/>
              </a:rPr>
              <a:t>esistente</a:t>
            </a:r>
            <a:endParaRPr lang="en-US" sz="1250" dirty="0"/>
          </a:p>
        </p:txBody>
      </p:sp>
      <p:sp>
        <p:nvSpPr>
          <p:cNvPr id="15" name="Shape 13"/>
          <p:cNvSpPr/>
          <p:nvPr/>
        </p:nvSpPr>
        <p:spPr>
          <a:xfrm>
            <a:off x="1690568" y="3845492"/>
            <a:ext cx="2654260" cy="1639967"/>
          </a:xfrm>
          <a:prstGeom prst="roundRect">
            <a:avLst>
              <a:gd name="adj" fmla="val 6691"/>
            </a:avLst>
          </a:prstGeom>
          <a:solidFill>
            <a:srgbClr val="FFFCFA"/>
          </a:solidFill>
          <a:ln w="22860">
            <a:solidFill>
              <a:srgbClr val="D1C8C6"/>
            </a:solidFill>
            <a:prstDash val="solid"/>
          </a:ln>
        </p:spPr>
        <p:txBody>
          <a:bodyPr/>
          <a:lstStyle/>
          <a:p>
            <a:endParaRPr lang="en-GB"/>
          </a:p>
        </p:txBody>
      </p:sp>
      <p:sp>
        <p:nvSpPr>
          <p:cNvPr id="16" name="Shape 14"/>
          <p:cNvSpPr/>
          <p:nvPr/>
        </p:nvSpPr>
        <p:spPr>
          <a:xfrm>
            <a:off x="1667708" y="3845492"/>
            <a:ext cx="91440" cy="1639967"/>
          </a:xfrm>
          <a:prstGeom prst="roundRect">
            <a:avLst>
              <a:gd name="adj" fmla="val 74884"/>
            </a:avLst>
          </a:prstGeom>
          <a:solidFill>
            <a:srgbClr val="835E54"/>
          </a:solidFill>
          <a:ln/>
        </p:spPr>
        <p:txBody>
          <a:bodyPr/>
          <a:lstStyle/>
          <a:p>
            <a:endParaRPr lang="en-GB"/>
          </a:p>
        </p:txBody>
      </p:sp>
      <p:sp>
        <p:nvSpPr>
          <p:cNvPr id="17" name="Text 15"/>
          <p:cNvSpPr/>
          <p:nvPr/>
        </p:nvSpPr>
        <p:spPr>
          <a:xfrm>
            <a:off x="1945005" y="4031349"/>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ambria" pitchFamily="34" charset="0"/>
                <a:ea typeface="Cambria" pitchFamily="34" charset="-122"/>
                <a:cs typeface="Cambria" pitchFamily="34" charset="-120"/>
              </a:rPr>
              <a:t>Update Item Definition</a:t>
            </a:r>
            <a:endParaRPr lang="en-US" sz="1600" dirty="0"/>
          </a:p>
        </p:txBody>
      </p:sp>
      <p:sp>
        <p:nvSpPr>
          <p:cNvPr id="18" name="Text 16"/>
          <p:cNvSpPr/>
          <p:nvPr/>
        </p:nvSpPr>
        <p:spPr>
          <a:xfrm>
            <a:off x="1945005" y="4403300"/>
            <a:ext cx="2213967" cy="896303"/>
          </a:xfrm>
          <a:prstGeom prst="rect">
            <a:avLst/>
          </a:prstGeom>
          <a:noFill/>
          <a:ln/>
        </p:spPr>
        <p:txBody>
          <a:bodyPr wrap="square" lIns="0" tIns="0" rIns="0" bIns="0" rtlCol="0" anchor="t"/>
          <a:lstStyle/>
          <a:p>
            <a:pPr marL="0" indent="0" algn="l">
              <a:lnSpc>
                <a:spcPts val="1750"/>
              </a:lnSpc>
              <a:buNone/>
            </a:pPr>
            <a:r>
              <a:rPr lang="en-US" sz="1250" dirty="0">
                <a:solidFill>
                  <a:srgbClr val="443728"/>
                </a:solidFill>
                <a:latin typeface="Calibri" pitchFamily="34" charset="0"/>
                <a:ea typeface="Calibri" pitchFamily="34" charset="-122"/>
                <a:cs typeface="Calibri" pitchFamily="34" charset="-120"/>
              </a:rPr>
              <a:t>Aggiorna il contenuto di un item già presente nel workspace con una nuova definizione.</a:t>
            </a:r>
            <a:endParaRPr lang="en-US" sz="1250" dirty="0"/>
          </a:p>
        </p:txBody>
      </p:sp>
      <p:sp>
        <p:nvSpPr>
          <p:cNvPr id="19" name="Shape 17"/>
          <p:cNvSpPr/>
          <p:nvPr/>
        </p:nvSpPr>
        <p:spPr>
          <a:xfrm>
            <a:off x="4461986" y="3845492"/>
            <a:ext cx="2654260" cy="1639967"/>
          </a:xfrm>
          <a:prstGeom prst="roundRect">
            <a:avLst>
              <a:gd name="adj" fmla="val 6691"/>
            </a:avLst>
          </a:prstGeom>
          <a:solidFill>
            <a:srgbClr val="FFFCFA"/>
          </a:solidFill>
          <a:ln w="22860">
            <a:solidFill>
              <a:srgbClr val="D1C8C6"/>
            </a:solidFill>
            <a:prstDash val="solid"/>
          </a:ln>
        </p:spPr>
        <p:txBody>
          <a:bodyPr/>
          <a:lstStyle/>
          <a:p>
            <a:endParaRPr lang="en-GB"/>
          </a:p>
        </p:txBody>
      </p:sp>
      <p:sp>
        <p:nvSpPr>
          <p:cNvPr id="20" name="Shape 18"/>
          <p:cNvSpPr/>
          <p:nvPr/>
        </p:nvSpPr>
        <p:spPr>
          <a:xfrm>
            <a:off x="4439126" y="3845492"/>
            <a:ext cx="91440" cy="1639967"/>
          </a:xfrm>
          <a:prstGeom prst="roundRect">
            <a:avLst>
              <a:gd name="adj" fmla="val 74884"/>
            </a:avLst>
          </a:prstGeom>
          <a:solidFill>
            <a:srgbClr val="835E54"/>
          </a:solidFill>
          <a:ln/>
        </p:spPr>
        <p:txBody>
          <a:bodyPr/>
          <a:lstStyle/>
          <a:p>
            <a:endParaRPr lang="en-GB"/>
          </a:p>
        </p:txBody>
      </p:sp>
      <p:sp>
        <p:nvSpPr>
          <p:cNvPr id="21" name="Text 19"/>
          <p:cNvSpPr/>
          <p:nvPr/>
        </p:nvSpPr>
        <p:spPr>
          <a:xfrm>
            <a:off x="4716423" y="4031349"/>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ambria" pitchFamily="34" charset="0"/>
                <a:ea typeface="Cambria" pitchFamily="34" charset="-122"/>
                <a:cs typeface="Cambria" pitchFamily="34" charset="-120"/>
              </a:rPr>
              <a:t>Delete Item</a:t>
            </a:r>
            <a:endParaRPr lang="en-US" sz="1600" dirty="0"/>
          </a:p>
        </p:txBody>
      </p:sp>
      <p:sp>
        <p:nvSpPr>
          <p:cNvPr id="22" name="Text 20"/>
          <p:cNvSpPr/>
          <p:nvPr/>
        </p:nvSpPr>
        <p:spPr>
          <a:xfrm>
            <a:off x="4716423" y="4403300"/>
            <a:ext cx="2213967" cy="896303"/>
          </a:xfrm>
          <a:prstGeom prst="rect">
            <a:avLst/>
          </a:prstGeom>
          <a:noFill/>
          <a:ln/>
        </p:spPr>
        <p:txBody>
          <a:bodyPr wrap="square" lIns="0" tIns="0" rIns="0" bIns="0" rtlCol="0" anchor="t"/>
          <a:lstStyle/>
          <a:p>
            <a:pPr marL="0" indent="0" algn="l">
              <a:lnSpc>
                <a:spcPts val="1750"/>
              </a:lnSpc>
              <a:buNone/>
            </a:pPr>
            <a:r>
              <a:rPr lang="en-US" sz="1250" dirty="0">
                <a:solidFill>
                  <a:srgbClr val="443728"/>
                </a:solidFill>
                <a:latin typeface="Calibri" pitchFamily="34" charset="0"/>
                <a:ea typeface="Calibri" pitchFamily="34" charset="-122"/>
                <a:cs typeface="Calibri" pitchFamily="34" charset="-120"/>
              </a:rPr>
              <a:t>Elimina definitivamente un item dal workspace specificato tramite il suo identificatore univoco.</a:t>
            </a:r>
            <a:endParaRPr lang="en-US" sz="1250" dirty="0"/>
          </a:p>
        </p:txBody>
      </p:sp>
      <p:sp>
        <p:nvSpPr>
          <p:cNvPr id="23" name="Shape 21"/>
          <p:cNvSpPr/>
          <p:nvPr/>
        </p:nvSpPr>
        <p:spPr>
          <a:xfrm>
            <a:off x="1690568" y="5602617"/>
            <a:ext cx="2654260" cy="1639967"/>
          </a:xfrm>
          <a:prstGeom prst="roundRect">
            <a:avLst>
              <a:gd name="adj" fmla="val 6691"/>
            </a:avLst>
          </a:prstGeom>
          <a:solidFill>
            <a:srgbClr val="FFFCFA"/>
          </a:solidFill>
          <a:ln w="22860">
            <a:solidFill>
              <a:srgbClr val="D1C8C6"/>
            </a:solidFill>
            <a:prstDash val="solid"/>
          </a:ln>
        </p:spPr>
        <p:txBody>
          <a:bodyPr/>
          <a:lstStyle/>
          <a:p>
            <a:endParaRPr lang="en-GB"/>
          </a:p>
        </p:txBody>
      </p:sp>
      <p:sp>
        <p:nvSpPr>
          <p:cNvPr id="24" name="Shape 22"/>
          <p:cNvSpPr/>
          <p:nvPr/>
        </p:nvSpPr>
        <p:spPr>
          <a:xfrm>
            <a:off x="1667708" y="5602617"/>
            <a:ext cx="91440" cy="1639967"/>
          </a:xfrm>
          <a:prstGeom prst="roundRect">
            <a:avLst>
              <a:gd name="adj" fmla="val 74884"/>
            </a:avLst>
          </a:prstGeom>
          <a:solidFill>
            <a:srgbClr val="835E54"/>
          </a:solidFill>
          <a:ln/>
        </p:spPr>
        <p:txBody>
          <a:bodyPr/>
          <a:lstStyle/>
          <a:p>
            <a:endParaRPr lang="en-GB"/>
          </a:p>
        </p:txBody>
      </p:sp>
      <p:sp>
        <p:nvSpPr>
          <p:cNvPr id="25" name="Text 23"/>
          <p:cNvSpPr/>
          <p:nvPr/>
        </p:nvSpPr>
        <p:spPr>
          <a:xfrm>
            <a:off x="1945005" y="5788473"/>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ambria" pitchFamily="34" charset="0"/>
                <a:ea typeface="Cambria" pitchFamily="34" charset="-122"/>
                <a:cs typeface="Cambria" pitchFamily="34" charset="-120"/>
              </a:rPr>
              <a:t>List Items</a:t>
            </a:r>
            <a:endParaRPr lang="en-US" sz="1600" dirty="0"/>
          </a:p>
        </p:txBody>
      </p:sp>
      <p:sp>
        <p:nvSpPr>
          <p:cNvPr id="26" name="Text 24"/>
          <p:cNvSpPr/>
          <p:nvPr/>
        </p:nvSpPr>
        <p:spPr>
          <a:xfrm>
            <a:off x="1945005" y="6160424"/>
            <a:ext cx="2213967" cy="896303"/>
          </a:xfrm>
          <a:prstGeom prst="rect">
            <a:avLst/>
          </a:prstGeom>
          <a:noFill/>
          <a:ln/>
        </p:spPr>
        <p:txBody>
          <a:bodyPr wrap="square" lIns="0" tIns="0" rIns="0" bIns="0" rtlCol="0" anchor="t"/>
          <a:lstStyle/>
          <a:p>
            <a:pPr marL="0" indent="0" algn="l">
              <a:lnSpc>
                <a:spcPts val="1750"/>
              </a:lnSpc>
              <a:buNone/>
            </a:pPr>
            <a:r>
              <a:rPr lang="en-US" sz="1250" dirty="0">
                <a:solidFill>
                  <a:srgbClr val="443728"/>
                </a:solidFill>
                <a:latin typeface="Calibri" pitchFamily="34" charset="0"/>
                <a:ea typeface="Calibri" pitchFamily="34" charset="-122"/>
                <a:cs typeface="Calibri" pitchFamily="34" charset="-120"/>
              </a:rPr>
              <a:t>Restituisce l'inventario completo degli item presenti nel workspace, utile per audit e automazione.</a:t>
            </a:r>
            <a:endParaRPr lang="en-US" sz="1250" dirty="0"/>
          </a:p>
        </p:txBody>
      </p:sp>
      <p:sp>
        <p:nvSpPr>
          <p:cNvPr id="28" name="Text 26"/>
          <p:cNvSpPr/>
          <p:nvPr/>
        </p:nvSpPr>
        <p:spPr>
          <a:xfrm>
            <a:off x="7567136" y="2019300"/>
            <a:ext cx="2037874" cy="254794"/>
          </a:xfrm>
          <a:prstGeom prst="rect">
            <a:avLst/>
          </a:prstGeom>
          <a:noFill/>
          <a:ln/>
        </p:spPr>
        <p:txBody>
          <a:bodyPr wrap="none" lIns="0" tIns="0" rIns="0" bIns="0" rtlCol="0" anchor="t"/>
          <a:lstStyle/>
          <a:p>
            <a:pPr marL="0" indent="0" algn="l">
              <a:lnSpc>
                <a:spcPts val="2000"/>
              </a:lnSpc>
              <a:buNone/>
            </a:pPr>
            <a:r>
              <a:rPr lang="en-US" sz="1600" b="1" dirty="0">
                <a:solidFill>
                  <a:srgbClr val="FFFFFF"/>
                </a:solidFill>
                <a:latin typeface="Cambria" pitchFamily="34" charset="0"/>
                <a:ea typeface="Cambria" pitchFamily="34" charset="-122"/>
                <a:cs typeface="Cambria" pitchFamily="34" charset="-120"/>
              </a:rPr>
              <a:t>Limiti e Considerazioni</a:t>
            </a:r>
            <a:endParaRPr lang="en-US" sz="1600" dirty="0"/>
          </a:p>
        </p:txBody>
      </p:sp>
      <p:sp>
        <p:nvSpPr>
          <p:cNvPr id="29" name="Shape 27"/>
          <p:cNvSpPr/>
          <p:nvPr/>
        </p:nvSpPr>
        <p:spPr>
          <a:xfrm>
            <a:off x="7567136" y="2405896"/>
            <a:ext cx="5334476" cy="672227"/>
          </a:xfrm>
          <a:prstGeom prst="roundRect">
            <a:avLst>
              <a:gd name="adj" fmla="val 6733"/>
            </a:avLst>
          </a:prstGeom>
          <a:solidFill>
            <a:srgbClr val="FCF2B5"/>
          </a:solidFill>
          <a:ln/>
        </p:spPr>
        <p:txBody>
          <a:bodyPr/>
          <a:lstStyle/>
          <a:p>
            <a:endParaRPr lang="en-GB"/>
          </a:p>
        </p:txBody>
      </p:sp>
      <p:pic>
        <p:nvPicPr>
          <p:cNvPr id="30" name="Image 0" descr="preencoded.png"/>
          <p:cNvPicPr>
            <a:picLocks noChangeAspect="1"/>
          </p:cNvPicPr>
          <p:nvPr/>
        </p:nvPicPr>
        <p:blipFill>
          <a:blip r:embed="rId3"/>
          <a:stretch>
            <a:fillRect/>
          </a:stretch>
        </p:blipFill>
        <p:spPr>
          <a:xfrm>
            <a:off x="7730133" y="2642235"/>
            <a:ext cx="203716" cy="162997"/>
          </a:xfrm>
          <a:prstGeom prst="rect">
            <a:avLst/>
          </a:prstGeom>
        </p:spPr>
      </p:pic>
      <p:sp>
        <p:nvSpPr>
          <p:cNvPr id="31" name="Text 28"/>
          <p:cNvSpPr/>
          <p:nvPr/>
        </p:nvSpPr>
        <p:spPr>
          <a:xfrm>
            <a:off x="8096845" y="2563773"/>
            <a:ext cx="4641771" cy="672227"/>
          </a:xfrm>
          <a:prstGeom prst="rect">
            <a:avLst/>
          </a:prstGeom>
          <a:noFill/>
          <a:ln/>
        </p:spPr>
        <p:txBody>
          <a:bodyPr wrap="square" lIns="0" tIns="0" rIns="0" bIns="0" rtlCol="0" anchor="t"/>
          <a:lstStyle/>
          <a:p>
            <a:pPr marL="0" indent="0" algn="l">
              <a:lnSpc>
                <a:spcPts val="1750"/>
              </a:lnSpc>
              <a:buNone/>
            </a:pPr>
            <a:r>
              <a:rPr lang="en-US" sz="1250" dirty="0">
                <a:solidFill>
                  <a:srgbClr val="000000"/>
                </a:solidFill>
                <a:latin typeface="Calibri" pitchFamily="34" charset="0"/>
                <a:ea typeface="Calibri" pitchFamily="34" charset="-122"/>
                <a:cs typeface="Calibri" pitchFamily="34" charset="-120"/>
              </a:rPr>
              <a:t>Indipendente da Git e dalle Deployment Pipelines. </a:t>
            </a:r>
            <a:endParaRPr lang="en-US" sz="1250" dirty="0"/>
          </a:p>
        </p:txBody>
      </p:sp>
      <p:sp>
        <p:nvSpPr>
          <p:cNvPr id="32" name="Text 29"/>
          <p:cNvSpPr/>
          <p:nvPr/>
        </p:nvSpPr>
        <p:spPr>
          <a:xfrm>
            <a:off x="7567136" y="3374945"/>
            <a:ext cx="2037874" cy="254794"/>
          </a:xfrm>
          <a:prstGeom prst="rect">
            <a:avLst/>
          </a:prstGeom>
          <a:noFill/>
          <a:ln/>
        </p:spPr>
        <p:txBody>
          <a:bodyPr wrap="none" lIns="0" tIns="0" rIns="0" bIns="0" rtlCol="0" anchor="t"/>
          <a:lstStyle/>
          <a:p>
            <a:pPr marL="0" indent="0" algn="l">
              <a:lnSpc>
                <a:spcPts val="2000"/>
              </a:lnSpc>
              <a:buNone/>
            </a:pPr>
            <a:r>
              <a:rPr lang="en-US" sz="1600" b="1" dirty="0">
                <a:latin typeface="Cambria" pitchFamily="34" charset="0"/>
                <a:ea typeface="Cambria" pitchFamily="34" charset="-122"/>
                <a:cs typeface="Cambria" pitchFamily="34" charset="-120"/>
              </a:rPr>
              <a:t>Quando Usarla</a:t>
            </a:r>
            <a:endParaRPr lang="en-US" sz="1600" dirty="0"/>
          </a:p>
        </p:txBody>
      </p:sp>
      <p:sp>
        <p:nvSpPr>
          <p:cNvPr id="33" name="Text 30"/>
          <p:cNvSpPr/>
          <p:nvPr/>
        </p:nvSpPr>
        <p:spPr>
          <a:xfrm>
            <a:off x="7567136" y="3797455"/>
            <a:ext cx="5334476" cy="224076"/>
          </a:xfrm>
          <a:prstGeom prst="rect">
            <a:avLst/>
          </a:prstGeom>
          <a:noFill/>
          <a:ln/>
        </p:spPr>
        <p:txBody>
          <a:bodyPr wrap="none" lIns="0" tIns="0" rIns="0" bIns="0" rtlCol="0" anchor="t"/>
          <a:lstStyle/>
          <a:p>
            <a:pPr marL="0" indent="0" algn="l">
              <a:lnSpc>
                <a:spcPts val="1750"/>
              </a:lnSpc>
              <a:buNone/>
            </a:pPr>
            <a:r>
              <a:rPr lang="en-US" sz="1250" dirty="0">
                <a:latin typeface="Calibri" pitchFamily="34" charset="0"/>
                <a:ea typeface="Calibri" pitchFamily="34" charset="-122"/>
                <a:cs typeface="Calibri" pitchFamily="34" charset="-120"/>
              </a:rPr>
              <a:t>Utilizza questa API quando hai necessità di:</a:t>
            </a:r>
            <a:endParaRPr lang="en-US" sz="1250" dirty="0"/>
          </a:p>
        </p:txBody>
      </p:sp>
      <p:sp>
        <p:nvSpPr>
          <p:cNvPr id="34" name="Text 31"/>
          <p:cNvSpPr/>
          <p:nvPr/>
        </p:nvSpPr>
        <p:spPr>
          <a:xfrm>
            <a:off x="7567136" y="4143837"/>
            <a:ext cx="5334476" cy="978218"/>
          </a:xfrm>
          <a:prstGeom prst="rect">
            <a:avLst/>
          </a:prstGeom>
          <a:noFill/>
          <a:ln/>
        </p:spPr>
        <p:txBody>
          <a:bodyPr wrap="square" lIns="0" tIns="0" rIns="0" bIns="0" rtlCol="0" anchor="t"/>
          <a:lstStyle/>
          <a:p>
            <a:pPr marL="342900" indent="-342900" algn="l">
              <a:lnSpc>
                <a:spcPts val="1750"/>
              </a:lnSpc>
              <a:buSzPct val="100000"/>
              <a:buChar char="•"/>
            </a:pPr>
            <a:r>
              <a:rPr lang="en-US" sz="1250" dirty="0">
                <a:latin typeface="Calibri" pitchFamily="34" charset="0"/>
                <a:ea typeface="Calibri" pitchFamily="34" charset="-122"/>
                <a:cs typeface="Calibri" pitchFamily="34" charset="-120"/>
              </a:rPr>
              <a:t>Modificare le definizioni degli item </a:t>
            </a:r>
            <a:r>
              <a:rPr lang="en-US" sz="1250" b="1" dirty="0">
                <a:latin typeface="Calibri" pitchFamily="34" charset="0"/>
                <a:ea typeface="Calibri" pitchFamily="34" charset="-122"/>
                <a:cs typeface="Calibri" pitchFamily="34" charset="-120"/>
              </a:rPr>
              <a:t>prima del deploy</a:t>
            </a:r>
            <a:endParaRPr lang="en-US" sz="1250" dirty="0"/>
          </a:p>
          <a:p>
            <a:pPr marL="342900" indent="-342900" algn="l">
              <a:lnSpc>
                <a:spcPts val="1750"/>
              </a:lnSpc>
              <a:buSzPct val="100000"/>
              <a:buChar char="•"/>
            </a:pPr>
            <a:r>
              <a:rPr lang="en-US" sz="1250" dirty="0">
                <a:latin typeface="Calibri" pitchFamily="34" charset="0"/>
                <a:ea typeface="Calibri" pitchFamily="34" charset="-122"/>
                <a:cs typeface="Calibri" pitchFamily="34" charset="-120"/>
              </a:rPr>
              <a:t>Costruire logica di deployment </a:t>
            </a:r>
            <a:r>
              <a:rPr lang="en-US" sz="1250" b="1" dirty="0">
                <a:latin typeface="Calibri" pitchFamily="34" charset="0"/>
                <a:ea typeface="Calibri" pitchFamily="34" charset="-122"/>
                <a:cs typeface="Calibri" pitchFamily="34" charset="-120"/>
              </a:rPr>
              <a:t>completamente custom</a:t>
            </a:r>
            <a:endParaRPr lang="en-US" sz="1250" dirty="0"/>
          </a:p>
          <a:p>
            <a:pPr marL="342900" indent="-342900" algn="l">
              <a:lnSpc>
                <a:spcPts val="1750"/>
              </a:lnSpc>
              <a:buSzPct val="100000"/>
              <a:buChar char="•"/>
            </a:pPr>
            <a:r>
              <a:rPr lang="en-US" sz="1250" dirty="0">
                <a:latin typeface="Calibri" pitchFamily="34" charset="0"/>
                <a:ea typeface="Calibri" pitchFamily="34" charset="-122"/>
                <a:cs typeface="Calibri" pitchFamily="34" charset="-120"/>
              </a:rPr>
              <a:t>Automatizzare operazioni su item al di fuori dei flussi standard di Git o Pipeline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56642" y="839033"/>
            <a:ext cx="962620" cy="415052"/>
          </a:xfrm>
          <a:prstGeom prst="roundRect">
            <a:avLst>
              <a:gd name="adj" fmla="val 17502"/>
            </a:avLst>
          </a:prstGeom>
          <a:noFill/>
          <a:ln w="7620">
            <a:solidFill>
              <a:srgbClr val="835E54"/>
            </a:solidFill>
            <a:prstDash val="solid"/>
          </a:ln>
        </p:spPr>
        <p:txBody>
          <a:bodyPr/>
          <a:lstStyle/>
          <a:p>
            <a:endParaRPr lang="en-GB"/>
          </a:p>
        </p:txBody>
      </p:sp>
      <p:sp>
        <p:nvSpPr>
          <p:cNvPr id="3" name="Text 1"/>
          <p:cNvSpPr/>
          <p:nvPr/>
        </p:nvSpPr>
        <p:spPr>
          <a:xfrm>
            <a:off x="893921" y="911423"/>
            <a:ext cx="688062" cy="270272"/>
          </a:xfrm>
          <a:prstGeom prst="rect">
            <a:avLst/>
          </a:prstGeom>
          <a:noFill/>
          <a:ln/>
        </p:spPr>
        <p:txBody>
          <a:bodyPr wrap="none" lIns="0" tIns="0" rIns="0" bIns="0" rtlCol="0" anchor="t"/>
          <a:lstStyle/>
          <a:p>
            <a:pPr marL="0" indent="0" algn="l">
              <a:lnSpc>
                <a:spcPts val="2100"/>
              </a:lnSpc>
              <a:buNone/>
            </a:pPr>
            <a:r>
              <a:rPr lang="en-US" sz="1350" dirty="0">
                <a:solidFill>
                  <a:srgbClr val="835E54"/>
                </a:solidFill>
                <a:latin typeface="Calibri" pitchFamily="34" charset="0"/>
                <a:ea typeface="Calibri" pitchFamily="34" charset="-122"/>
                <a:cs typeface="Calibri" pitchFamily="34" charset="-120"/>
              </a:rPr>
              <a:t>PYTHON</a:t>
            </a:r>
            <a:endParaRPr lang="en-US" sz="1350" dirty="0"/>
          </a:p>
        </p:txBody>
      </p:sp>
      <p:sp>
        <p:nvSpPr>
          <p:cNvPr id="6" name="Text 4"/>
          <p:cNvSpPr/>
          <p:nvPr/>
        </p:nvSpPr>
        <p:spPr>
          <a:xfrm>
            <a:off x="756642" y="1447801"/>
            <a:ext cx="5404842" cy="675680"/>
          </a:xfrm>
          <a:prstGeom prst="rect">
            <a:avLst/>
          </a:prstGeom>
          <a:noFill/>
          <a:ln/>
        </p:spPr>
        <p:txBody>
          <a:bodyPr wrap="none" lIns="0" tIns="0" rIns="0" bIns="0" rtlCol="0" anchor="t"/>
          <a:lstStyle/>
          <a:p>
            <a:pPr marL="0" indent="0" algn="l">
              <a:lnSpc>
                <a:spcPts val="5300"/>
              </a:lnSpc>
              <a:buNone/>
            </a:pPr>
            <a:r>
              <a:rPr lang="en-US" sz="4250" b="1" dirty="0">
                <a:solidFill>
                  <a:srgbClr val="443728"/>
                </a:solidFill>
                <a:latin typeface="Cambria" pitchFamily="34" charset="0"/>
                <a:ea typeface="Cambria" pitchFamily="34" charset="-122"/>
                <a:cs typeface="Cambria" pitchFamily="34" charset="-120"/>
              </a:rPr>
              <a:t>fabric-cicd</a:t>
            </a:r>
            <a:endParaRPr lang="en-US" sz="4250" dirty="0"/>
          </a:p>
        </p:txBody>
      </p:sp>
      <p:sp>
        <p:nvSpPr>
          <p:cNvPr id="7" name="Text 5"/>
          <p:cNvSpPr/>
          <p:nvPr/>
        </p:nvSpPr>
        <p:spPr>
          <a:xfrm>
            <a:off x="756642" y="2321243"/>
            <a:ext cx="13117116" cy="675561"/>
          </a:xfrm>
          <a:prstGeom prst="rect">
            <a:avLst/>
          </a:prstGeom>
          <a:noFill/>
          <a:ln/>
        </p:spPr>
        <p:txBody>
          <a:bodyPr wrap="square" lIns="0" tIns="0" rIns="0" bIns="0" rtlCol="0" anchor="t"/>
          <a:lstStyle/>
          <a:p>
            <a:pPr marL="0" indent="0" algn="l">
              <a:lnSpc>
                <a:spcPts val="2650"/>
              </a:lnSpc>
              <a:buNone/>
            </a:pPr>
            <a:r>
              <a:rPr lang="en-US" sz="1700" dirty="0">
                <a:solidFill>
                  <a:srgbClr val="443728"/>
                </a:solidFill>
                <a:latin typeface="Calibri" pitchFamily="34" charset="0"/>
                <a:ea typeface="Calibri" pitchFamily="34" charset="-122"/>
                <a:cs typeface="Calibri" pitchFamily="34" charset="-120"/>
              </a:rPr>
              <a:t>Libreria Python </a:t>
            </a:r>
            <a:r>
              <a:rPr lang="en-US" sz="1700" b="1" dirty="0">
                <a:solidFill>
                  <a:srgbClr val="443728"/>
                </a:solidFill>
                <a:latin typeface="Calibri" pitchFamily="34" charset="0"/>
                <a:ea typeface="Calibri" pitchFamily="34" charset="-122"/>
                <a:cs typeface="Calibri" pitchFamily="34" charset="-120"/>
              </a:rPr>
              <a:t>open-source</a:t>
            </a:r>
            <a:r>
              <a:rPr lang="en-US" sz="1700" dirty="0">
                <a:solidFill>
                  <a:srgbClr val="443728"/>
                </a:solidFill>
                <a:latin typeface="Calibri" pitchFamily="34" charset="0"/>
                <a:ea typeface="Calibri" pitchFamily="34" charset="-122"/>
                <a:cs typeface="Calibri" pitchFamily="34" charset="-120"/>
              </a:rPr>
              <a:t>, ufficialmente supportata da Microsoft da </a:t>
            </a:r>
            <a:r>
              <a:rPr lang="en-US" sz="1700" b="1" dirty="0">
                <a:solidFill>
                  <a:srgbClr val="443728"/>
                </a:solidFill>
                <a:latin typeface="Calibri" pitchFamily="34" charset="0"/>
                <a:ea typeface="Calibri" pitchFamily="34" charset="-122"/>
                <a:cs typeface="Calibri" pitchFamily="34" charset="-120"/>
              </a:rPr>
              <a:t>febbraio 2026</a:t>
            </a:r>
            <a:r>
              <a:rPr lang="en-US" sz="1700" dirty="0">
                <a:solidFill>
                  <a:srgbClr val="443728"/>
                </a:solidFill>
                <a:latin typeface="Calibri" pitchFamily="34" charset="0"/>
                <a:ea typeface="Calibri" pitchFamily="34" charset="-122"/>
                <a:cs typeface="Calibri" pitchFamily="34" charset="-120"/>
              </a:rPr>
              <a:t>. Wrappa la Item API aggiungendo la logica di orchestrazione </a:t>
            </a:r>
            <a:r>
              <a:rPr lang="en-US" sz="1700" dirty="0" err="1">
                <a:solidFill>
                  <a:srgbClr val="443728"/>
                </a:solidFill>
                <a:latin typeface="Calibri" pitchFamily="34" charset="0"/>
                <a:ea typeface="Calibri" pitchFamily="34" charset="-122"/>
                <a:cs typeface="Calibri" pitchFamily="34" charset="-120"/>
              </a:rPr>
              <a:t>già</a:t>
            </a:r>
            <a:r>
              <a:rPr lang="en-US" sz="1700" dirty="0">
                <a:solidFill>
                  <a:srgbClr val="443728"/>
                </a:solidFill>
                <a:latin typeface="Calibri" pitchFamily="34" charset="0"/>
                <a:ea typeface="Calibri" pitchFamily="34" charset="-122"/>
                <a:cs typeface="Calibri" pitchFamily="34" charset="-120"/>
              </a:rPr>
              <a:t> </a:t>
            </a:r>
            <a:r>
              <a:rPr lang="en-US" sz="1700" dirty="0" err="1">
                <a:solidFill>
                  <a:srgbClr val="443728"/>
                </a:solidFill>
                <a:latin typeface="Calibri" pitchFamily="34" charset="0"/>
                <a:ea typeface="Calibri" pitchFamily="34" charset="-122"/>
                <a:cs typeface="Calibri" pitchFamily="34" charset="-120"/>
              </a:rPr>
              <a:t>pronta</a:t>
            </a:r>
            <a:r>
              <a:rPr lang="en-US" sz="1700" dirty="0">
                <a:solidFill>
                  <a:srgbClr val="443728"/>
                </a:solidFill>
                <a:latin typeface="Calibri" pitchFamily="34" charset="0"/>
                <a:ea typeface="Calibri" pitchFamily="34" charset="-122"/>
                <a:cs typeface="Calibri" pitchFamily="34" charset="-120"/>
              </a:rPr>
              <a:t>.</a:t>
            </a:r>
            <a:endParaRPr lang="en-US" sz="17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6642" y="3228618"/>
            <a:ext cx="540425" cy="540425"/>
          </a:xfrm>
          <a:prstGeom prst="rect">
            <a:avLst/>
          </a:prstGeom>
        </p:spPr>
      </p:pic>
      <p:sp>
        <p:nvSpPr>
          <p:cNvPr id="9" name="Text 6"/>
          <p:cNvSpPr/>
          <p:nvPr/>
        </p:nvSpPr>
        <p:spPr>
          <a:xfrm>
            <a:off x="1554599" y="3228618"/>
            <a:ext cx="2787848" cy="337780"/>
          </a:xfrm>
          <a:prstGeom prst="rect">
            <a:avLst/>
          </a:prstGeom>
          <a:noFill/>
          <a:ln/>
        </p:spPr>
        <p:txBody>
          <a:bodyPr wrap="none" lIns="0" tIns="0" rIns="0" bIns="0" rtlCol="0" anchor="t"/>
          <a:lstStyle/>
          <a:p>
            <a:pPr marL="0" indent="0" algn="l">
              <a:lnSpc>
                <a:spcPts val="2650"/>
              </a:lnSpc>
              <a:buNone/>
            </a:pPr>
            <a:r>
              <a:rPr lang="en-US" sz="2100" b="1" dirty="0">
                <a:solidFill>
                  <a:srgbClr val="443728"/>
                </a:solidFill>
                <a:latin typeface="Cambria" pitchFamily="34" charset="0"/>
                <a:ea typeface="Cambria" pitchFamily="34" charset="-122"/>
                <a:cs typeface="Cambria" pitchFamily="34" charset="-120"/>
              </a:rPr>
              <a:t>Ordine delle dipendenze</a:t>
            </a:r>
            <a:endParaRPr lang="en-US" sz="2100" dirty="0"/>
          </a:p>
        </p:txBody>
      </p:sp>
      <p:sp>
        <p:nvSpPr>
          <p:cNvPr id="10" name="Text 7"/>
          <p:cNvSpPr/>
          <p:nvPr/>
        </p:nvSpPr>
        <p:spPr>
          <a:xfrm>
            <a:off x="1554599" y="3689985"/>
            <a:ext cx="5631775" cy="675561"/>
          </a:xfrm>
          <a:prstGeom prst="rect">
            <a:avLst/>
          </a:prstGeom>
          <a:noFill/>
          <a:ln/>
        </p:spPr>
        <p:txBody>
          <a:bodyPr wrap="square" lIns="0" tIns="0" rIns="0" bIns="0" rtlCol="0" anchor="t"/>
          <a:lstStyle/>
          <a:p>
            <a:pPr marL="0" indent="0" algn="l">
              <a:lnSpc>
                <a:spcPts val="2650"/>
              </a:lnSpc>
              <a:buNone/>
            </a:pPr>
            <a:r>
              <a:rPr lang="en-US" sz="1700" dirty="0">
                <a:solidFill>
                  <a:srgbClr val="443728"/>
                </a:solidFill>
                <a:latin typeface="Calibri" pitchFamily="34" charset="0"/>
                <a:ea typeface="Calibri" pitchFamily="34" charset="-122"/>
                <a:cs typeface="Calibri" pitchFamily="34" charset="-120"/>
              </a:rPr>
              <a:t>Gestisce automaticamente l'ordine corretto: semantic model prima dei report, senza configurazione manuale.</a:t>
            </a:r>
            <a:endParaRPr lang="en-US" sz="17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43907" y="3228618"/>
            <a:ext cx="540425" cy="540425"/>
          </a:xfrm>
          <a:prstGeom prst="rect">
            <a:avLst/>
          </a:prstGeom>
        </p:spPr>
      </p:pic>
      <p:sp>
        <p:nvSpPr>
          <p:cNvPr id="12" name="Text 8"/>
          <p:cNvSpPr/>
          <p:nvPr/>
        </p:nvSpPr>
        <p:spPr>
          <a:xfrm>
            <a:off x="8241863" y="3228618"/>
            <a:ext cx="3725466" cy="337780"/>
          </a:xfrm>
          <a:prstGeom prst="rect">
            <a:avLst/>
          </a:prstGeom>
          <a:noFill/>
          <a:ln/>
        </p:spPr>
        <p:txBody>
          <a:bodyPr wrap="none" lIns="0" tIns="0" rIns="0" bIns="0" rtlCol="0" anchor="t"/>
          <a:lstStyle/>
          <a:p>
            <a:pPr marL="0" indent="0" algn="l">
              <a:lnSpc>
                <a:spcPts val="2650"/>
              </a:lnSpc>
              <a:buNone/>
            </a:pPr>
            <a:r>
              <a:rPr lang="en-US" sz="2100" b="1" dirty="0">
                <a:solidFill>
                  <a:srgbClr val="443728"/>
                </a:solidFill>
                <a:latin typeface="Cambria" pitchFamily="34" charset="0"/>
                <a:ea typeface="Cambria" pitchFamily="34" charset="-122"/>
                <a:cs typeface="Cambria" pitchFamily="34" charset="-120"/>
              </a:rPr>
              <a:t>Parametrizzazione per ambiente</a:t>
            </a:r>
            <a:endParaRPr lang="en-US" sz="2100" dirty="0"/>
          </a:p>
        </p:txBody>
      </p:sp>
      <p:sp>
        <p:nvSpPr>
          <p:cNvPr id="13" name="Text 9"/>
          <p:cNvSpPr/>
          <p:nvPr/>
        </p:nvSpPr>
        <p:spPr>
          <a:xfrm>
            <a:off x="8241863" y="3689985"/>
            <a:ext cx="5631894" cy="675561"/>
          </a:xfrm>
          <a:prstGeom prst="rect">
            <a:avLst/>
          </a:prstGeom>
          <a:noFill/>
          <a:ln/>
        </p:spPr>
        <p:txBody>
          <a:bodyPr wrap="square" lIns="0" tIns="0" rIns="0" bIns="0" rtlCol="0" anchor="t"/>
          <a:lstStyle/>
          <a:p>
            <a:pPr marL="0" indent="0" algn="l">
              <a:lnSpc>
                <a:spcPts val="2650"/>
              </a:lnSpc>
              <a:buNone/>
            </a:pPr>
            <a:r>
              <a:rPr lang="en-US" sz="1700" dirty="0">
                <a:solidFill>
                  <a:srgbClr val="443728"/>
                </a:solidFill>
                <a:latin typeface="Calibri" pitchFamily="34" charset="0"/>
                <a:ea typeface="Calibri" pitchFamily="34" charset="-122"/>
                <a:cs typeface="Calibri" pitchFamily="34" charset="-120"/>
              </a:rPr>
              <a:t>Configurazione tramite </a:t>
            </a:r>
            <a:r>
              <a:rPr lang="en-US" sz="1700" dirty="0">
                <a:solidFill>
                  <a:srgbClr val="443728"/>
                </a:solidFill>
                <a:highlight>
                  <a:srgbClr val="F2EFED"/>
                </a:highlight>
                <a:latin typeface="Consolas" pitchFamily="34" charset="0"/>
                <a:ea typeface="Consolas" pitchFamily="34" charset="-122"/>
                <a:cs typeface="Consolas" pitchFamily="34" charset="-120"/>
              </a:rPr>
              <a:t>parameter.yml</a:t>
            </a:r>
            <a:r>
              <a:rPr lang="en-US" sz="1700" dirty="0">
                <a:solidFill>
                  <a:srgbClr val="443728"/>
                </a:solidFill>
                <a:latin typeface="Calibri" pitchFamily="34" charset="0"/>
                <a:ea typeface="Calibri" pitchFamily="34" charset="-122"/>
                <a:cs typeface="Calibri" pitchFamily="34" charset="-120"/>
              </a:rPr>
              <a:t> per gestire valori diversi tra Dev, Test e Prod.</a:t>
            </a:r>
            <a:endParaRPr lang="en-US" sz="17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6642" y="4777621"/>
            <a:ext cx="540425" cy="540425"/>
          </a:xfrm>
          <a:prstGeom prst="rect">
            <a:avLst/>
          </a:prstGeom>
        </p:spPr>
      </p:pic>
      <p:sp>
        <p:nvSpPr>
          <p:cNvPr id="15" name="Text 10"/>
          <p:cNvSpPr/>
          <p:nvPr/>
        </p:nvSpPr>
        <p:spPr>
          <a:xfrm>
            <a:off x="1554599" y="4777621"/>
            <a:ext cx="2702362" cy="337780"/>
          </a:xfrm>
          <a:prstGeom prst="rect">
            <a:avLst/>
          </a:prstGeom>
          <a:noFill/>
          <a:ln/>
        </p:spPr>
        <p:txBody>
          <a:bodyPr wrap="none" lIns="0" tIns="0" rIns="0" bIns="0" rtlCol="0" anchor="t"/>
          <a:lstStyle/>
          <a:p>
            <a:pPr marL="0" indent="0" algn="l">
              <a:lnSpc>
                <a:spcPts val="2650"/>
              </a:lnSpc>
              <a:buNone/>
            </a:pPr>
            <a:r>
              <a:rPr lang="en-US" sz="2100" b="1" dirty="0">
                <a:solidFill>
                  <a:srgbClr val="443728"/>
                </a:solidFill>
                <a:latin typeface="Cambria" pitchFamily="34" charset="0"/>
                <a:ea typeface="Cambria" pitchFamily="34" charset="-122"/>
                <a:cs typeface="Cambria" pitchFamily="34" charset="-120"/>
              </a:rPr>
              <a:t>Pulizia item orfani</a:t>
            </a:r>
            <a:endParaRPr lang="en-US" sz="2100" dirty="0"/>
          </a:p>
        </p:txBody>
      </p:sp>
      <p:sp>
        <p:nvSpPr>
          <p:cNvPr id="16" name="Text 11"/>
          <p:cNvSpPr/>
          <p:nvPr/>
        </p:nvSpPr>
        <p:spPr>
          <a:xfrm>
            <a:off x="1554599" y="5238988"/>
            <a:ext cx="5631775" cy="675561"/>
          </a:xfrm>
          <a:prstGeom prst="rect">
            <a:avLst/>
          </a:prstGeom>
          <a:noFill/>
          <a:ln/>
        </p:spPr>
        <p:txBody>
          <a:bodyPr wrap="square" lIns="0" tIns="0" rIns="0" bIns="0" rtlCol="0" anchor="t"/>
          <a:lstStyle/>
          <a:p>
            <a:pPr marL="0" indent="0" algn="l">
              <a:lnSpc>
                <a:spcPts val="2650"/>
              </a:lnSpc>
              <a:buNone/>
            </a:pPr>
            <a:r>
              <a:rPr lang="en-US" sz="1700" dirty="0">
                <a:solidFill>
                  <a:srgbClr val="443728"/>
                </a:solidFill>
                <a:latin typeface="Calibri" pitchFamily="34" charset="0"/>
                <a:ea typeface="Calibri" pitchFamily="34" charset="-122"/>
                <a:cs typeface="Calibri" pitchFamily="34" charset="-120"/>
              </a:rPr>
              <a:t>Rimuove automaticamente gli item non più necessari dopo il deploy, mantenendo il workspace pulito.</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60213" y="509588"/>
            <a:ext cx="5509974" cy="453985"/>
          </a:xfrm>
          <a:prstGeom prst="rect">
            <a:avLst/>
          </a:prstGeom>
          <a:noFill/>
          <a:ln/>
        </p:spPr>
        <p:txBody>
          <a:bodyPr wrap="none" lIns="0" tIns="0" rIns="0" bIns="0" rtlCol="0" anchor="t"/>
          <a:lstStyle/>
          <a:p>
            <a:pPr marL="0" indent="0" algn="ctr">
              <a:lnSpc>
                <a:spcPts val="3550"/>
              </a:lnSpc>
              <a:buNone/>
            </a:pPr>
            <a:r>
              <a:rPr lang="en-US" sz="2850" b="1" dirty="0">
                <a:solidFill>
                  <a:srgbClr val="443728"/>
                </a:solidFill>
                <a:latin typeface="Cambria" pitchFamily="34" charset="0"/>
                <a:ea typeface="Cambria" pitchFamily="34" charset="-122"/>
                <a:cs typeface="Cambria" pitchFamily="34" charset="-120"/>
              </a:rPr>
              <a:t>Link </a:t>
            </a:r>
            <a:r>
              <a:rPr lang="en-US" sz="2850" b="1" dirty="0" err="1">
                <a:solidFill>
                  <a:srgbClr val="443728"/>
                </a:solidFill>
                <a:latin typeface="Cambria" pitchFamily="34" charset="0"/>
                <a:ea typeface="Cambria" pitchFamily="34" charset="-122"/>
                <a:cs typeface="Cambria" pitchFamily="34" charset="-120"/>
              </a:rPr>
              <a:t>Utili</a:t>
            </a:r>
            <a:endParaRPr lang="en-US" sz="2850" dirty="0"/>
          </a:p>
        </p:txBody>
      </p:sp>
      <p:sp>
        <p:nvSpPr>
          <p:cNvPr id="3" name="Text 1"/>
          <p:cNvSpPr/>
          <p:nvPr/>
        </p:nvSpPr>
        <p:spPr>
          <a:xfrm>
            <a:off x="2301954" y="1149667"/>
            <a:ext cx="10026491" cy="190619"/>
          </a:xfrm>
          <a:prstGeom prst="rect">
            <a:avLst/>
          </a:prstGeom>
          <a:noFill/>
          <a:ln/>
        </p:spPr>
        <p:txBody>
          <a:bodyPr wrap="none" lIns="0" tIns="0" rIns="0" bIns="0" rtlCol="0" anchor="t"/>
          <a:lstStyle/>
          <a:p>
            <a:pPr marL="0" indent="0" algn="ctr">
              <a:lnSpc>
                <a:spcPts val="1500"/>
              </a:lnSpc>
              <a:buNone/>
            </a:pPr>
            <a:r>
              <a:rPr lang="en-US" sz="1100" dirty="0">
                <a:solidFill>
                  <a:srgbClr val="443728"/>
                </a:solidFill>
                <a:latin typeface="Calibri" pitchFamily="34" charset="0"/>
                <a:ea typeface="Calibri" pitchFamily="34" charset="-122"/>
                <a:cs typeface="Calibri" pitchFamily="34" charset="-120"/>
              </a:rPr>
              <a:t>Riferimenti ufficiali per automazione, integrazione Git, pipeline di deployment e gestione degli item su Microsoft Fabric</a:t>
            </a:r>
            <a:endParaRPr lang="en-US" sz="1100" dirty="0"/>
          </a:p>
        </p:txBody>
      </p:sp>
      <p:sp>
        <p:nvSpPr>
          <p:cNvPr id="4" name="Shape 2"/>
          <p:cNvSpPr/>
          <p:nvPr/>
        </p:nvSpPr>
        <p:spPr>
          <a:xfrm>
            <a:off x="2301954" y="1444943"/>
            <a:ext cx="4966692" cy="2991207"/>
          </a:xfrm>
          <a:prstGeom prst="roundRect">
            <a:avLst>
              <a:gd name="adj" fmla="val 2040"/>
            </a:avLst>
          </a:prstGeom>
          <a:solidFill>
            <a:srgbClr val="FFFCFA"/>
          </a:solidFill>
          <a:ln w="15240">
            <a:solidFill>
              <a:srgbClr val="D1C8C6"/>
            </a:solidFill>
            <a:prstDash val="solid"/>
          </a:ln>
        </p:spPr>
        <p:txBody>
          <a:bodyPr/>
          <a:lstStyle/>
          <a:p>
            <a:endParaRPr lang="en-GB"/>
          </a:p>
        </p:txBody>
      </p:sp>
      <p:sp>
        <p:nvSpPr>
          <p:cNvPr id="5" name="Shape 3"/>
          <p:cNvSpPr/>
          <p:nvPr/>
        </p:nvSpPr>
        <p:spPr>
          <a:xfrm>
            <a:off x="2317194" y="1460183"/>
            <a:ext cx="4936212" cy="435888"/>
          </a:xfrm>
          <a:prstGeom prst="roundRect">
            <a:avLst>
              <a:gd name="adj" fmla="val 9806"/>
            </a:avLst>
          </a:prstGeom>
          <a:solidFill>
            <a:srgbClr val="EBE2E0"/>
          </a:solidFill>
          <a:ln/>
        </p:spPr>
        <p:txBody>
          <a:bodyPr/>
          <a:lstStyle/>
          <a:p>
            <a:endParaRPr lang="en-GB"/>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76299" y="1565315"/>
            <a:ext cx="217884" cy="217884"/>
          </a:xfrm>
          <a:prstGeom prst="rect">
            <a:avLst/>
          </a:prstGeom>
        </p:spPr>
      </p:pic>
      <p:sp>
        <p:nvSpPr>
          <p:cNvPr id="7" name="Text 4"/>
          <p:cNvSpPr/>
          <p:nvPr/>
        </p:nvSpPr>
        <p:spPr>
          <a:xfrm>
            <a:off x="2462451" y="1989058"/>
            <a:ext cx="1816298" cy="227052"/>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Cambria" pitchFamily="34" charset="0"/>
                <a:ea typeface="Cambria" pitchFamily="34" charset="-122"/>
                <a:cs typeface="Cambria" pitchFamily="34" charset="-120"/>
              </a:rPr>
              <a:t>Fabric Git API</a:t>
            </a:r>
            <a:endParaRPr lang="en-US" sz="1400" dirty="0"/>
          </a:p>
        </p:txBody>
      </p:sp>
      <p:sp>
        <p:nvSpPr>
          <p:cNvPr id="8" name="Text 5"/>
          <p:cNvSpPr/>
          <p:nvPr/>
        </p:nvSpPr>
        <p:spPr>
          <a:xfrm>
            <a:off x="2462451" y="2271951"/>
            <a:ext cx="4645700" cy="1208723"/>
          </a:xfrm>
          <a:prstGeom prst="rect">
            <a:avLst/>
          </a:prstGeom>
          <a:noFill/>
          <a:ln/>
        </p:spPr>
        <p:txBody>
          <a:bodyPr wrap="square" lIns="0" tIns="0" rIns="0" bIns="0" rtlCol="0" anchor="t"/>
          <a:lstStyle/>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Guida automazione + script:</a:t>
            </a:r>
            <a:r>
              <a:rPr lang="en-US" sz="1100" dirty="0">
                <a:solidFill>
                  <a:srgbClr val="443728"/>
                </a:solidFill>
                <a:latin typeface="Calibri" pitchFamily="34" charset="0"/>
                <a:ea typeface="Calibri" pitchFamily="34" charset="-122"/>
                <a:cs typeface="Calibri" pitchFamily="34" charset="-120"/>
              </a:rPr>
              <a:t> learn.microsoft.com/en-us/fabric/cicd/git-integration/git-automation</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Riferimento REST:</a:t>
            </a:r>
            <a:r>
              <a:rPr lang="en-US" sz="1100" dirty="0">
                <a:solidFill>
                  <a:srgbClr val="443728"/>
                </a:solidFill>
                <a:latin typeface="Calibri" pitchFamily="34" charset="0"/>
                <a:ea typeface="Calibri" pitchFamily="34" charset="-122"/>
                <a:cs typeface="Calibri" pitchFamily="34" charset="-120"/>
              </a:rPr>
              <a:t> learn.microsoft.com/en-us/rest/api/fabric/core/git</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Panoramica:</a:t>
            </a:r>
            <a:r>
              <a:rPr lang="en-US" sz="1100" dirty="0">
                <a:solidFill>
                  <a:srgbClr val="443728"/>
                </a:solidFill>
                <a:latin typeface="Calibri" pitchFamily="34" charset="0"/>
                <a:ea typeface="Calibri" pitchFamily="34" charset="-122"/>
                <a:cs typeface="Calibri" pitchFamily="34" charset="-120"/>
              </a:rPr>
              <a:t> learn.microsoft.com/en-us/fabric/cicd/git-integration/intro-to-git-integration</a:t>
            </a:r>
            <a:endParaRPr lang="en-US" sz="1100" dirty="0"/>
          </a:p>
        </p:txBody>
      </p:sp>
      <p:sp>
        <p:nvSpPr>
          <p:cNvPr id="9" name="Shape 6"/>
          <p:cNvSpPr/>
          <p:nvPr/>
        </p:nvSpPr>
        <p:spPr>
          <a:xfrm>
            <a:off x="7361634" y="1444943"/>
            <a:ext cx="4966811" cy="2991207"/>
          </a:xfrm>
          <a:prstGeom prst="roundRect">
            <a:avLst>
              <a:gd name="adj" fmla="val 2040"/>
            </a:avLst>
          </a:prstGeom>
          <a:solidFill>
            <a:srgbClr val="FFFCFA"/>
          </a:solidFill>
          <a:ln w="15240">
            <a:solidFill>
              <a:srgbClr val="D1C8C6"/>
            </a:solidFill>
            <a:prstDash val="solid"/>
          </a:ln>
        </p:spPr>
        <p:txBody>
          <a:bodyPr/>
          <a:lstStyle/>
          <a:p>
            <a:endParaRPr lang="en-GB"/>
          </a:p>
        </p:txBody>
      </p:sp>
      <p:sp>
        <p:nvSpPr>
          <p:cNvPr id="10" name="Shape 7"/>
          <p:cNvSpPr/>
          <p:nvPr/>
        </p:nvSpPr>
        <p:spPr>
          <a:xfrm>
            <a:off x="7376874" y="1460183"/>
            <a:ext cx="4936331" cy="435888"/>
          </a:xfrm>
          <a:prstGeom prst="roundRect">
            <a:avLst>
              <a:gd name="adj" fmla="val 9806"/>
            </a:avLst>
          </a:prstGeom>
          <a:solidFill>
            <a:srgbClr val="EBE2E0"/>
          </a:solidFill>
          <a:ln/>
        </p:spPr>
        <p:txBody>
          <a:bodyPr/>
          <a:lstStyle/>
          <a:p>
            <a:endParaRPr lang="en-GB"/>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36098" y="1565315"/>
            <a:ext cx="217884" cy="217884"/>
          </a:xfrm>
          <a:prstGeom prst="rect">
            <a:avLst/>
          </a:prstGeom>
        </p:spPr>
      </p:pic>
      <p:sp>
        <p:nvSpPr>
          <p:cNvPr id="12" name="Text 8"/>
          <p:cNvSpPr/>
          <p:nvPr/>
        </p:nvSpPr>
        <p:spPr>
          <a:xfrm>
            <a:off x="7522131" y="1989058"/>
            <a:ext cx="1998940" cy="227052"/>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Cambria" pitchFamily="34" charset="0"/>
                <a:ea typeface="Cambria" pitchFamily="34" charset="-122"/>
                <a:cs typeface="Cambria" pitchFamily="34" charset="-120"/>
              </a:rPr>
              <a:t>Deployment Pipelines API</a:t>
            </a:r>
            <a:endParaRPr lang="en-US" sz="1400" dirty="0"/>
          </a:p>
        </p:txBody>
      </p:sp>
      <p:sp>
        <p:nvSpPr>
          <p:cNvPr id="13" name="Text 9"/>
          <p:cNvSpPr/>
          <p:nvPr/>
        </p:nvSpPr>
        <p:spPr>
          <a:xfrm>
            <a:off x="7522131" y="2271951"/>
            <a:ext cx="4645819" cy="2003703"/>
          </a:xfrm>
          <a:prstGeom prst="rect">
            <a:avLst/>
          </a:prstGeom>
          <a:noFill/>
          <a:ln/>
        </p:spPr>
        <p:txBody>
          <a:bodyPr wrap="square" lIns="0" tIns="0" rIns="0" bIns="0" rtlCol="0" anchor="t"/>
          <a:lstStyle/>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Guida automazione (namespace Fabric):</a:t>
            </a:r>
            <a:r>
              <a:rPr lang="en-US" sz="1100" dirty="0">
                <a:solidFill>
                  <a:srgbClr val="443728"/>
                </a:solidFill>
                <a:latin typeface="Calibri" pitchFamily="34" charset="0"/>
                <a:ea typeface="Calibri" pitchFamily="34" charset="-122"/>
                <a:cs typeface="Calibri" pitchFamily="34" charset="-120"/>
              </a:rPr>
              <a:t> learn.microsoft.com/en-us/fabric/cicd/deployment-pipelines/pipeline-automation-fabric</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Riferimento REST:</a:t>
            </a:r>
            <a:r>
              <a:rPr lang="en-US" sz="1100" dirty="0">
                <a:solidFill>
                  <a:srgbClr val="443728"/>
                </a:solidFill>
                <a:latin typeface="Calibri" pitchFamily="34" charset="0"/>
                <a:ea typeface="Calibri" pitchFamily="34" charset="-122"/>
                <a:cs typeface="Calibri" pitchFamily="34" charset="-120"/>
              </a:rPr>
              <a:t> learn.microsoft.com/en-us/rest/api/fabric/core/deployment-pipelines</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Panoramica:</a:t>
            </a:r>
            <a:r>
              <a:rPr lang="en-US" sz="1100" dirty="0">
                <a:solidFill>
                  <a:srgbClr val="443728"/>
                </a:solidFill>
                <a:latin typeface="Calibri" pitchFamily="34" charset="0"/>
                <a:ea typeface="Calibri" pitchFamily="34" charset="-122"/>
                <a:cs typeface="Calibri" pitchFamily="34" charset="-120"/>
              </a:rPr>
              <a:t> learn.microsoft.com/en-us/fabric/cicd/deployment-pipelines/intro-to-deployment-pipelines</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Vecchio namespace PBI (solo PBI items):</a:t>
            </a:r>
            <a:r>
              <a:rPr lang="en-US" sz="1100" dirty="0">
                <a:solidFill>
                  <a:srgbClr val="443728"/>
                </a:solidFill>
                <a:latin typeface="Calibri" pitchFamily="34" charset="0"/>
                <a:ea typeface="Calibri" pitchFamily="34" charset="-122"/>
                <a:cs typeface="Calibri" pitchFamily="34" charset="-120"/>
              </a:rPr>
              <a:t> learn.microsoft.com/en-us/fabric/cicd/deployment-pipelines/pipeline-automation</a:t>
            </a:r>
            <a:endParaRPr lang="en-US" sz="1100" dirty="0"/>
          </a:p>
        </p:txBody>
      </p:sp>
      <p:sp>
        <p:nvSpPr>
          <p:cNvPr id="14" name="Shape 10"/>
          <p:cNvSpPr/>
          <p:nvPr/>
        </p:nvSpPr>
        <p:spPr>
          <a:xfrm>
            <a:off x="2301954" y="4529138"/>
            <a:ext cx="4966692" cy="2609969"/>
          </a:xfrm>
          <a:prstGeom prst="roundRect">
            <a:avLst>
              <a:gd name="adj" fmla="val 2338"/>
            </a:avLst>
          </a:prstGeom>
          <a:solidFill>
            <a:srgbClr val="FFFCFA"/>
          </a:solidFill>
          <a:ln w="15240">
            <a:solidFill>
              <a:srgbClr val="D1C8C6"/>
            </a:solidFill>
            <a:prstDash val="solid"/>
          </a:ln>
        </p:spPr>
        <p:txBody>
          <a:bodyPr/>
          <a:lstStyle/>
          <a:p>
            <a:endParaRPr lang="en-GB"/>
          </a:p>
        </p:txBody>
      </p:sp>
      <p:sp>
        <p:nvSpPr>
          <p:cNvPr id="15" name="Shape 11"/>
          <p:cNvSpPr/>
          <p:nvPr/>
        </p:nvSpPr>
        <p:spPr>
          <a:xfrm>
            <a:off x="2317194" y="4544378"/>
            <a:ext cx="4936212" cy="435888"/>
          </a:xfrm>
          <a:prstGeom prst="roundRect">
            <a:avLst>
              <a:gd name="adj" fmla="val 9806"/>
            </a:avLst>
          </a:prstGeom>
          <a:solidFill>
            <a:srgbClr val="EBE2E0"/>
          </a:solidFill>
          <a:ln/>
        </p:spPr>
        <p:txBody>
          <a:bodyPr/>
          <a:lstStyle/>
          <a:p>
            <a:endParaRPr lang="en-GB"/>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76299" y="4649510"/>
            <a:ext cx="217884" cy="217884"/>
          </a:xfrm>
          <a:prstGeom prst="rect">
            <a:avLst/>
          </a:prstGeom>
        </p:spPr>
      </p:pic>
      <p:sp>
        <p:nvSpPr>
          <p:cNvPr id="17" name="Text 12"/>
          <p:cNvSpPr/>
          <p:nvPr/>
        </p:nvSpPr>
        <p:spPr>
          <a:xfrm>
            <a:off x="2462451" y="5073253"/>
            <a:ext cx="1816298" cy="227052"/>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Cambria" pitchFamily="34" charset="0"/>
                <a:ea typeface="Cambria" pitchFamily="34" charset="-122"/>
                <a:cs typeface="Cambria" pitchFamily="34" charset="-120"/>
              </a:rPr>
              <a:t>Fabric Item API</a:t>
            </a:r>
            <a:endParaRPr lang="en-US" sz="1400" dirty="0"/>
          </a:p>
        </p:txBody>
      </p:sp>
      <p:sp>
        <p:nvSpPr>
          <p:cNvPr id="18" name="Text 13"/>
          <p:cNvSpPr/>
          <p:nvPr/>
        </p:nvSpPr>
        <p:spPr>
          <a:xfrm>
            <a:off x="2462451" y="5356146"/>
            <a:ext cx="4645700" cy="1589961"/>
          </a:xfrm>
          <a:prstGeom prst="rect">
            <a:avLst/>
          </a:prstGeom>
          <a:noFill/>
          <a:ln/>
        </p:spPr>
        <p:txBody>
          <a:bodyPr wrap="square" lIns="0" tIns="0" rIns="0" bIns="0" rtlCol="0" anchor="t"/>
          <a:lstStyle/>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Panoramica Item Management:</a:t>
            </a:r>
            <a:r>
              <a:rPr lang="en-US" sz="1100" dirty="0">
                <a:solidFill>
                  <a:srgbClr val="443728"/>
                </a:solidFill>
                <a:latin typeface="Calibri" pitchFamily="34" charset="0"/>
                <a:ea typeface="Calibri" pitchFamily="34" charset="-122"/>
                <a:cs typeface="Calibri" pitchFamily="34" charset="-120"/>
              </a:rPr>
              <a:t> learn.microsoft.com/en-us/rest/api/fabric/articles/item-management/item-management-overview</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Overview definizioni:</a:t>
            </a:r>
            <a:r>
              <a:rPr lang="en-US" sz="1100" dirty="0">
                <a:solidFill>
                  <a:srgbClr val="443728"/>
                </a:solidFill>
                <a:latin typeface="Calibri" pitchFamily="34" charset="0"/>
                <a:ea typeface="Calibri" pitchFamily="34" charset="-122"/>
                <a:cs typeface="Calibri" pitchFamily="34" charset="-120"/>
              </a:rPr>
              <a:t> learn.microsoft.com/en-us/rest/api/fabric/articles/item-management/definitions/item-definition-overview</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Riferimento REST:</a:t>
            </a:r>
            <a:r>
              <a:rPr lang="en-US" sz="1100" dirty="0">
                <a:solidFill>
                  <a:srgbClr val="443728"/>
                </a:solidFill>
                <a:latin typeface="Calibri" pitchFamily="34" charset="0"/>
                <a:ea typeface="Calibri" pitchFamily="34" charset="-122"/>
                <a:cs typeface="Calibri" pitchFamily="34" charset="-120"/>
              </a:rPr>
              <a:t> learn.microsoft.com/en-us/rest/api/fabric/core/items</a:t>
            </a:r>
            <a:endParaRPr lang="en-US" sz="1100" dirty="0"/>
          </a:p>
        </p:txBody>
      </p:sp>
      <p:sp>
        <p:nvSpPr>
          <p:cNvPr id="19" name="Shape 14"/>
          <p:cNvSpPr/>
          <p:nvPr/>
        </p:nvSpPr>
        <p:spPr>
          <a:xfrm>
            <a:off x="7361634" y="4529138"/>
            <a:ext cx="4966811" cy="2609969"/>
          </a:xfrm>
          <a:prstGeom prst="roundRect">
            <a:avLst>
              <a:gd name="adj" fmla="val 2338"/>
            </a:avLst>
          </a:prstGeom>
          <a:solidFill>
            <a:srgbClr val="FFFCFA"/>
          </a:solidFill>
          <a:ln w="15240">
            <a:solidFill>
              <a:srgbClr val="D1C8C6"/>
            </a:solidFill>
            <a:prstDash val="solid"/>
          </a:ln>
        </p:spPr>
        <p:txBody>
          <a:bodyPr/>
          <a:lstStyle/>
          <a:p>
            <a:endParaRPr lang="en-GB"/>
          </a:p>
        </p:txBody>
      </p:sp>
      <p:sp>
        <p:nvSpPr>
          <p:cNvPr id="20" name="Shape 15"/>
          <p:cNvSpPr/>
          <p:nvPr/>
        </p:nvSpPr>
        <p:spPr>
          <a:xfrm>
            <a:off x="7376874" y="4544378"/>
            <a:ext cx="4936331" cy="435888"/>
          </a:xfrm>
          <a:prstGeom prst="roundRect">
            <a:avLst>
              <a:gd name="adj" fmla="val 9806"/>
            </a:avLst>
          </a:prstGeom>
          <a:solidFill>
            <a:srgbClr val="EBE2E0"/>
          </a:solidFill>
          <a:ln/>
        </p:spPr>
        <p:txBody>
          <a:bodyPr/>
          <a:lstStyle/>
          <a:p>
            <a:endParaRPr lang="en-GB"/>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36098" y="4649510"/>
            <a:ext cx="217884" cy="217884"/>
          </a:xfrm>
          <a:prstGeom prst="rect">
            <a:avLst/>
          </a:prstGeom>
        </p:spPr>
      </p:pic>
      <p:sp>
        <p:nvSpPr>
          <p:cNvPr id="22" name="Text 16"/>
          <p:cNvSpPr/>
          <p:nvPr/>
        </p:nvSpPr>
        <p:spPr>
          <a:xfrm>
            <a:off x="7522131" y="5073253"/>
            <a:ext cx="1816298" cy="227052"/>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Cambria" pitchFamily="34" charset="0"/>
                <a:ea typeface="Cambria" pitchFamily="34" charset="-122"/>
                <a:cs typeface="Cambria" pitchFamily="34" charset="-120"/>
              </a:rPr>
              <a:t>fabric-cicd</a:t>
            </a:r>
            <a:endParaRPr lang="en-US" sz="1400" dirty="0"/>
          </a:p>
        </p:txBody>
      </p:sp>
      <p:sp>
        <p:nvSpPr>
          <p:cNvPr id="23" name="Text 17"/>
          <p:cNvSpPr/>
          <p:nvPr/>
        </p:nvSpPr>
        <p:spPr>
          <a:xfrm>
            <a:off x="7522131" y="5356146"/>
            <a:ext cx="4645819" cy="1622465"/>
          </a:xfrm>
          <a:prstGeom prst="rect">
            <a:avLst/>
          </a:prstGeom>
          <a:noFill/>
          <a:ln/>
        </p:spPr>
        <p:txBody>
          <a:bodyPr wrap="square" lIns="0" tIns="0" rIns="0" bIns="0" rtlCol="0" anchor="t"/>
          <a:lstStyle/>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Documentazione ufficiale:</a:t>
            </a:r>
            <a:r>
              <a:rPr lang="en-US" sz="1100" dirty="0">
                <a:solidFill>
                  <a:srgbClr val="443728"/>
                </a:solidFill>
                <a:latin typeface="Calibri" pitchFamily="34" charset="0"/>
                <a:ea typeface="Calibri" pitchFamily="34" charset="-122"/>
                <a:cs typeface="Calibri" pitchFamily="34" charset="-120"/>
              </a:rPr>
              <a:t> microsoft.github.io/fabric-cicd/latest/</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GitHub repo:</a:t>
            </a:r>
            <a:r>
              <a:rPr lang="en-US" sz="1100" dirty="0">
                <a:solidFill>
                  <a:srgbClr val="443728"/>
                </a:solidFill>
                <a:latin typeface="Calibri" pitchFamily="34" charset="0"/>
                <a:ea typeface="Calibri" pitchFamily="34" charset="-122"/>
                <a:cs typeface="Calibri" pitchFamily="34" charset="-120"/>
              </a:rPr>
              <a:t> github.com/microsoft/fabric-cicd</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Tutorial ADO:</a:t>
            </a:r>
            <a:r>
              <a:rPr lang="en-US" sz="1100" dirty="0">
                <a:solidFill>
                  <a:srgbClr val="443728"/>
                </a:solidFill>
                <a:latin typeface="Calibri" pitchFamily="34" charset="0"/>
                <a:ea typeface="Calibri" pitchFamily="34" charset="-122"/>
                <a:cs typeface="Calibri" pitchFamily="34" charset="-120"/>
              </a:rPr>
              <a:t> learn.microsoft.com/en-us/power-bi/developer/projects/projects-deploy-fabric-cicd</a:t>
            </a:r>
            <a:endParaRPr lang="en-US" sz="1100" dirty="0"/>
          </a:p>
          <a:p>
            <a:pPr marL="342900" indent="-342900" algn="l">
              <a:lnSpc>
                <a:spcPts val="1500"/>
              </a:lnSpc>
              <a:buSzPct val="100000"/>
              <a:buChar char="•"/>
            </a:pPr>
            <a:r>
              <a:rPr lang="en-US" sz="1100" b="1" dirty="0">
                <a:solidFill>
                  <a:srgbClr val="443728"/>
                </a:solidFill>
                <a:latin typeface="Calibri" pitchFamily="34" charset="0"/>
                <a:ea typeface="Calibri" pitchFamily="34" charset="-122"/>
                <a:cs typeface="Calibri" pitchFamily="34" charset="-120"/>
              </a:rPr>
              <a:t>Annuncio official support:</a:t>
            </a:r>
            <a:r>
              <a:rPr lang="en-US" sz="1100" dirty="0">
                <a:solidFill>
                  <a:srgbClr val="443728"/>
                </a:solidFill>
                <a:latin typeface="Calibri" pitchFamily="34" charset="0"/>
                <a:ea typeface="Calibri" pitchFamily="34" charset="-122"/>
                <a:cs typeface="Calibri" pitchFamily="34" charset="-120"/>
              </a:rPr>
              <a:t> blog.fabric.microsoft.com/en-us/blog/announcing-official-support-for-microsoft-fabric-cicd-tool/</a:t>
            </a:r>
            <a:endParaRPr lang="en-US" sz="1100" dirty="0"/>
          </a:p>
        </p:txBody>
      </p:sp>
      <p:sp>
        <p:nvSpPr>
          <p:cNvPr id="24" name="Shape 18"/>
          <p:cNvSpPr/>
          <p:nvPr/>
        </p:nvSpPr>
        <p:spPr>
          <a:xfrm>
            <a:off x="2301954" y="7243762"/>
            <a:ext cx="10026491" cy="476250"/>
          </a:xfrm>
          <a:prstGeom prst="roundRect">
            <a:avLst>
              <a:gd name="adj" fmla="val 12815"/>
            </a:avLst>
          </a:prstGeom>
          <a:solidFill>
            <a:srgbClr val="B6D6FC"/>
          </a:solidFill>
          <a:ln/>
        </p:spPr>
        <p:txBody>
          <a:bodyPr/>
          <a:lstStyle/>
          <a:p>
            <a:endParaRPr lang="en-GB"/>
          </a:p>
        </p:txBody>
      </p:sp>
      <p:pic>
        <p:nvPicPr>
          <p:cNvPr id="25" name="Image 4" descr="preencoded.png"/>
          <p:cNvPicPr>
            <a:picLocks noChangeAspect="1"/>
          </p:cNvPicPr>
          <p:nvPr/>
        </p:nvPicPr>
        <p:blipFill>
          <a:blip r:embed="rId7"/>
          <a:stretch>
            <a:fillRect/>
          </a:stretch>
        </p:blipFill>
        <p:spPr>
          <a:xfrm>
            <a:off x="2447211" y="7442954"/>
            <a:ext cx="181570" cy="145256"/>
          </a:xfrm>
          <a:prstGeom prst="rect">
            <a:avLst/>
          </a:prstGeom>
        </p:spPr>
      </p:pic>
      <p:sp>
        <p:nvSpPr>
          <p:cNvPr id="26" name="Text 19"/>
          <p:cNvSpPr/>
          <p:nvPr/>
        </p:nvSpPr>
        <p:spPr>
          <a:xfrm>
            <a:off x="2774037" y="7373064"/>
            <a:ext cx="9409152" cy="190619"/>
          </a:xfrm>
          <a:prstGeom prst="rect">
            <a:avLst/>
          </a:prstGeom>
          <a:noFill/>
          <a:ln/>
        </p:spPr>
        <p:txBody>
          <a:bodyPr wrap="none" lIns="0" tIns="0" rIns="0" bIns="0" rtlCol="0" anchor="t"/>
          <a:lstStyle/>
          <a:p>
            <a:pPr marL="0" indent="0" algn="l">
              <a:lnSpc>
                <a:spcPts val="1500"/>
              </a:lnSpc>
              <a:buNone/>
            </a:pPr>
            <a:r>
              <a:rPr lang="en-US" sz="1100" b="1" dirty="0">
                <a:solidFill>
                  <a:srgbClr val="000000"/>
                </a:solidFill>
                <a:latin typeface="Calibri" pitchFamily="34" charset="0"/>
                <a:ea typeface="Calibri" pitchFamily="34" charset="-122"/>
                <a:cs typeface="Calibri" pitchFamily="34" charset="-120"/>
              </a:rPr>
              <a:t>Panoramica generale CI/CD </a:t>
            </a:r>
            <a:r>
              <a:rPr lang="en-US" sz="1100" b="1" dirty="0" err="1">
                <a:solidFill>
                  <a:srgbClr val="000000"/>
                </a:solidFill>
                <a:latin typeface="Calibri" pitchFamily="34" charset="0"/>
                <a:ea typeface="Calibri" pitchFamily="34" charset="-122"/>
                <a:cs typeface="Calibri" pitchFamily="34" charset="-120"/>
              </a:rPr>
              <a:t>su</a:t>
            </a:r>
            <a:r>
              <a:rPr lang="en-US" sz="1100" b="1" dirty="0">
                <a:solidFill>
                  <a:srgbClr val="000000"/>
                </a:solidFill>
                <a:latin typeface="Calibri" pitchFamily="34" charset="0"/>
                <a:ea typeface="Calibri" pitchFamily="34" charset="-122"/>
                <a:cs typeface="Calibri" pitchFamily="34" charset="-120"/>
              </a:rPr>
              <a:t> Fabric:</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000000"/>
                </a:solidFill>
                <a:latin typeface="Calibri" pitchFamily="34" charset="0"/>
                <a:ea typeface="Calibri" pitchFamily="34" charset="-122"/>
                <a:cs typeface="Calibri" pitchFamily="34" charset="-120"/>
              </a:rPr>
              <a:t>learn.microsoft.com/en-us/fabric/cicd/manage-deployment</a:t>
            </a:r>
            <a:endParaRPr lang="en-US" sz="1100" dirty="0"/>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DA6E91AB-1021-4740-A05F-96A275B86E1A}" vid="{E9F7E5EB-6E18-354D-8015-A3DEC6AED0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DA6E91AB-1021-4740-A05F-96A275B86E1A}" vid="{E9F7E5EB-6E18-354D-8015-A3DEC6AED0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Template Global Azure Puglia 2026 Speakers</Template>
  <TotalTime>114</TotalTime>
  <Words>2293</Words>
  <Application>Microsoft Office PowerPoint</Application>
  <PresentationFormat>Custom</PresentationFormat>
  <Paragraphs>251</Paragraphs>
  <Slides>20</Slides>
  <Notes>18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Cambria</vt:lpstr>
      <vt:lpstr>Aptos</vt:lpstr>
      <vt:lpstr>Arial</vt:lpstr>
      <vt:lpstr>Consolas</vt:lpstr>
      <vt:lpstr>Arial Narrow</vt:lpstr>
      <vt:lpstr>Calibri</vt:lpstr>
      <vt:lpstr>Aptos Display</vt:lpstr>
      <vt:lpstr>1_Office Theme</vt:lpstr>
      <vt:lpstr>Office Theme</vt:lpstr>
      <vt:lpstr>AZURE MEETUP PUGLIA</vt:lpstr>
      <vt:lpstr>Grazie Agli Sponsor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Alessandro Gherardi</cp:lastModifiedBy>
  <cp:revision>6</cp:revision>
  <dcterms:created xsi:type="dcterms:W3CDTF">2026-04-16T08:50:53Z</dcterms:created>
  <dcterms:modified xsi:type="dcterms:W3CDTF">2026-04-23T12:44:33Z</dcterms:modified>
</cp:coreProperties>
</file>